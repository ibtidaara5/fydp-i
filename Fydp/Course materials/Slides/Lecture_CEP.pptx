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257" r:id="rId3"/>
    <p:sldId id="294" r:id="rId4"/>
    <p:sldId id="258" r:id="rId5"/>
    <p:sldId id="259" r:id="rId6"/>
    <p:sldId id="260" r:id="rId7"/>
    <p:sldId id="261" r:id="rId8"/>
    <p:sldId id="295" r:id="rId9"/>
    <p:sldId id="262" r:id="rId10"/>
    <p:sldId id="296" r:id="rId11"/>
    <p:sldId id="297" r:id="rId12"/>
    <p:sldId id="298" r:id="rId13"/>
    <p:sldId id="299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300" r:id="rId23"/>
    <p:sldId id="301" r:id="rId24"/>
    <p:sldId id="302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303" r:id="rId46"/>
    <p:sldId id="291" r:id="rId47"/>
    <p:sldId id="292" r:id="rId48"/>
  </p:sldIdLst>
  <p:sldSz cx="4610100" cy="346075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9" d="100"/>
          <a:sy n="199" d="100"/>
        </p:scale>
        <p:origin x="2040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l">
              <a:defRPr sz="24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604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r">
              <a:defRPr sz="2400"/>
            </a:lvl1pPr>
          </a:lstStyle>
          <a:p>
            <a:fld id="{97A1F6A1-03CD-473F-98E5-D1D154E34B27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l">
              <a:defRPr sz="24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604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r">
              <a:defRPr sz="2400"/>
            </a:lvl1pPr>
          </a:lstStyle>
          <a:p>
            <a:fld id="{178DD459-0192-412F-9AC9-F0B881EF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64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l">
              <a:defRPr sz="24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604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r">
              <a:defRPr sz="2400"/>
            </a:lvl1pPr>
          </a:lstStyle>
          <a:p>
            <a:fld id="{7BD29C73-B979-4503-B286-BDCA17AF832A}" type="datetimeFigureOut">
              <a:rPr lang="en-GB" smtClean="0"/>
              <a:t>04/03/2025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77888"/>
            <a:ext cx="3146425" cy="2363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84745" tIns="92373" rIns="184745" bIns="9237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8360" y="3373354"/>
            <a:ext cx="7439681" cy="2762354"/>
          </a:xfrm>
          <a:prstGeom prst="rect">
            <a:avLst/>
          </a:prstGeom>
        </p:spPr>
        <p:txBody>
          <a:bodyPr vert="horz" lIns="184745" tIns="92373" rIns="184745" bIns="9237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l">
              <a:defRPr sz="24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604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r">
              <a:defRPr sz="2400"/>
            </a:lvl1pPr>
          </a:lstStyle>
          <a:p>
            <a:fld id="{5A90C478-05B2-4D2A-8BB4-4AF36BE94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21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0C478-05B2-4D2A-8BB4-4AF36BE94A9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30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 txBox="1">
            <a:spLocks noGrp="1"/>
          </p:cNvSpPr>
          <p:nvPr>
            <p:ph type="body" idx="1"/>
          </p:nvPr>
        </p:nvSpPr>
        <p:spPr>
          <a:xfrm>
            <a:off x="1382936" y="8798374"/>
            <a:ext cx="11063484" cy="8335301"/>
          </a:xfrm>
          <a:prstGeom prst="rect">
            <a:avLst/>
          </a:prstGeom>
        </p:spPr>
        <p:txBody>
          <a:bodyPr spcFirstLastPara="1" wrap="square" lIns="184715" tIns="184715" rIns="184715" bIns="184715" anchor="t" anchorCtr="0">
            <a:noAutofit/>
          </a:bodyPr>
          <a:lstStyle/>
          <a:p>
            <a:endParaRPr/>
          </a:p>
        </p:txBody>
      </p:sp>
      <p:sp>
        <p:nvSpPr>
          <p:cNvPr id="427" name="Google Shape;4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7588" y="1389063"/>
            <a:ext cx="9253537" cy="694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7743" y="82114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8544" y="884399"/>
            <a:ext cx="4432935" cy="466090"/>
          </a:xfrm>
          <a:custGeom>
            <a:avLst/>
            <a:gdLst/>
            <a:ahLst/>
            <a:cxnLst/>
            <a:rect l="l" t="t" r="r" b="b"/>
            <a:pathLst>
              <a:path w="4432935" h="466090">
                <a:moveTo>
                  <a:pt x="4432566" y="0"/>
                </a:moveTo>
                <a:lnTo>
                  <a:pt x="0" y="0"/>
                </a:lnTo>
                <a:lnTo>
                  <a:pt x="0" y="466093"/>
                </a:lnTo>
                <a:lnTo>
                  <a:pt x="4432566" y="466093"/>
                </a:lnTo>
                <a:lnTo>
                  <a:pt x="4432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7743" y="865563"/>
            <a:ext cx="4432935" cy="434340"/>
          </a:xfrm>
          <a:custGeom>
            <a:avLst/>
            <a:gdLst/>
            <a:ahLst/>
            <a:cxnLst/>
            <a:rect l="l" t="t" r="r" b="b"/>
            <a:pathLst>
              <a:path w="4432935" h="434340">
                <a:moveTo>
                  <a:pt x="4432566" y="0"/>
                </a:moveTo>
                <a:lnTo>
                  <a:pt x="0" y="0"/>
                </a:lnTo>
                <a:lnTo>
                  <a:pt x="0" y="383329"/>
                </a:lnTo>
                <a:lnTo>
                  <a:pt x="4008" y="403054"/>
                </a:lnTo>
                <a:lnTo>
                  <a:pt x="14922" y="419207"/>
                </a:lnTo>
                <a:lnTo>
                  <a:pt x="31075" y="430121"/>
                </a:lnTo>
                <a:lnTo>
                  <a:pt x="50800" y="434129"/>
                </a:lnTo>
                <a:lnTo>
                  <a:pt x="4381765" y="434129"/>
                </a:lnTo>
                <a:lnTo>
                  <a:pt x="4401490" y="430121"/>
                </a:lnTo>
                <a:lnTo>
                  <a:pt x="4417643" y="419207"/>
                </a:lnTo>
                <a:lnTo>
                  <a:pt x="4428558" y="403054"/>
                </a:lnTo>
                <a:lnTo>
                  <a:pt x="4432566" y="383329"/>
                </a:lnTo>
                <a:lnTo>
                  <a:pt x="4432566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4304" y="923719"/>
            <a:ext cx="3401491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98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932" y="1620226"/>
            <a:ext cx="3804234" cy="191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92" y="748714"/>
            <a:ext cx="4355515" cy="2370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844" y="3334918"/>
            <a:ext cx="247142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0013" y="3334918"/>
            <a:ext cx="15747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37" Type="http://schemas.openxmlformats.org/officeDocument/2006/relationships/image" Target="../media/image45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2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2.png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2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304" y="923719"/>
            <a:ext cx="339852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Problems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and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836" y="3334918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9990" y="3334918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Outcome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this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session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1119197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740" y="110626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755" y="1065071"/>
            <a:ext cx="1843405" cy="1644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7000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latin typeface="Tahoma"/>
                <a:cs typeface="Tahoma"/>
              </a:rPr>
              <a:t>Identify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Engineering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attributes</a:t>
            </a:r>
            <a:endParaRPr sz="1100" dirty="0">
              <a:latin typeface="Tahoma"/>
              <a:cs typeface="Tahoma"/>
            </a:endParaRPr>
          </a:p>
          <a:p>
            <a:pPr marL="12700" marR="41910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Tahoma"/>
                <a:cs typeface="Tahoma"/>
              </a:rPr>
              <a:t>Identify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map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relationships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POs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Complex </a:t>
            </a:r>
            <a:r>
              <a:rPr sz="1100" spc="-40" dirty="0">
                <a:latin typeface="Tahoma"/>
                <a:cs typeface="Tahoma"/>
              </a:rPr>
              <a:t> Engineering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attributes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35" dirty="0">
                <a:latin typeface="Tahoma"/>
                <a:cs typeface="Tahoma"/>
              </a:rPr>
              <a:t>Select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courses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suitable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demonstrate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culmination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Program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Outcomes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solving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Engineering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Problems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1501301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5740" y="148836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2055479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5740" y="204255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185" y="1196040"/>
            <a:ext cx="2165565" cy="143649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83836" y="3346277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9990" y="3346277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0175"/>
            <a:ext cx="4610100" cy="320531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6250" y="139101"/>
            <a:ext cx="3070716" cy="252687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1600" spc="-65" dirty="0">
                <a:solidFill>
                  <a:schemeClr val="accent1"/>
                </a:solidFill>
                <a:latin typeface="Trebuchet MS"/>
              </a:rPr>
              <a:t>Engineering Domain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15301" y="434975"/>
            <a:ext cx="3048108" cy="257397"/>
            <a:chOff x="2807207" y="1331975"/>
            <a:chExt cx="6045835" cy="510540"/>
          </a:xfrm>
        </p:grpSpPr>
        <p:sp>
          <p:nvSpPr>
            <p:cNvPr id="5" name="object 5"/>
            <p:cNvSpPr/>
            <p:nvPr/>
          </p:nvSpPr>
          <p:spPr>
            <a:xfrm>
              <a:off x="2820161" y="1344929"/>
              <a:ext cx="6019800" cy="485140"/>
            </a:xfrm>
            <a:custGeom>
              <a:avLst/>
              <a:gdLst/>
              <a:ahLst/>
              <a:cxnLst/>
              <a:rect l="l" t="t" r="r" b="b"/>
              <a:pathLst>
                <a:path w="6019800" h="485139">
                  <a:moveTo>
                    <a:pt x="242315" y="0"/>
                  </a:moveTo>
                  <a:lnTo>
                    <a:pt x="0" y="242316"/>
                  </a:lnTo>
                  <a:lnTo>
                    <a:pt x="242315" y="484632"/>
                  </a:lnTo>
                  <a:lnTo>
                    <a:pt x="242315" y="363474"/>
                  </a:lnTo>
                  <a:lnTo>
                    <a:pt x="6019799" y="363474"/>
                  </a:lnTo>
                  <a:lnTo>
                    <a:pt x="6019799" y="121158"/>
                  </a:lnTo>
                  <a:lnTo>
                    <a:pt x="242315" y="121158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6" name="object 6"/>
            <p:cNvSpPr/>
            <p:nvPr/>
          </p:nvSpPr>
          <p:spPr>
            <a:xfrm>
              <a:off x="2820161" y="1344929"/>
              <a:ext cx="6019800" cy="485140"/>
            </a:xfrm>
            <a:custGeom>
              <a:avLst/>
              <a:gdLst/>
              <a:ahLst/>
              <a:cxnLst/>
              <a:rect l="l" t="t" r="r" b="b"/>
              <a:pathLst>
                <a:path w="6019800" h="485139">
                  <a:moveTo>
                    <a:pt x="0" y="242316"/>
                  </a:moveTo>
                  <a:lnTo>
                    <a:pt x="242315" y="0"/>
                  </a:lnTo>
                  <a:lnTo>
                    <a:pt x="242315" y="121158"/>
                  </a:lnTo>
                  <a:lnTo>
                    <a:pt x="6019799" y="121158"/>
                  </a:lnTo>
                  <a:lnTo>
                    <a:pt x="6019799" y="363474"/>
                  </a:lnTo>
                  <a:lnTo>
                    <a:pt x="242315" y="363474"/>
                  </a:lnTo>
                  <a:lnTo>
                    <a:pt x="242315" y="484632"/>
                  </a:lnTo>
                  <a:lnTo>
                    <a:pt x="0" y="24231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35389" y="480372"/>
            <a:ext cx="468694" cy="146184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Engineers</a:t>
            </a:r>
            <a:endParaRPr sz="908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4326" y="1101871"/>
            <a:ext cx="3048108" cy="257717"/>
            <a:chOff x="444944" y="2654744"/>
            <a:chExt cx="6045835" cy="511175"/>
          </a:xfrm>
        </p:grpSpPr>
        <p:sp>
          <p:nvSpPr>
            <p:cNvPr id="9" name="object 9"/>
            <p:cNvSpPr/>
            <p:nvPr/>
          </p:nvSpPr>
          <p:spPr>
            <a:xfrm>
              <a:off x="457961" y="2667762"/>
              <a:ext cx="6019800" cy="485140"/>
            </a:xfrm>
            <a:custGeom>
              <a:avLst/>
              <a:gdLst/>
              <a:ahLst/>
              <a:cxnLst/>
              <a:rect l="l" t="t" r="r" b="b"/>
              <a:pathLst>
                <a:path w="6019800" h="485139">
                  <a:moveTo>
                    <a:pt x="5777484" y="0"/>
                  </a:moveTo>
                  <a:lnTo>
                    <a:pt x="5777484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5777484" y="363474"/>
                  </a:lnTo>
                  <a:lnTo>
                    <a:pt x="5777484" y="484632"/>
                  </a:lnTo>
                  <a:lnTo>
                    <a:pt x="6019800" y="242315"/>
                  </a:lnTo>
                  <a:lnTo>
                    <a:pt x="57774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961" y="2667762"/>
              <a:ext cx="6019800" cy="485140"/>
            </a:xfrm>
            <a:custGeom>
              <a:avLst/>
              <a:gdLst/>
              <a:ahLst/>
              <a:cxnLst/>
              <a:rect l="l" t="t" r="r" b="b"/>
              <a:pathLst>
                <a:path w="6019800" h="485139">
                  <a:moveTo>
                    <a:pt x="0" y="121158"/>
                  </a:moveTo>
                  <a:lnTo>
                    <a:pt x="5777484" y="121158"/>
                  </a:lnTo>
                  <a:lnTo>
                    <a:pt x="5777484" y="0"/>
                  </a:lnTo>
                  <a:lnTo>
                    <a:pt x="6019800" y="242315"/>
                  </a:lnTo>
                  <a:lnTo>
                    <a:pt x="5777484" y="484632"/>
                  </a:lnTo>
                  <a:lnTo>
                    <a:pt x="5777484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05848" y="1147108"/>
            <a:ext cx="1223597" cy="146184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r>
              <a:rPr sz="908" spc="-2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spc="-8" dirty="0">
                <a:solidFill>
                  <a:srgbClr val="FFFFFF"/>
                </a:solidFill>
                <a:latin typeface="Calibri"/>
                <a:cs typeface="Calibri"/>
              </a:rPr>
              <a:t>Technologists</a:t>
            </a:r>
            <a:endParaRPr sz="90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889" y="724259"/>
            <a:ext cx="1805623" cy="257325"/>
          </a:xfrm>
          <a:prstGeom prst="rect">
            <a:avLst/>
          </a:prstGeom>
          <a:solidFill>
            <a:srgbClr val="0000FF"/>
          </a:solidFill>
          <a:ln w="25907">
            <a:solidFill>
              <a:srgbClr val="385D89"/>
            </a:solidFill>
          </a:ln>
        </p:spPr>
        <p:txBody>
          <a:bodyPr vert="horz" wrap="square" lIns="0" tIns="70432" rIns="0" bIns="0" rtlCol="0">
            <a:spAutoFit/>
          </a:bodyPr>
          <a:lstStyle/>
          <a:p>
            <a:pPr marL="323369">
              <a:spcBef>
                <a:spcPts val="555"/>
              </a:spcBef>
            </a:pPr>
            <a:r>
              <a:rPr sz="1210" spc="-5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210" spc="-2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1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10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10" spc="-3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121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1191" y="724259"/>
            <a:ext cx="1805623" cy="346249"/>
          </a:xfrm>
          <a:prstGeom prst="rect">
            <a:avLst/>
          </a:prstGeom>
          <a:solidFill>
            <a:srgbClr val="FF0000"/>
          </a:solidFill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0645">
              <a:lnSpc>
                <a:spcPts val="1281"/>
              </a:lnSpc>
            </a:pPr>
            <a:r>
              <a:rPr sz="1210" dirty="0">
                <a:solidFill>
                  <a:srgbClr val="FFFFFF"/>
                </a:solidFill>
                <a:latin typeface="Calibri"/>
                <a:cs typeface="Calibri"/>
              </a:rPr>
              <a:t>Supervision</a:t>
            </a:r>
            <a:r>
              <a:rPr sz="121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1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endParaRPr sz="1210">
              <a:latin typeface="Calibri"/>
              <a:cs typeface="Calibri"/>
            </a:endParaRPr>
          </a:p>
          <a:p>
            <a:pPr marL="490495">
              <a:lnSpc>
                <a:spcPts val="1439"/>
              </a:lnSpc>
            </a:pPr>
            <a:r>
              <a:rPr sz="1210" spc="-3" dirty="0">
                <a:solidFill>
                  <a:srgbClr val="FFFFFF"/>
                </a:solidFill>
                <a:latin typeface="Calibri"/>
                <a:cs typeface="Calibri"/>
              </a:rPr>
              <a:t>Maintenance</a:t>
            </a:r>
            <a:endParaRPr sz="121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4326" y="1370794"/>
            <a:ext cx="1857166" cy="1319321"/>
            <a:chOff x="444944" y="3188144"/>
            <a:chExt cx="3683635" cy="2616835"/>
          </a:xfrm>
        </p:grpSpPr>
        <p:sp>
          <p:nvSpPr>
            <p:cNvPr id="15" name="object 15"/>
            <p:cNvSpPr/>
            <p:nvPr/>
          </p:nvSpPr>
          <p:spPr>
            <a:xfrm>
              <a:off x="457961" y="3201162"/>
              <a:ext cx="3657600" cy="2590800"/>
            </a:xfrm>
            <a:custGeom>
              <a:avLst/>
              <a:gdLst/>
              <a:ahLst/>
              <a:cxnLst/>
              <a:rect l="l" t="t" r="r" b="b"/>
              <a:pathLst>
                <a:path w="3657600" h="2590800">
                  <a:moveTo>
                    <a:pt x="1828800" y="0"/>
                  </a:moveTo>
                  <a:lnTo>
                    <a:pt x="0" y="1295400"/>
                  </a:lnTo>
                  <a:lnTo>
                    <a:pt x="914400" y="1295400"/>
                  </a:lnTo>
                  <a:lnTo>
                    <a:pt x="914400" y="2590800"/>
                  </a:lnTo>
                  <a:lnTo>
                    <a:pt x="2743200" y="2590800"/>
                  </a:lnTo>
                  <a:lnTo>
                    <a:pt x="2743200" y="1295400"/>
                  </a:lnTo>
                  <a:lnTo>
                    <a:pt x="3657600" y="1295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961" y="3201162"/>
              <a:ext cx="3657600" cy="2590800"/>
            </a:xfrm>
            <a:custGeom>
              <a:avLst/>
              <a:gdLst/>
              <a:ahLst/>
              <a:cxnLst/>
              <a:rect l="l" t="t" r="r" b="b"/>
              <a:pathLst>
                <a:path w="3657600" h="2590800">
                  <a:moveTo>
                    <a:pt x="0" y="1295400"/>
                  </a:moveTo>
                  <a:lnTo>
                    <a:pt x="1828800" y="0"/>
                  </a:lnTo>
                  <a:lnTo>
                    <a:pt x="3657600" y="1295400"/>
                  </a:lnTo>
                  <a:lnTo>
                    <a:pt x="2743200" y="1295400"/>
                  </a:lnTo>
                  <a:lnTo>
                    <a:pt x="2743200" y="2590800"/>
                  </a:lnTo>
                  <a:lnTo>
                    <a:pt x="914400" y="2590800"/>
                  </a:lnTo>
                  <a:lnTo>
                    <a:pt x="914400" y="1295400"/>
                  </a:lnTo>
                  <a:lnTo>
                    <a:pt x="0" y="1295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24631" y="1695582"/>
            <a:ext cx="655979" cy="705055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 marR="2561" algn="ctr">
              <a:spcBef>
                <a:spcPts val="50"/>
              </a:spcBef>
            </a:pP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Strong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908" spc="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908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908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ic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s,  Engineering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Sciences,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endParaRPr sz="90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9219" y="2387224"/>
            <a:ext cx="606356" cy="285901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 marR="2561" indent="119102">
              <a:spcBef>
                <a:spcPts val="50"/>
              </a:spcBef>
            </a:pP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courses 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 (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908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908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al)</a:t>
            </a:r>
            <a:endParaRPr sz="908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67826" y="1370825"/>
            <a:ext cx="1818748" cy="1319321"/>
            <a:chOff x="5093208" y="3188207"/>
            <a:chExt cx="3607435" cy="2616835"/>
          </a:xfrm>
        </p:grpSpPr>
        <p:sp>
          <p:nvSpPr>
            <p:cNvPr id="20" name="object 20"/>
            <p:cNvSpPr/>
            <p:nvPr/>
          </p:nvSpPr>
          <p:spPr>
            <a:xfrm>
              <a:off x="5106162" y="3201161"/>
              <a:ext cx="3581400" cy="2590800"/>
            </a:xfrm>
            <a:custGeom>
              <a:avLst/>
              <a:gdLst/>
              <a:ahLst/>
              <a:cxnLst/>
              <a:rect l="l" t="t" r="r" b="b"/>
              <a:pathLst>
                <a:path w="3581400" h="2590800">
                  <a:moveTo>
                    <a:pt x="1790699" y="0"/>
                  </a:moveTo>
                  <a:lnTo>
                    <a:pt x="0" y="1285367"/>
                  </a:lnTo>
                  <a:lnTo>
                    <a:pt x="895350" y="1285367"/>
                  </a:lnTo>
                  <a:lnTo>
                    <a:pt x="895350" y="2590800"/>
                  </a:lnTo>
                  <a:lnTo>
                    <a:pt x="2686049" y="2590800"/>
                  </a:lnTo>
                  <a:lnTo>
                    <a:pt x="2686049" y="1285367"/>
                  </a:lnTo>
                  <a:lnTo>
                    <a:pt x="3581399" y="1285367"/>
                  </a:lnTo>
                  <a:lnTo>
                    <a:pt x="17906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21" name="object 21"/>
            <p:cNvSpPr/>
            <p:nvPr/>
          </p:nvSpPr>
          <p:spPr>
            <a:xfrm>
              <a:off x="5106162" y="3201161"/>
              <a:ext cx="3581400" cy="2590800"/>
            </a:xfrm>
            <a:custGeom>
              <a:avLst/>
              <a:gdLst/>
              <a:ahLst/>
              <a:cxnLst/>
              <a:rect l="l" t="t" r="r" b="b"/>
              <a:pathLst>
                <a:path w="3581400" h="2590800">
                  <a:moveTo>
                    <a:pt x="0" y="1285367"/>
                  </a:moveTo>
                  <a:lnTo>
                    <a:pt x="1790699" y="0"/>
                  </a:lnTo>
                  <a:lnTo>
                    <a:pt x="3581399" y="1285367"/>
                  </a:lnTo>
                  <a:lnTo>
                    <a:pt x="2686049" y="1285367"/>
                  </a:lnTo>
                  <a:lnTo>
                    <a:pt x="2686049" y="2590800"/>
                  </a:lnTo>
                  <a:lnTo>
                    <a:pt x="895350" y="2590800"/>
                  </a:lnTo>
                  <a:lnTo>
                    <a:pt x="895350" y="1285367"/>
                  </a:lnTo>
                  <a:lnTo>
                    <a:pt x="0" y="1285367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148891" y="1694365"/>
            <a:ext cx="655979" cy="705055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 marR="2561" indent="-320" algn="ctr">
              <a:spcBef>
                <a:spcPts val="50"/>
              </a:spcBef>
            </a:pP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Appropriate 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908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r>
              <a:rPr sz="908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ic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s,  Engineering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Sciences, 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endParaRPr sz="908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8787" y="2386007"/>
            <a:ext cx="476697" cy="285901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 marR="2561" indent="54428">
              <a:spcBef>
                <a:spcPts val="50"/>
              </a:spcBef>
            </a:pP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courses 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 (</a:t>
            </a:r>
            <a:r>
              <a:rPr sz="908" spc="-8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908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908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908" dirty="0">
                <a:solidFill>
                  <a:srgbClr val="FFFFFF"/>
                </a:solidFill>
                <a:latin typeface="Calibri"/>
                <a:cs typeface="Calibri"/>
              </a:rPr>
              <a:t>al)</a:t>
            </a:r>
            <a:endParaRPr sz="908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36128" y="1530643"/>
            <a:ext cx="561856" cy="155558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15687" rIns="0" bIns="0" rtlCol="0">
            <a:spAutoFit/>
          </a:bodyPr>
          <a:lstStyle/>
          <a:p>
            <a:pPr marL="46424">
              <a:spcBef>
                <a:spcPts val="123"/>
              </a:spcBef>
            </a:pPr>
            <a:r>
              <a:rPr sz="908" spc="-5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endParaRPr sz="908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51380" y="800710"/>
            <a:ext cx="345758" cy="155558"/>
          </a:xfrm>
          <a:prstGeom prst="rect">
            <a:avLst/>
          </a:prstGeom>
          <a:solidFill>
            <a:srgbClr val="008000"/>
          </a:solidFill>
        </p:spPr>
        <p:txBody>
          <a:bodyPr vert="horz" wrap="square" lIns="0" tIns="15687" rIns="0" bIns="0" rtlCol="0">
            <a:spAutoFit/>
          </a:bodyPr>
          <a:lstStyle/>
          <a:p>
            <a:pPr marL="46424">
              <a:spcBef>
                <a:spcPts val="124"/>
              </a:spcBef>
            </a:pPr>
            <a:r>
              <a:rPr sz="908" spc="-13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endParaRPr sz="908">
              <a:latin typeface="Calibri"/>
              <a:cs typeface="Calibri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80866"/>
              </p:ext>
            </p:extLst>
          </p:nvPr>
        </p:nvGraphicFramePr>
        <p:xfrm>
          <a:off x="1213993" y="2293614"/>
          <a:ext cx="2586138" cy="1049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9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85D89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56">
                <a:tc gridSpan="2">
                  <a:txBody>
                    <a:bodyPr/>
                    <a:lstStyle/>
                    <a:p>
                      <a:pPr marR="21590" algn="ctr">
                        <a:lnSpc>
                          <a:spcPts val="1995"/>
                        </a:lnSpc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Engineering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Breadth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Depth</a:t>
                      </a:r>
                      <a:r>
                        <a:rPr sz="9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R="19050" algn="ctr">
                        <a:lnSpc>
                          <a:spcPts val="1914"/>
                        </a:lnSpc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Curricula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 cap="flat" cmpd="sng" algn="ctr">
                      <a:solidFill>
                        <a:srgbClr val="385D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034" algn="ctr">
                        <a:lnSpc>
                          <a:spcPts val="1780"/>
                        </a:lnSpc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Engineering</a:t>
                      </a:r>
                      <a:r>
                        <a:rPr sz="9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354965" marR="320040" algn="ctr">
                        <a:lnSpc>
                          <a:spcPct val="100000"/>
                        </a:lnSpc>
                      </a:pP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Breadth</a:t>
                      </a:r>
                      <a:r>
                        <a:rPr sz="9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9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Depth of </a:t>
                      </a:r>
                      <a:r>
                        <a:rPr sz="900" spc="-3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Curricula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object 12">
            <a:extLst>
              <a:ext uri="{FF2B5EF4-FFF2-40B4-BE49-F238E27FC236}">
                <a16:creationId xmlns:a16="http://schemas.microsoft.com/office/drawing/2014/main" id="{C9905E1E-F980-0F20-6743-BED940ACB34C}"/>
              </a:ext>
            </a:extLst>
          </p:cNvPr>
          <p:cNvSpPr txBox="1"/>
          <p:nvPr/>
        </p:nvSpPr>
        <p:spPr>
          <a:xfrm>
            <a:off x="2983836" y="3346277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5D4B93CA-B43F-6DCA-D3EB-8E61D1AD606B}"/>
              </a:ext>
            </a:extLst>
          </p:cNvPr>
          <p:cNvSpPr txBox="1"/>
          <p:nvPr/>
        </p:nvSpPr>
        <p:spPr>
          <a:xfrm>
            <a:off x="4389990" y="3346277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3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Requirements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81718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006983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158811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310652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6755" y="708661"/>
            <a:ext cx="2563495" cy="249428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45" dirty="0">
                <a:latin typeface="Tahoma"/>
                <a:cs typeface="Tahoma"/>
              </a:rPr>
              <a:t>Introduced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version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289560" marR="328930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Knowledge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Profile</a:t>
            </a:r>
            <a:r>
              <a:rPr sz="1000" spc="15" dirty="0">
                <a:latin typeface="Tahoma"/>
                <a:cs typeface="Tahoma"/>
              </a:rPr>
              <a:t> (K1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</a:t>
            </a:r>
            <a:r>
              <a:rPr sz="1000" spc="15" dirty="0">
                <a:latin typeface="Tahoma"/>
                <a:cs typeface="Tahoma"/>
              </a:rPr>
              <a:t> K8) 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Complex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Problem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Solving</a:t>
            </a:r>
            <a:r>
              <a:rPr sz="1000" spc="10" dirty="0">
                <a:latin typeface="Tahoma"/>
                <a:cs typeface="Tahoma"/>
              </a:rPr>
              <a:t> (P1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</a:t>
            </a:r>
            <a:r>
              <a:rPr sz="1000" spc="10" dirty="0">
                <a:latin typeface="Tahoma"/>
                <a:cs typeface="Tahoma"/>
              </a:rPr>
              <a:t> P7)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35" dirty="0">
                <a:latin typeface="Tahoma"/>
                <a:cs typeface="Tahoma"/>
              </a:rPr>
              <a:t>Complex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Activities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5" dirty="0">
                <a:latin typeface="Tahoma"/>
                <a:cs typeface="Tahoma"/>
              </a:rPr>
              <a:t>(A1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5" dirty="0">
                <a:latin typeface="Tahoma"/>
                <a:cs typeface="Tahoma"/>
              </a:rPr>
              <a:t>A5)</a:t>
            </a:r>
            <a:endParaRPr sz="1000">
              <a:latin typeface="Tahoma"/>
              <a:cs typeface="Tahoma"/>
            </a:endParaRPr>
          </a:p>
          <a:p>
            <a:pPr marL="12700" marR="113664">
              <a:lnSpc>
                <a:spcPct val="102600"/>
              </a:lnSpc>
              <a:spcBef>
                <a:spcPts val="320"/>
              </a:spcBef>
            </a:pPr>
            <a:r>
              <a:rPr sz="1100" spc="10" dirty="0">
                <a:latin typeface="Tahoma"/>
                <a:cs typeface="Tahoma"/>
              </a:rPr>
              <a:t>“The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way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which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each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Profile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(K1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–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K8)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addressed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curriculum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must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demonstrated 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through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mapping.”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10" dirty="0">
                <a:latin typeface="Tahoma"/>
                <a:cs typeface="Tahoma"/>
              </a:rPr>
              <a:t>“The </a:t>
            </a:r>
            <a:r>
              <a:rPr sz="1100" spc="-50" dirty="0">
                <a:latin typeface="Tahoma"/>
                <a:cs typeface="Tahoma"/>
              </a:rPr>
              <a:t>program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must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also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demonstrate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how 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each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Complex </a:t>
            </a:r>
            <a:r>
              <a:rPr sz="1100" spc="-40" dirty="0">
                <a:latin typeface="Tahoma"/>
                <a:cs typeface="Tahoma"/>
              </a:rPr>
              <a:t> Engineering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Problems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(P1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–</a:t>
            </a:r>
            <a:r>
              <a:rPr sz="1100" spc="10" dirty="0">
                <a:latin typeface="Tahoma"/>
                <a:cs typeface="Tahoma"/>
              </a:rPr>
              <a:t> P7)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Engineering</a:t>
            </a:r>
            <a:r>
              <a:rPr sz="1100" spc="2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Activities </a:t>
            </a:r>
            <a:r>
              <a:rPr sz="1100" dirty="0">
                <a:latin typeface="Tahoma"/>
                <a:cs typeface="Tahoma"/>
              </a:rPr>
              <a:t>(A1 </a:t>
            </a:r>
            <a:r>
              <a:rPr sz="1100" spc="-55" dirty="0">
                <a:latin typeface="Tahoma"/>
                <a:cs typeface="Tahoma"/>
              </a:rPr>
              <a:t>–</a:t>
            </a:r>
            <a:r>
              <a:rPr sz="1100" spc="2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A5)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incorporated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teaching,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assessment.”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508010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223426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9790" y="921052"/>
            <a:ext cx="1515816" cy="214202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83836" y="3334918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9990" y="3334918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4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110" dirty="0">
                <a:solidFill>
                  <a:schemeClr val="accent1"/>
                </a:solidFill>
                <a:latin typeface="Trebuchet MS"/>
                <a:cs typeface="Trebuchet MS"/>
              </a:rPr>
              <a:t>BAETE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Program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Outcomes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668258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527" y="647286"/>
            <a:ext cx="64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932" y="614132"/>
            <a:ext cx="3987800" cy="27146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700">
              <a:lnSpc>
                <a:spcPct val="102600"/>
              </a:lnSpc>
              <a:spcBef>
                <a:spcPts val="55"/>
              </a:spcBef>
            </a:pPr>
            <a:r>
              <a:rPr sz="1100" spc="-15" dirty="0">
                <a:latin typeface="Tahoma"/>
                <a:cs typeface="Tahoma"/>
              </a:rPr>
              <a:t>Apply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Arial"/>
                <a:cs typeface="Arial"/>
              </a:rPr>
              <a:t>knowledge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mathematics,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natural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science,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engineering 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fundamentals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engineering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specialization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specified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5" dirty="0">
                <a:latin typeface="Tahoma"/>
                <a:cs typeface="Tahoma"/>
              </a:rPr>
              <a:t> K1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25" dirty="0">
                <a:latin typeface="Tahoma"/>
                <a:cs typeface="Tahoma"/>
              </a:rPr>
              <a:t>K4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respectively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BC1919"/>
                </a:solidFill>
                <a:latin typeface="Tahoma"/>
                <a:cs typeface="Tahoma"/>
              </a:rPr>
              <a:t>complex</a:t>
            </a:r>
            <a:r>
              <a:rPr sz="1100" spc="1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engineering</a:t>
            </a:r>
            <a:r>
              <a:rPr sz="1100" spc="20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BC1919"/>
                </a:solidFill>
                <a:latin typeface="Tahoma"/>
                <a:cs typeface="Tahoma"/>
              </a:rPr>
              <a:t>problems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50" dirty="0">
                <a:latin typeface="Tahoma"/>
                <a:cs typeface="Tahoma"/>
              </a:rPr>
              <a:t>Identify,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formulate,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research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literature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Arial"/>
                <a:cs typeface="Arial"/>
              </a:rPr>
              <a:t>analyse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BC1919"/>
                </a:solidFill>
                <a:latin typeface="Tahoma"/>
                <a:cs typeface="Tahoma"/>
              </a:rPr>
              <a:t>complex </a:t>
            </a:r>
            <a:r>
              <a:rPr sz="1100" spc="-40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engineering</a:t>
            </a:r>
            <a:r>
              <a:rPr sz="11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problems</a:t>
            </a:r>
            <a:r>
              <a:rPr sz="11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reaching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substantiated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conclusions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first 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principles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mathematics,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natural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sciences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engineering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sciences.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(K1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K4)</a:t>
            </a:r>
            <a:endParaRPr sz="1100">
              <a:latin typeface="Tahoma"/>
              <a:cs typeface="Tahoma"/>
            </a:endParaRPr>
          </a:p>
          <a:p>
            <a:pPr marL="12700" marR="193040">
              <a:lnSpc>
                <a:spcPct val="102600"/>
              </a:lnSpc>
              <a:spcBef>
                <a:spcPts val="300"/>
              </a:spcBef>
            </a:pPr>
            <a:r>
              <a:rPr sz="1100" b="1" spc="-50" dirty="0">
                <a:latin typeface="Arial"/>
                <a:cs typeface="Arial"/>
              </a:rPr>
              <a:t>Design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solutions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BC1919"/>
                </a:solidFill>
                <a:latin typeface="Tahoma"/>
                <a:cs typeface="Tahoma"/>
              </a:rPr>
              <a:t>complex</a:t>
            </a:r>
            <a:r>
              <a:rPr sz="1100" spc="20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engineering</a:t>
            </a:r>
            <a:r>
              <a:rPr sz="1100" spc="20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problems</a:t>
            </a:r>
            <a:r>
              <a:rPr sz="11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design 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systems,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components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processes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meet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specified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needs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appropriate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consideration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public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health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safety,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cultural,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societal,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environmental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considerations.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(K5)</a:t>
            </a:r>
            <a:endParaRPr sz="1100">
              <a:latin typeface="Tahoma"/>
              <a:cs typeface="Tahoma"/>
            </a:endParaRPr>
          </a:p>
          <a:p>
            <a:pPr marL="12700" marR="116839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Conduct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investigations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BC1919"/>
                </a:solidFill>
                <a:latin typeface="Tahoma"/>
                <a:cs typeface="Tahoma"/>
              </a:rPr>
              <a:t>complex</a:t>
            </a:r>
            <a:r>
              <a:rPr sz="1100" spc="30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problems</a:t>
            </a:r>
            <a:r>
              <a:rPr sz="11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research-based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knowledge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(K8)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research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methods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design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experiments,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interpretation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synthesis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valid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conclusions.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1222435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5079" y="121096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495" y="1948697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7987" y="1927725"/>
            <a:ext cx="615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2674947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5079" y="2663474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83836" y="3334918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9990" y="3334918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5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110" dirty="0">
                <a:solidFill>
                  <a:schemeClr val="accent1"/>
                </a:solidFill>
                <a:latin typeface="Trebuchet MS"/>
                <a:cs typeface="Trebuchet MS"/>
              </a:rPr>
              <a:t>BAETE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Program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Outcomes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802840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7987" y="781867"/>
            <a:ext cx="6159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8290" marR="5080">
              <a:lnSpc>
                <a:spcPct val="102600"/>
              </a:lnSpc>
              <a:spcBef>
                <a:spcPts val="55"/>
              </a:spcBef>
            </a:pPr>
            <a:r>
              <a:rPr spc="-40" dirty="0"/>
              <a:t>Create,</a:t>
            </a:r>
            <a:r>
              <a:rPr spc="15" dirty="0"/>
              <a:t> </a:t>
            </a:r>
            <a:r>
              <a:rPr spc="-45" dirty="0"/>
              <a:t>select</a:t>
            </a:r>
            <a:r>
              <a:rPr spc="15" dirty="0"/>
              <a:t> </a:t>
            </a:r>
            <a:r>
              <a:rPr spc="-50" dirty="0"/>
              <a:t>and</a:t>
            </a:r>
            <a:r>
              <a:rPr spc="20" dirty="0"/>
              <a:t> </a:t>
            </a:r>
            <a:r>
              <a:rPr spc="-40" dirty="0"/>
              <a:t>apply</a:t>
            </a:r>
            <a:r>
              <a:rPr spc="20" dirty="0"/>
              <a:t> </a:t>
            </a:r>
            <a:r>
              <a:rPr spc="-45" dirty="0"/>
              <a:t>appropriate</a:t>
            </a:r>
            <a:r>
              <a:rPr spc="20" dirty="0"/>
              <a:t> </a:t>
            </a:r>
            <a:r>
              <a:rPr spc="-45" dirty="0"/>
              <a:t>techniques,</a:t>
            </a:r>
            <a:r>
              <a:rPr spc="15" dirty="0"/>
              <a:t> </a:t>
            </a:r>
            <a:r>
              <a:rPr spc="-55" dirty="0"/>
              <a:t>resources,</a:t>
            </a:r>
            <a:r>
              <a:rPr spc="20" dirty="0"/>
              <a:t> </a:t>
            </a:r>
            <a:r>
              <a:rPr spc="-50" dirty="0"/>
              <a:t>and </a:t>
            </a:r>
            <a:r>
              <a:rPr spc="-45" dirty="0"/>
              <a:t> </a:t>
            </a:r>
            <a:r>
              <a:rPr b="1" spc="-50" dirty="0">
                <a:latin typeface="Arial"/>
                <a:cs typeface="Arial"/>
              </a:rPr>
              <a:t>modern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spc="-55" dirty="0">
                <a:latin typeface="Arial"/>
                <a:cs typeface="Arial"/>
              </a:rPr>
              <a:t>engineering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55" dirty="0">
                <a:latin typeface="Arial"/>
                <a:cs typeface="Arial"/>
              </a:rPr>
              <a:t>and</a:t>
            </a:r>
            <a:r>
              <a:rPr b="1" spc="195" dirty="0">
                <a:latin typeface="Arial"/>
                <a:cs typeface="Arial"/>
              </a:rPr>
              <a:t> </a:t>
            </a:r>
            <a:r>
              <a:rPr b="1" spc="90" dirty="0">
                <a:latin typeface="Arial"/>
                <a:cs typeface="Arial"/>
              </a:rPr>
              <a:t>IT </a:t>
            </a:r>
            <a:r>
              <a:rPr b="1" spc="-45" dirty="0">
                <a:latin typeface="Arial"/>
                <a:cs typeface="Arial"/>
              </a:rPr>
              <a:t>tools</a:t>
            </a:r>
            <a:r>
              <a:rPr spc="-45" dirty="0"/>
              <a:t>, </a:t>
            </a:r>
            <a:r>
              <a:rPr spc="-30" dirty="0"/>
              <a:t>including </a:t>
            </a:r>
            <a:r>
              <a:rPr spc="-35" dirty="0"/>
              <a:t>prediction </a:t>
            </a:r>
            <a:r>
              <a:rPr spc="-50" dirty="0"/>
              <a:t>and </a:t>
            </a:r>
            <a:r>
              <a:rPr spc="-45" dirty="0"/>
              <a:t> </a:t>
            </a:r>
            <a:r>
              <a:rPr spc="-35" dirty="0"/>
              <a:t>modelling,</a:t>
            </a:r>
            <a:r>
              <a:rPr spc="5" dirty="0"/>
              <a:t> </a:t>
            </a:r>
            <a:r>
              <a:rPr spc="-15" dirty="0"/>
              <a:t>to</a:t>
            </a:r>
            <a:r>
              <a:rPr spc="5" dirty="0"/>
              <a:t> </a:t>
            </a:r>
            <a:r>
              <a:rPr spc="-45" dirty="0">
                <a:solidFill>
                  <a:srgbClr val="BC1919"/>
                </a:solidFill>
              </a:rPr>
              <a:t>complex</a:t>
            </a:r>
            <a:r>
              <a:rPr spc="5" dirty="0">
                <a:solidFill>
                  <a:srgbClr val="BC1919"/>
                </a:solidFill>
              </a:rPr>
              <a:t> </a:t>
            </a:r>
            <a:r>
              <a:rPr spc="-55" dirty="0">
                <a:solidFill>
                  <a:srgbClr val="BC1919"/>
                </a:solidFill>
              </a:rPr>
              <a:t>engineering</a:t>
            </a:r>
            <a:r>
              <a:rPr dirty="0">
                <a:solidFill>
                  <a:srgbClr val="BC1919"/>
                </a:solidFill>
              </a:rPr>
              <a:t> </a:t>
            </a:r>
            <a:r>
              <a:rPr spc="-50" dirty="0">
                <a:solidFill>
                  <a:srgbClr val="BC1919"/>
                </a:solidFill>
              </a:rPr>
              <a:t>problems</a:t>
            </a:r>
            <a:r>
              <a:rPr spc="-50" dirty="0"/>
              <a:t>,</a:t>
            </a:r>
            <a:r>
              <a:rPr spc="5" dirty="0"/>
              <a:t> </a:t>
            </a:r>
            <a:r>
              <a:rPr spc="-25" dirty="0"/>
              <a:t>with</a:t>
            </a:r>
            <a:r>
              <a:rPr dirty="0"/>
              <a:t> </a:t>
            </a:r>
            <a:r>
              <a:rPr spc="-55" dirty="0"/>
              <a:t>an</a:t>
            </a:r>
            <a:r>
              <a:rPr spc="5" dirty="0"/>
              <a:t> </a:t>
            </a:r>
            <a:r>
              <a:rPr spc="-45" dirty="0"/>
              <a:t>understanding</a:t>
            </a:r>
            <a:r>
              <a:rPr spc="5" dirty="0"/>
              <a:t> </a:t>
            </a:r>
            <a:r>
              <a:rPr spc="-35" dirty="0"/>
              <a:t>of </a:t>
            </a:r>
            <a:r>
              <a:rPr spc="-325" dirty="0"/>
              <a:t> </a:t>
            </a:r>
            <a:r>
              <a:rPr spc="-40" dirty="0"/>
              <a:t>the</a:t>
            </a:r>
            <a:r>
              <a:rPr spc="10" dirty="0"/>
              <a:t> </a:t>
            </a:r>
            <a:r>
              <a:rPr spc="-20" dirty="0"/>
              <a:t>limitations.</a:t>
            </a:r>
            <a:r>
              <a:rPr spc="140" dirty="0"/>
              <a:t> </a:t>
            </a:r>
            <a:r>
              <a:rPr spc="10" dirty="0"/>
              <a:t>(K6)</a:t>
            </a:r>
          </a:p>
          <a:p>
            <a:pPr marL="288290" marR="7620">
              <a:lnSpc>
                <a:spcPct val="102600"/>
              </a:lnSpc>
              <a:spcBef>
                <a:spcPts val="300"/>
              </a:spcBef>
            </a:pPr>
            <a:r>
              <a:rPr spc="-15" dirty="0"/>
              <a:t>Apply</a:t>
            </a:r>
            <a:r>
              <a:rPr spc="30" dirty="0"/>
              <a:t> </a:t>
            </a:r>
            <a:r>
              <a:rPr spc="-55" dirty="0"/>
              <a:t>reasoning</a:t>
            </a:r>
            <a:r>
              <a:rPr spc="30" dirty="0"/>
              <a:t> </a:t>
            </a:r>
            <a:r>
              <a:rPr spc="-50" dirty="0"/>
              <a:t>informed</a:t>
            </a:r>
            <a:r>
              <a:rPr spc="35" dirty="0"/>
              <a:t> </a:t>
            </a:r>
            <a:r>
              <a:rPr spc="-60" dirty="0"/>
              <a:t>by</a:t>
            </a:r>
            <a:r>
              <a:rPr spc="30" dirty="0"/>
              <a:t> </a:t>
            </a:r>
            <a:r>
              <a:rPr spc="-35" dirty="0"/>
              <a:t>contextual</a:t>
            </a:r>
            <a:r>
              <a:rPr spc="35" dirty="0"/>
              <a:t> </a:t>
            </a:r>
            <a:r>
              <a:rPr spc="-60" dirty="0"/>
              <a:t>knowledge</a:t>
            </a:r>
            <a:r>
              <a:rPr spc="30" dirty="0"/>
              <a:t> </a:t>
            </a:r>
            <a:r>
              <a:rPr spc="-15" dirty="0"/>
              <a:t>to</a:t>
            </a:r>
            <a:r>
              <a:rPr spc="30" dirty="0"/>
              <a:t> </a:t>
            </a:r>
            <a:r>
              <a:rPr spc="-75" dirty="0"/>
              <a:t>assess</a:t>
            </a:r>
            <a:r>
              <a:rPr spc="20" dirty="0"/>
              <a:t> </a:t>
            </a:r>
            <a:r>
              <a:rPr b="1" spc="-45" dirty="0">
                <a:latin typeface="Arial"/>
                <a:cs typeface="Arial"/>
              </a:rPr>
              <a:t>societal</a:t>
            </a:r>
            <a:r>
              <a:rPr spc="-45" dirty="0"/>
              <a:t>, </a:t>
            </a:r>
            <a:r>
              <a:rPr spc="-330" dirty="0"/>
              <a:t> </a:t>
            </a:r>
            <a:r>
              <a:rPr spc="-40" dirty="0"/>
              <a:t>health,</a:t>
            </a:r>
            <a:r>
              <a:rPr spc="15" dirty="0"/>
              <a:t> </a:t>
            </a:r>
            <a:r>
              <a:rPr spc="-60" dirty="0"/>
              <a:t>safety,</a:t>
            </a:r>
            <a:r>
              <a:rPr spc="20" dirty="0"/>
              <a:t> </a:t>
            </a:r>
            <a:r>
              <a:rPr spc="-40" dirty="0"/>
              <a:t>legal</a:t>
            </a:r>
            <a:r>
              <a:rPr spc="20" dirty="0"/>
              <a:t> </a:t>
            </a:r>
            <a:r>
              <a:rPr spc="-50" dirty="0"/>
              <a:t>and</a:t>
            </a:r>
            <a:r>
              <a:rPr spc="20" dirty="0"/>
              <a:t> </a:t>
            </a:r>
            <a:r>
              <a:rPr spc="-20" dirty="0"/>
              <a:t>cultural</a:t>
            </a:r>
            <a:r>
              <a:rPr spc="20" dirty="0"/>
              <a:t> </a:t>
            </a:r>
            <a:r>
              <a:rPr spc="-60" dirty="0"/>
              <a:t>issues</a:t>
            </a:r>
            <a:r>
              <a:rPr spc="20" dirty="0"/>
              <a:t> </a:t>
            </a:r>
            <a:r>
              <a:rPr spc="-50" dirty="0"/>
              <a:t>and</a:t>
            </a:r>
            <a:r>
              <a:rPr spc="20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55" dirty="0"/>
              <a:t>consequent </a:t>
            </a:r>
            <a:r>
              <a:rPr spc="-50" dirty="0"/>
              <a:t> </a:t>
            </a:r>
            <a:r>
              <a:rPr spc="-35" dirty="0"/>
              <a:t>responsibilities</a:t>
            </a:r>
            <a:r>
              <a:rPr spc="20" dirty="0"/>
              <a:t> </a:t>
            </a:r>
            <a:r>
              <a:rPr spc="-45" dirty="0"/>
              <a:t>relevant</a:t>
            </a:r>
            <a:r>
              <a:rPr spc="25" dirty="0"/>
              <a:t> </a:t>
            </a:r>
            <a:r>
              <a:rPr spc="-15" dirty="0"/>
              <a:t>to</a:t>
            </a:r>
            <a:r>
              <a:rPr spc="25" dirty="0"/>
              <a:t> </a:t>
            </a:r>
            <a:r>
              <a:rPr spc="-50" dirty="0"/>
              <a:t>professional</a:t>
            </a:r>
            <a:r>
              <a:rPr spc="25" dirty="0"/>
              <a:t> </a:t>
            </a:r>
            <a:r>
              <a:rPr spc="-55" dirty="0"/>
              <a:t>engineering</a:t>
            </a:r>
            <a:r>
              <a:rPr spc="25" dirty="0"/>
              <a:t> </a:t>
            </a:r>
            <a:r>
              <a:rPr spc="-35" dirty="0"/>
              <a:t>practice</a:t>
            </a:r>
            <a:r>
              <a:rPr spc="25" dirty="0"/>
              <a:t> </a:t>
            </a:r>
            <a:r>
              <a:rPr spc="-50" dirty="0"/>
              <a:t>and </a:t>
            </a:r>
            <a:r>
              <a:rPr spc="-45" dirty="0"/>
              <a:t> </a:t>
            </a:r>
            <a:r>
              <a:rPr spc="-35" dirty="0"/>
              <a:t>solutions</a:t>
            </a:r>
            <a:r>
              <a:rPr spc="10" dirty="0"/>
              <a:t> </a:t>
            </a:r>
            <a:r>
              <a:rPr spc="-15" dirty="0"/>
              <a:t>to</a:t>
            </a:r>
            <a:r>
              <a:rPr spc="20" dirty="0"/>
              <a:t> </a:t>
            </a:r>
            <a:r>
              <a:rPr spc="-45" dirty="0">
                <a:solidFill>
                  <a:srgbClr val="BC1919"/>
                </a:solidFill>
              </a:rPr>
              <a:t>complex</a:t>
            </a:r>
            <a:r>
              <a:rPr spc="20" dirty="0">
                <a:solidFill>
                  <a:srgbClr val="BC1919"/>
                </a:solidFill>
              </a:rPr>
              <a:t> </a:t>
            </a:r>
            <a:r>
              <a:rPr spc="-55" dirty="0">
                <a:solidFill>
                  <a:srgbClr val="BC1919"/>
                </a:solidFill>
              </a:rPr>
              <a:t>engineering</a:t>
            </a:r>
            <a:r>
              <a:rPr spc="20" dirty="0">
                <a:solidFill>
                  <a:srgbClr val="BC1919"/>
                </a:solidFill>
              </a:rPr>
              <a:t> </a:t>
            </a:r>
            <a:r>
              <a:rPr spc="-50" dirty="0">
                <a:solidFill>
                  <a:srgbClr val="BC1919"/>
                </a:solidFill>
              </a:rPr>
              <a:t>problems</a:t>
            </a:r>
            <a:r>
              <a:rPr spc="-50" dirty="0"/>
              <a:t>.</a:t>
            </a:r>
            <a:r>
              <a:rPr spc="140" dirty="0"/>
              <a:t> </a:t>
            </a:r>
            <a:r>
              <a:rPr spc="10" dirty="0"/>
              <a:t>(K7)</a:t>
            </a:r>
          </a:p>
          <a:p>
            <a:pPr marL="288290" marR="125730">
              <a:lnSpc>
                <a:spcPct val="102600"/>
              </a:lnSpc>
              <a:spcBef>
                <a:spcPts val="300"/>
              </a:spcBef>
            </a:pPr>
            <a:r>
              <a:rPr spc="-40" dirty="0"/>
              <a:t>Understand</a:t>
            </a:r>
            <a:r>
              <a:rPr spc="15" dirty="0"/>
              <a:t> </a:t>
            </a:r>
            <a:r>
              <a:rPr spc="-50" dirty="0"/>
              <a:t>and</a:t>
            </a:r>
            <a:r>
              <a:rPr spc="20" dirty="0"/>
              <a:t> </a:t>
            </a:r>
            <a:r>
              <a:rPr spc="-50" dirty="0"/>
              <a:t>evaluate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20" dirty="0"/>
              <a:t> </a:t>
            </a:r>
            <a:r>
              <a:rPr b="1" spc="-45" dirty="0">
                <a:latin typeface="Arial"/>
                <a:cs typeface="Arial"/>
              </a:rPr>
              <a:t>sustainability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spc="-50" dirty="0"/>
              <a:t>and</a:t>
            </a:r>
            <a:r>
              <a:rPr spc="15" dirty="0"/>
              <a:t> </a:t>
            </a:r>
            <a:r>
              <a:rPr spc="-25" dirty="0"/>
              <a:t>impact</a:t>
            </a:r>
            <a:r>
              <a:rPr spc="20" dirty="0"/>
              <a:t> </a:t>
            </a:r>
            <a:r>
              <a:rPr spc="-35" dirty="0"/>
              <a:t>of </a:t>
            </a:r>
            <a:r>
              <a:rPr spc="-30" dirty="0"/>
              <a:t> </a:t>
            </a:r>
            <a:r>
              <a:rPr spc="-50" dirty="0"/>
              <a:t>professional</a:t>
            </a:r>
            <a:r>
              <a:rPr spc="25" dirty="0"/>
              <a:t> </a:t>
            </a:r>
            <a:r>
              <a:rPr spc="-55" dirty="0"/>
              <a:t>engineering</a:t>
            </a:r>
            <a:r>
              <a:rPr spc="25" dirty="0"/>
              <a:t> </a:t>
            </a:r>
            <a:r>
              <a:rPr spc="-60" dirty="0"/>
              <a:t>work</a:t>
            </a:r>
            <a:r>
              <a:rPr spc="25" dirty="0"/>
              <a:t> </a:t>
            </a:r>
            <a:r>
              <a:rPr spc="-25" dirty="0"/>
              <a:t>in</a:t>
            </a:r>
            <a:r>
              <a:rPr spc="25" dirty="0"/>
              <a:t> </a:t>
            </a:r>
            <a:r>
              <a:rPr spc="-40" dirty="0"/>
              <a:t>the</a:t>
            </a:r>
            <a:r>
              <a:rPr spc="20" dirty="0"/>
              <a:t> </a:t>
            </a:r>
            <a:r>
              <a:rPr spc="-30" dirty="0"/>
              <a:t>solution</a:t>
            </a:r>
            <a:r>
              <a:rPr spc="25" dirty="0"/>
              <a:t> </a:t>
            </a:r>
            <a:r>
              <a:rPr spc="-35" dirty="0"/>
              <a:t>of</a:t>
            </a:r>
            <a:r>
              <a:rPr spc="20" dirty="0"/>
              <a:t> </a:t>
            </a:r>
            <a:r>
              <a:rPr spc="-45" dirty="0">
                <a:solidFill>
                  <a:srgbClr val="BC1919"/>
                </a:solidFill>
              </a:rPr>
              <a:t>complex</a:t>
            </a:r>
            <a:r>
              <a:rPr spc="25" dirty="0">
                <a:solidFill>
                  <a:srgbClr val="BC1919"/>
                </a:solidFill>
              </a:rPr>
              <a:t> </a:t>
            </a:r>
            <a:r>
              <a:rPr spc="-55" dirty="0">
                <a:solidFill>
                  <a:srgbClr val="BC1919"/>
                </a:solidFill>
              </a:rPr>
              <a:t>engineering </a:t>
            </a:r>
            <a:r>
              <a:rPr spc="-330" dirty="0">
                <a:solidFill>
                  <a:srgbClr val="BC1919"/>
                </a:solidFill>
              </a:rPr>
              <a:t> </a:t>
            </a:r>
            <a:r>
              <a:rPr spc="-55" dirty="0">
                <a:solidFill>
                  <a:srgbClr val="BC1919"/>
                </a:solidFill>
              </a:rPr>
              <a:t>problems</a:t>
            </a:r>
            <a:r>
              <a:rPr spc="15" dirty="0">
                <a:solidFill>
                  <a:srgbClr val="BC1919"/>
                </a:solidFill>
              </a:rPr>
              <a:t> </a:t>
            </a:r>
            <a:r>
              <a:rPr spc="-25" dirty="0"/>
              <a:t>in</a:t>
            </a:r>
            <a:r>
              <a:rPr spc="20" dirty="0"/>
              <a:t> </a:t>
            </a:r>
            <a:r>
              <a:rPr spc="-30" dirty="0"/>
              <a:t>societal</a:t>
            </a:r>
            <a:r>
              <a:rPr spc="20" dirty="0"/>
              <a:t> </a:t>
            </a:r>
            <a:r>
              <a:rPr spc="-50" dirty="0"/>
              <a:t>and</a:t>
            </a:r>
            <a:r>
              <a:rPr spc="15" dirty="0"/>
              <a:t> </a:t>
            </a:r>
            <a:r>
              <a:rPr b="1" spc="-40" dirty="0">
                <a:latin typeface="Arial"/>
                <a:cs typeface="Arial"/>
              </a:rPr>
              <a:t>environmental</a:t>
            </a:r>
            <a:r>
              <a:rPr b="1" spc="55" dirty="0">
                <a:latin typeface="Arial"/>
                <a:cs typeface="Arial"/>
              </a:rPr>
              <a:t> </a:t>
            </a:r>
            <a:r>
              <a:rPr spc="-35" dirty="0"/>
              <a:t>contexts.</a:t>
            </a:r>
            <a:r>
              <a:rPr spc="140" dirty="0"/>
              <a:t> </a:t>
            </a:r>
            <a:r>
              <a:rPr spc="10" dirty="0"/>
              <a:t>(K7)</a:t>
            </a:r>
          </a:p>
          <a:p>
            <a:pPr marL="288290" marR="438150">
              <a:lnSpc>
                <a:spcPct val="102600"/>
              </a:lnSpc>
              <a:spcBef>
                <a:spcPts val="300"/>
              </a:spcBef>
            </a:pPr>
            <a:r>
              <a:rPr spc="-15" dirty="0"/>
              <a:t>Apply</a:t>
            </a:r>
            <a:r>
              <a:rPr spc="25" dirty="0"/>
              <a:t> </a:t>
            </a:r>
            <a:r>
              <a:rPr spc="-30" dirty="0"/>
              <a:t>ethical</a:t>
            </a:r>
            <a:r>
              <a:rPr spc="30" dirty="0"/>
              <a:t> </a:t>
            </a:r>
            <a:r>
              <a:rPr spc="-40" dirty="0"/>
              <a:t>principles</a:t>
            </a:r>
            <a:r>
              <a:rPr spc="25" dirty="0"/>
              <a:t> </a:t>
            </a:r>
            <a:r>
              <a:rPr spc="-50" dirty="0"/>
              <a:t>and</a:t>
            </a:r>
            <a:r>
              <a:rPr spc="30" dirty="0"/>
              <a:t> </a:t>
            </a:r>
            <a:r>
              <a:rPr spc="-30" dirty="0"/>
              <a:t>commit</a:t>
            </a:r>
            <a:r>
              <a:rPr spc="30" dirty="0"/>
              <a:t> </a:t>
            </a:r>
            <a:r>
              <a:rPr spc="-15" dirty="0"/>
              <a:t>to</a:t>
            </a:r>
            <a:r>
              <a:rPr spc="20" dirty="0"/>
              <a:t> </a:t>
            </a:r>
            <a:r>
              <a:rPr spc="-50" dirty="0"/>
              <a:t>professional</a:t>
            </a:r>
            <a:r>
              <a:rPr spc="25" dirty="0"/>
              <a:t> </a:t>
            </a:r>
            <a:r>
              <a:rPr b="1" spc="-50" dirty="0">
                <a:latin typeface="Arial"/>
                <a:cs typeface="Arial"/>
              </a:rPr>
              <a:t>ethics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spc="-50" dirty="0"/>
              <a:t>and </a:t>
            </a:r>
            <a:r>
              <a:rPr spc="-325" dirty="0"/>
              <a:t> </a:t>
            </a:r>
            <a:r>
              <a:rPr spc="-35" dirty="0"/>
              <a:t>responsibilities</a:t>
            </a:r>
            <a:r>
              <a:rPr spc="15" dirty="0"/>
              <a:t> </a:t>
            </a:r>
            <a:r>
              <a:rPr spc="-50" dirty="0"/>
              <a:t>and</a:t>
            </a:r>
            <a:r>
              <a:rPr spc="20" dirty="0"/>
              <a:t> </a:t>
            </a:r>
            <a:r>
              <a:rPr spc="-60" dirty="0"/>
              <a:t>norms</a:t>
            </a:r>
            <a:r>
              <a:rPr spc="25" dirty="0"/>
              <a:t> </a:t>
            </a:r>
            <a:r>
              <a:rPr spc="-35" dirty="0"/>
              <a:t>of</a:t>
            </a:r>
            <a:r>
              <a:rPr spc="15" dirty="0"/>
              <a:t> </a:t>
            </a:r>
            <a:r>
              <a:rPr spc="-55" dirty="0"/>
              <a:t>engineering</a:t>
            </a:r>
            <a:r>
              <a:rPr spc="20" dirty="0"/>
              <a:t> </a:t>
            </a:r>
            <a:r>
              <a:rPr spc="-35" dirty="0"/>
              <a:t>practice.</a:t>
            </a:r>
            <a:r>
              <a:rPr spc="145" dirty="0"/>
              <a:t> </a:t>
            </a:r>
            <a:r>
              <a:rPr spc="10" dirty="0"/>
              <a:t>(K7)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1529089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3588" y="1517617"/>
            <a:ext cx="5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f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2255351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5740" y="222700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g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2809528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5079" y="279805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83836" y="3334918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9990" y="3334918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6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110" dirty="0">
                <a:solidFill>
                  <a:schemeClr val="accent1"/>
                </a:solidFill>
                <a:latin typeface="Trebuchet MS"/>
                <a:cs typeface="Trebuchet MS"/>
              </a:rPr>
              <a:t>BAETE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Program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Outcomes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805913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6281" y="794085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932" y="751800"/>
            <a:ext cx="4064635" cy="2370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859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effectively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Arial"/>
                <a:cs typeface="Arial"/>
              </a:rPr>
              <a:t>individual</a:t>
            </a:r>
            <a:r>
              <a:rPr sz="1100" spc="-45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member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leader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diverse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Arial"/>
                <a:cs typeface="Arial"/>
              </a:rPr>
              <a:t>teams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multi-disciplinary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settings.</a:t>
            </a:r>
            <a:endParaRPr sz="1100">
              <a:latin typeface="Tahoma"/>
              <a:cs typeface="Tahoma"/>
            </a:endParaRPr>
          </a:p>
          <a:p>
            <a:pPr marL="12700" marR="19685">
              <a:lnSpc>
                <a:spcPct val="102600"/>
              </a:lnSpc>
              <a:spcBef>
                <a:spcPts val="300"/>
              </a:spcBef>
            </a:pPr>
            <a:r>
              <a:rPr sz="1100" b="1" spc="-45" dirty="0">
                <a:latin typeface="Arial"/>
                <a:cs typeface="Arial"/>
              </a:rPr>
              <a:t>Communicate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effectively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BC1919"/>
                </a:solidFill>
                <a:latin typeface="Tahoma"/>
                <a:cs typeface="Tahoma"/>
              </a:rPr>
              <a:t>complex</a:t>
            </a:r>
            <a:r>
              <a:rPr sz="11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BC1919"/>
                </a:solidFill>
                <a:latin typeface="Tahoma"/>
                <a:cs typeface="Tahoma"/>
              </a:rPr>
              <a:t>engineering</a:t>
            </a:r>
            <a:r>
              <a:rPr sz="11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BC1919"/>
                </a:solidFill>
                <a:latin typeface="Tahoma"/>
                <a:cs typeface="Tahoma"/>
              </a:rPr>
              <a:t>activities</a:t>
            </a:r>
            <a:r>
              <a:rPr sz="1100" spc="30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engineering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community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society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at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such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able 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comprehend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write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effective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reports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design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documentation,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make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effective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presentations,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receive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clear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instructions.</a:t>
            </a:r>
            <a:endParaRPr sz="1100">
              <a:latin typeface="Tahoma"/>
              <a:cs typeface="Tahoma"/>
            </a:endParaRPr>
          </a:p>
          <a:p>
            <a:pPr marL="12700" marR="309880">
              <a:lnSpc>
                <a:spcPct val="102600"/>
              </a:lnSpc>
              <a:spcBef>
                <a:spcPts val="300"/>
              </a:spcBef>
            </a:pPr>
            <a:r>
              <a:rPr sz="1100" spc="-40" dirty="0">
                <a:latin typeface="Tahoma"/>
                <a:cs typeface="Tahoma"/>
              </a:rPr>
              <a:t>Demonstrate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knowledge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understanding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engineering 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management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principles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economic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decision-making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apply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these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one’s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own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work,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member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leader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team,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manage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projects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multidisciplinary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environments.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Tahoma"/>
                <a:cs typeface="Tahoma"/>
              </a:rPr>
              <a:t>Recognize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need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preparation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ability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engage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independent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life-long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learning</a:t>
            </a:r>
            <a:r>
              <a:rPr sz="1100" b="1" spc="7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broadest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context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technological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1188018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5163" y="1168811"/>
            <a:ext cx="4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j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1914280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6197" y="1902795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495" y="2640542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6281" y="2629057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7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1798" y="225402"/>
            <a:ext cx="1706697" cy="285773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1815" b="1" spc="-8" dirty="0">
                <a:solidFill>
                  <a:schemeClr val="accent1"/>
                </a:solidFill>
                <a:latin typeface="Calibri"/>
                <a:cs typeface="Calibri"/>
              </a:rPr>
              <a:t>Complex</a:t>
            </a:r>
            <a:r>
              <a:rPr sz="1815" b="1" spc="-2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1815" b="1" spc="-5" dirty="0">
                <a:solidFill>
                  <a:schemeClr val="accent1"/>
                </a:solidFill>
                <a:latin typeface="Calibri"/>
                <a:cs typeface="Calibri"/>
              </a:rPr>
              <a:t>Problem</a:t>
            </a:r>
            <a:endParaRPr sz="1815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887" y="636386"/>
            <a:ext cx="3806534" cy="2592943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 marR="2561" algn="ctr">
              <a:spcBef>
                <a:spcPts val="50"/>
              </a:spcBef>
            </a:pPr>
            <a:r>
              <a:rPr sz="1815" dirty="0">
                <a:latin typeface="Calibri"/>
                <a:cs typeface="Calibri"/>
              </a:rPr>
              <a:t>Need</a:t>
            </a:r>
            <a:r>
              <a:rPr sz="1815" spc="-10" dirty="0">
                <a:latin typeface="Calibri"/>
                <a:cs typeface="Calibri"/>
              </a:rPr>
              <a:t> </a:t>
            </a:r>
            <a:r>
              <a:rPr sz="1815" spc="-13" dirty="0">
                <a:latin typeface="Calibri"/>
                <a:cs typeface="Calibri"/>
              </a:rPr>
              <a:t>to</a:t>
            </a:r>
            <a:r>
              <a:rPr sz="1815" spc="-8" dirty="0">
                <a:latin typeface="Calibri"/>
                <a:cs typeface="Calibri"/>
              </a:rPr>
              <a:t> </a:t>
            </a:r>
            <a:r>
              <a:rPr sz="1815" dirty="0">
                <a:latin typeface="Calibri"/>
                <a:cs typeface="Calibri"/>
              </a:rPr>
              <a:t>think</a:t>
            </a:r>
            <a:r>
              <a:rPr sz="1815" spc="-18" dirty="0">
                <a:latin typeface="Calibri"/>
                <a:cs typeface="Calibri"/>
              </a:rPr>
              <a:t> </a:t>
            </a:r>
            <a:r>
              <a:rPr sz="1815" spc="-8" dirty="0">
                <a:latin typeface="Calibri"/>
                <a:cs typeface="Calibri"/>
              </a:rPr>
              <a:t>broadly</a:t>
            </a:r>
            <a:r>
              <a:rPr sz="1815" spc="-20" dirty="0">
                <a:latin typeface="Calibri"/>
                <a:cs typeface="Calibri"/>
              </a:rPr>
              <a:t> </a:t>
            </a:r>
            <a:r>
              <a:rPr sz="1815" dirty="0">
                <a:latin typeface="Calibri"/>
                <a:cs typeface="Calibri"/>
              </a:rPr>
              <a:t>and</a:t>
            </a:r>
            <a:r>
              <a:rPr sz="1815" spc="-10" dirty="0">
                <a:latin typeface="Calibri"/>
                <a:cs typeface="Calibri"/>
              </a:rPr>
              <a:t> systematically </a:t>
            </a:r>
            <a:r>
              <a:rPr sz="1815" spc="-403" dirty="0">
                <a:latin typeface="Calibri"/>
                <a:cs typeface="Calibri"/>
              </a:rPr>
              <a:t> </a:t>
            </a:r>
            <a:r>
              <a:rPr sz="1815" dirty="0">
                <a:latin typeface="Calibri"/>
                <a:cs typeface="Calibri"/>
              </a:rPr>
              <a:t>and</a:t>
            </a:r>
            <a:r>
              <a:rPr sz="1815" spc="-8" dirty="0">
                <a:latin typeface="Calibri"/>
                <a:cs typeface="Calibri"/>
              </a:rPr>
              <a:t> </a:t>
            </a:r>
            <a:r>
              <a:rPr sz="1815" b="1" dirty="0">
                <a:solidFill>
                  <a:srgbClr val="FF0000"/>
                </a:solidFill>
                <a:latin typeface="Calibri"/>
                <a:cs typeface="Calibri"/>
              </a:rPr>
              <a:t>see</a:t>
            </a:r>
            <a:r>
              <a:rPr sz="1815" b="1" spc="-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15" b="1" dirty="0">
                <a:solidFill>
                  <a:srgbClr val="FF0000"/>
                </a:solidFill>
                <a:latin typeface="Calibri"/>
                <a:cs typeface="Calibri"/>
              </a:rPr>
              <a:t>the big</a:t>
            </a:r>
            <a:r>
              <a:rPr sz="1815" b="1"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15" b="1" spc="-3" dirty="0">
                <a:solidFill>
                  <a:srgbClr val="FF0000"/>
                </a:solidFill>
                <a:latin typeface="Calibri"/>
                <a:cs typeface="Calibri"/>
              </a:rPr>
              <a:t>picture</a:t>
            </a:r>
            <a:endParaRPr sz="1815" dirty="0"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5" dirty="0">
                <a:solidFill>
                  <a:srgbClr val="008000"/>
                </a:solidFill>
                <a:latin typeface="Calibri"/>
                <a:cs typeface="Calibri"/>
              </a:rPr>
              <a:t>Complex	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Problem</a:t>
            </a:r>
            <a:endParaRPr lang="en-GB" sz="1613" dirty="0"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3" dirty="0">
                <a:solidFill>
                  <a:srgbClr val="008000"/>
                </a:solidFill>
                <a:latin typeface="Calibri"/>
                <a:cs typeface="Calibri"/>
              </a:rPr>
              <a:t>Difficult 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Decision </a:t>
            </a:r>
            <a:r>
              <a:rPr sz="1613" b="1" spc="-35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GB" sz="1613" b="1" spc="-358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3" dirty="0">
                <a:solidFill>
                  <a:srgbClr val="008000"/>
                </a:solidFill>
                <a:latin typeface="Calibri"/>
                <a:cs typeface="Calibri"/>
              </a:rPr>
              <a:t>Uncertain </a:t>
            </a:r>
            <a:r>
              <a:rPr sz="1613" b="1" spc="-10" dirty="0">
                <a:solidFill>
                  <a:srgbClr val="0000FF"/>
                </a:solidFill>
                <a:latin typeface="Calibri"/>
                <a:cs typeface="Calibri"/>
              </a:rPr>
              <a:t>Strategy </a:t>
            </a:r>
            <a:r>
              <a:rPr sz="1613" b="1" spc="-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GB" sz="1613" b="1" spc="-8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3" dirty="0">
                <a:solidFill>
                  <a:srgbClr val="008000"/>
                </a:solidFill>
                <a:latin typeface="Calibri"/>
                <a:cs typeface="Calibri"/>
              </a:rPr>
              <a:t>Confusing</a:t>
            </a:r>
            <a:r>
              <a:rPr sz="1613" b="1" spc="328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Idea</a:t>
            </a:r>
            <a:endParaRPr lang="en-GB" sz="1613" dirty="0"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5" dirty="0">
                <a:solidFill>
                  <a:srgbClr val="008000"/>
                </a:solidFill>
                <a:latin typeface="Calibri"/>
                <a:cs typeface="Calibri"/>
              </a:rPr>
              <a:t>Contentious 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Product </a:t>
            </a:r>
            <a:r>
              <a:rPr sz="1613" b="1" spc="-35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GB" sz="1613" b="1" spc="-358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8" dirty="0">
                <a:solidFill>
                  <a:srgbClr val="008000"/>
                </a:solidFill>
                <a:latin typeface="Calibri"/>
                <a:cs typeface="Calibri"/>
              </a:rPr>
              <a:t>Intractable</a:t>
            </a:r>
            <a:r>
              <a:rPr sz="1613" b="1" spc="313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13" b="1" spc="-5" dirty="0">
                <a:solidFill>
                  <a:srgbClr val="0000FF"/>
                </a:solidFill>
                <a:latin typeface="Calibri"/>
                <a:cs typeface="Calibri"/>
              </a:rPr>
              <a:t>Change</a:t>
            </a:r>
            <a:endParaRPr sz="1613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81309" y="471721"/>
            <a:ext cx="271484" cy="214817"/>
            <a:chOff x="4326564" y="676564"/>
            <a:chExt cx="538480" cy="42608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6564" y="676564"/>
              <a:ext cx="538089" cy="4254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55592" y="691896"/>
              <a:ext cx="485140" cy="361315"/>
            </a:xfrm>
            <a:custGeom>
              <a:avLst/>
              <a:gdLst/>
              <a:ahLst/>
              <a:cxnLst/>
              <a:rect l="l" t="t" r="r" b="b"/>
              <a:pathLst>
                <a:path w="485139" h="361315">
                  <a:moveTo>
                    <a:pt x="363474" y="0"/>
                  </a:moveTo>
                  <a:lnTo>
                    <a:pt x="121158" y="0"/>
                  </a:lnTo>
                  <a:lnTo>
                    <a:pt x="121158" y="180593"/>
                  </a:lnTo>
                  <a:lnTo>
                    <a:pt x="0" y="180593"/>
                  </a:lnTo>
                  <a:lnTo>
                    <a:pt x="242316" y="361188"/>
                  </a:lnTo>
                  <a:lnTo>
                    <a:pt x="484632" y="180593"/>
                  </a:lnTo>
                  <a:lnTo>
                    <a:pt x="363474" y="180593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7" name="object 7"/>
            <p:cNvSpPr/>
            <p:nvPr/>
          </p:nvSpPr>
          <p:spPr>
            <a:xfrm>
              <a:off x="4355592" y="691896"/>
              <a:ext cx="485140" cy="361315"/>
            </a:xfrm>
            <a:custGeom>
              <a:avLst/>
              <a:gdLst/>
              <a:ahLst/>
              <a:cxnLst/>
              <a:rect l="l" t="t" r="r" b="b"/>
              <a:pathLst>
                <a:path w="485139" h="361315">
                  <a:moveTo>
                    <a:pt x="0" y="180593"/>
                  </a:moveTo>
                  <a:lnTo>
                    <a:pt x="121158" y="180593"/>
                  </a:lnTo>
                  <a:lnTo>
                    <a:pt x="121158" y="0"/>
                  </a:lnTo>
                  <a:lnTo>
                    <a:pt x="363474" y="0"/>
                  </a:lnTo>
                  <a:lnTo>
                    <a:pt x="363474" y="180593"/>
                  </a:lnTo>
                  <a:lnTo>
                    <a:pt x="484632" y="180593"/>
                  </a:lnTo>
                  <a:lnTo>
                    <a:pt x="242316" y="361188"/>
                  </a:lnTo>
                  <a:lnTo>
                    <a:pt x="0" y="18059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 flipH="1">
            <a:off x="4438650" y="3330575"/>
            <a:ext cx="108722" cy="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10">
              <a:lnSpc>
                <a:spcPts val="625"/>
              </a:lnSpc>
            </a:pPr>
            <a:fld id="{81D60167-4931-47E6-BA6A-407CBD079E47}" type="slidenum">
              <a:rPr dirty="0"/>
              <a:pPr marL="19210">
                <a:lnSpc>
                  <a:spcPts val="625"/>
                </a:lnSpc>
              </a:pPr>
              <a:t>8</a:t>
            </a:fld>
            <a:endParaRPr dirty="0"/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09FCD42B-6995-C112-7336-8A4EFD21A6E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Characteristic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4983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7292" y="748714"/>
            <a:ext cx="4355515" cy="2045199"/>
          </a:xfrm>
          <a:prstGeom prst="rect">
            <a:avLst/>
          </a:prstGeom>
        </p:spPr>
        <p:txBody>
          <a:bodyPr vert="horz" wrap="square" lIns="0" tIns="186587" rIns="0" bIns="0" rtlCol="0">
            <a:spAutoFit/>
          </a:bodyPr>
          <a:lstStyle/>
          <a:p>
            <a:pPr marL="288290" marR="2923540">
              <a:lnSpc>
                <a:spcPct val="125299"/>
              </a:lnSpc>
              <a:spcBef>
                <a:spcPts val="100"/>
              </a:spcBef>
            </a:pPr>
            <a:r>
              <a:rPr spc="-10" dirty="0"/>
              <a:t>Difficult</a:t>
            </a:r>
            <a:r>
              <a:rPr spc="5" dirty="0"/>
              <a:t> </a:t>
            </a:r>
            <a:r>
              <a:rPr spc="-15" dirty="0"/>
              <a:t>to</a:t>
            </a:r>
            <a:r>
              <a:rPr spc="10" dirty="0"/>
              <a:t> </a:t>
            </a:r>
            <a:r>
              <a:rPr spc="-50" dirty="0"/>
              <a:t>solver </a:t>
            </a:r>
            <a:r>
              <a:rPr spc="-45" dirty="0"/>
              <a:t> </a:t>
            </a:r>
            <a:r>
              <a:rPr spc="-25" dirty="0"/>
              <a:t>Unfamiliar</a:t>
            </a:r>
            <a:r>
              <a:rPr spc="-10" dirty="0"/>
              <a:t> </a:t>
            </a:r>
            <a:r>
              <a:rPr spc="-15" dirty="0"/>
              <a:t>to</a:t>
            </a:r>
            <a:r>
              <a:rPr spc="-10" dirty="0"/>
              <a:t> </a:t>
            </a:r>
            <a:r>
              <a:rPr spc="-50" dirty="0"/>
              <a:t>solver</a:t>
            </a:r>
          </a:p>
          <a:p>
            <a:pPr marL="288290">
              <a:lnSpc>
                <a:spcPct val="100000"/>
              </a:lnSpc>
              <a:spcBef>
                <a:spcPts val="335"/>
              </a:spcBef>
            </a:pPr>
            <a:r>
              <a:rPr spc="-35" dirty="0"/>
              <a:t>Has</a:t>
            </a:r>
            <a:r>
              <a:rPr spc="15" dirty="0"/>
              <a:t> </a:t>
            </a:r>
            <a:r>
              <a:rPr spc="-55" dirty="0"/>
              <a:t>several</a:t>
            </a:r>
            <a:r>
              <a:rPr spc="25" dirty="0"/>
              <a:t> </a:t>
            </a:r>
            <a:r>
              <a:rPr spc="-45" dirty="0"/>
              <a:t>variables,</a:t>
            </a:r>
            <a:r>
              <a:rPr spc="25" dirty="0"/>
              <a:t> </a:t>
            </a:r>
            <a:r>
              <a:rPr spc="-55" dirty="0"/>
              <a:t>parameters,</a:t>
            </a:r>
            <a:r>
              <a:rPr spc="25" dirty="0"/>
              <a:t> </a:t>
            </a:r>
            <a:r>
              <a:rPr spc="-35" dirty="0"/>
              <a:t>constraints.</a:t>
            </a:r>
          </a:p>
          <a:p>
            <a:pPr marL="288290" marR="5080">
              <a:lnSpc>
                <a:spcPct val="125299"/>
              </a:lnSpc>
            </a:pPr>
            <a:r>
              <a:rPr spc="-35" dirty="0"/>
              <a:t>Has</a:t>
            </a:r>
            <a:r>
              <a:rPr spc="-5" dirty="0"/>
              <a:t> </a:t>
            </a:r>
            <a:r>
              <a:rPr spc="-55" dirty="0"/>
              <a:t>several</a:t>
            </a:r>
            <a:r>
              <a:rPr spc="-5" dirty="0"/>
              <a:t> </a:t>
            </a:r>
            <a:r>
              <a:rPr spc="-50" dirty="0"/>
              <a:t>components</a:t>
            </a:r>
            <a:r>
              <a:rPr spc="-5" dirty="0"/>
              <a:t> </a:t>
            </a:r>
            <a:r>
              <a:rPr spc="-40" dirty="0"/>
              <a:t>inter-connected</a:t>
            </a:r>
            <a:r>
              <a:rPr spc="-5" dirty="0"/>
              <a:t> </a:t>
            </a:r>
            <a:r>
              <a:rPr spc="-50" dirty="0"/>
              <a:t>and</a:t>
            </a:r>
            <a:r>
              <a:rPr dirty="0"/>
              <a:t> </a:t>
            </a:r>
            <a:r>
              <a:rPr spc="-55" dirty="0"/>
              <a:t>dependent</a:t>
            </a:r>
            <a:r>
              <a:rPr spc="-5" dirty="0"/>
              <a:t> </a:t>
            </a:r>
            <a:r>
              <a:rPr spc="-15" dirty="0"/>
              <a:t>to</a:t>
            </a:r>
            <a:r>
              <a:rPr spc="-5" dirty="0"/>
              <a:t> </a:t>
            </a:r>
            <a:r>
              <a:rPr spc="-60" dirty="0"/>
              <a:t>each</a:t>
            </a:r>
            <a:r>
              <a:rPr spc="-5" dirty="0"/>
              <a:t> </a:t>
            </a:r>
            <a:r>
              <a:rPr spc="-40" dirty="0"/>
              <a:t>other. </a:t>
            </a:r>
            <a:r>
              <a:rPr spc="-325" dirty="0"/>
              <a:t> </a:t>
            </a:r>
            <a:r>
              <a:rPr spc="-20" dirty="0"/>
              <a:t>The</a:t>
            </a:r>
            <a:r>
              <a:rPr spc="20" dirty="0"/>
              <a:t> </a:t>
            </a:r>
            <a:r>
              <a:rPr spc="-50" dirty="0"/>
              <a:t>solver</a:t>
            </a:r>
            <a:r>
              <a:rPr spc="20" dirty="0"/>
              <a:t> </a:t>
            </a:r>
            <a:r>
              <a:rPr spc="-60" dirty="0"/>
              <a:t>does</a:t>
            </a:r>
            <a:r>
              <a:rPr spc="15" dirty="0"/>
              <a:t> </a:t>
            </a:r>
            <a:r>
              <a:rPr spc="-30" dirty="0"/>
              <a:t>not</a:t>
            </a:r>
            <a:r>
              <a:rPr spc="20" dirty="0"/>
              <a:t> </a:t>
            </a:r>
            <a:r>
              <a:rPr spc="-65" dirty="0"/>
              <a:t>have</a:t>
            </a:r>
            <a:r>
              <a:rPr spc="20" dirty="0"/>
              <a:t> </a:t>
            </a:r>
            <a:r>
              <a:rPr spc="-50" dirty="0"/>
              <a:t>any</a:t>
            </a:r>
            <a:r>
              <a:rPr spc="20" dirty="0"/>
              <a:t> </a:t>
            </a:r>
            <a:r>
              <a:rPr spc="-45" dirty="0"/>
              <a:t>immediate</a:t>
            </a:r>
            <a:r>
              <a:rPr spc="20" dirty="0"/>
              <a:t> </a:t>
            </a:r>
            <a:r>
              <a:rPr spc="-30" dirty="0"/>
              <a:t>solution.</a:t>
            </a:r>
          </a:p>
          <a:p>
            <a:pPr marL="288290">
              <a:lnSpc>
                <a:spcPct val="100000"/>
              </a:lnSpc>
              <a:spcBef>
                <a:spcPts val="334"/>
              </a:spcBef>
            </a:pPr>
            <a:r>
              <a:rPr spc="-5" dirty="0"/>
              <a:t>Multiple</a:t>
            </a:r>
            <a:r>
              <a:rPr spc="15" dirty="0"/>
              <a:t> </a:t>
            </a:r>
            <a:r>
              <a:rPr spc="-50" dirty="0"/>
              <a:t>stake-holders</a:t>
            </a:r>
            <a:r>
              <a:rPr spc="25" dirty="0"/>
              <a:t> </a:t>
            </a:r>
            <a:r>
              <a:rPr spc="-25" dirty="0"/>
              <a:t>with</a:t>
            </a:r>
            <a:r>
              <a:rPr spc="20" dirty="0"/>
              <a:t> </a:t>
            </a:r>
            <a:r>
              <a:rPr spc="-40" dirty="0"/>
              <a:t>different</a:t>
            </a:r>
            <a:r>
              <a:rPr spc="25" dirty="0"/>
              <a:t> </a:t>
            </a:r>
            <a:r>
              <a:rPr spc="-60" dirty="0"/>
              <a:t>views</a:t>
            </a:r>
            <a:r>
              <a:rPr spc="20" dirty="0"/>
              <a:t> </a:t>
            </a:r>
            <a:r>
              <a:rPr spc="-60" dirty="0"/>
              <a:t>or</a:t>
            </a:r>
            <a:r>
              <a:rPr spc="25" dirty="0"/>
              <a:t> </a:t>
            </a:r>
            <a:r>
              <a:rPr spc="-40" dirty="0"/>
              <a:t>interests.</a:t>
            </a:r>
          </a:p>
          <a:p>
            <a:pPr marL="288290" marR="200660">
              <a:lnSpc>
                <a:spcPct val="102699"/>
              </a:lnSpc>
              <a:spcBef>
                <a:spcPts val="295"/>
              </a:spcBef>
            </a:pPr>
            <a:r>
              <a:rPr spc="-10" dirty="0"/>
              <a:t>No</a:t>
            </a:r>
            <a:r>
              <a:rPr spc="15" dirty="0"/>
              <a:t> </a:t>
            </a:r>
            <a:r>
              <a:rPr spc="-45" dirty="0"/>
              <a:t>clear</a:t>
            </a:r>
            <a:r>
              <a:rPr spc="20" dirty="0"/>
              <a:t> </a:t>
            </a:r>
            <a:r>
              <a:rPr spc="-50" dirty="0"/>
              <a:t>problem</a:t>
            </a:r>
            <a:r>
              <a:rPr spc="25" dirty="0"/>
              <a:t> </a:t>
            </a:r>
            <a:r>
              <a:rPr spc="-55" dirty="0"/>
              <a:t>boundary.</a:t>
            </a:r>
            <a:r>
              <a:rPr spc="140" dirty="0"/>
              <a:t> </a:t>
            </a:r>
            <a:r>
              <a:rPr spc="-20" dirty="0"/>
              <a:t>The</a:t>
            </a:r>
            <a:r>
              <a:rPr spc="20" dirty="0"/>
              <a:t> </a:t>
            </a:r>
            <a:r>
              <a:rPr spc="-50" dirty="0"/>
              <a:t>solver</a:t>
            </a:r>
            <a:r>
              <a:rPr spc="20" dirty="0"/>
              <a:t> </a:t>
            </a:r>
            <a:r>
              <a:rPr spc="-75" dirty="0"/>
              <a:t>need</a:t>
            </a:r>
            <a:r>
              <a:rPr lang="en-GB" spc="-75" dirty="0"/>
              <a:t>s</a:t>
            </a:r>
            <a:r>
              <a:rPr spc="20" dirty="0"/>
              <a:t> </a:t>
            </a:r>
            <a:r>
              <a:rPr spc="-15" dirty="0"/>
              <a:t>to</a:t>
            </a:r>
            <a:r>
              <a:rPr spc="20" dirty="0"/>
              <a:t> </a:t>
            </a:r>
            <a:r>
              <a:rPr spc="-55" dirty="0"/>
              <a:t>define</a:t>
            </a:r>
            <a:r>
              <a:rPr spc="25" dirty="0"/>
              <a:t> </a:t>
            </a:r>
            <a:r>
              <a:rPr spc="-40" dirty="0"/>
              <a:t>the</a:t>
            </a:r>
            <a:r>
              <a:rPr spc="20" dirty="0"/>
              <a:t> </a:t>
            </a:r>
            <a:r>
              <a:rPr spc="-50" dirty="0"/>
              <a:t>problem </a:t>
            </a:r>
            <a:r>
              <a:rPr spc="-330" dirty="0"/>
              <a:t> </a:t>
            </a:r>
            <a:r>
              <a:rPr spc="-40" dirty="0"/>
              <a:t>prior</a:t>
            </a:r>
            <a:r>
              <a:rPr spc="15" dirty="0"/>
              <a:t> </a:t>
            </a:r>
            <a:r>
              <a:rPr spc="-40" dirty="0"/>
              <a:t>solving</a:t>
            </a:r>
            <a:r>
              <a:rPr spc="15" dirty="0"/>
              <a:t> </a:t>
            </a:r>
            <a:r>
              <a:rPr dirty="0"/>
              <a:t>it.</a:t>
            </a:r>
          </a:p>
          <a:p>
            <a:pPr marL="288290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The</a:t>
            </a:r>
            <a:r>
              <a:rPr spc="10" dirty="0"/>
              <a:t> </a:t>
            </a:r>
            <a:r>
              <a:rPr spc="-50" dirty="0"/>
              <a:t>solver</a:t>
            </a:r>
            <a:r>
              <a:rPr spc="15" dirty="0"/>
              <a:t> </a:t>
            </a:r>
            <a:r>
              <a:rPr spc="-75" dirty="0"/>
              <a:t>needs</a:t>
            </a:r>
            <a:r>
              <a:rPr spc="15" dirty="0"/>
              <a:t> </a:t>
            </a:r>
            <a:r>
              <a:rPr spc="-15" dirty="0"/>
              <a:t>to</a:t>
            </a:r>
            <a:r>
              <a:rPr spc="10" dirty="0"/>
              <a:t> </a:t>
            </a:r>
            <a:r>
              <a:rPr spc="-25" dirty="0"/>
              <a:t>justify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0" dirty="0"/>
              <a:t> </a:t>
            </a:r>
            <a:r>
              <a:rPr spc="-30" dirty="0"/>
              <a:t>solution.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5986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989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799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8996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9999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31002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692133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9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529" y="667491"/>
            <a:ext cx="2779186" cy="348101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6403">
              <a:spcBef>
                <a:spcPts val="53"/>
              </a:spcBef>
            </a:pPr>
            <a:r>
              <a:rPr sz="2218" b="1" spc="-3" dirty="0">
                <a:solidFill>
                  <a:schemeClr val="accent1"/>
                </a:solidFill>
                <a:latin typeface="Calibri"/>
                <a:cs typeface="Calibri"/>
              </a:rPr>
              <a:t>Difficulty</a:t>
            </a:r>
            <a:r>
              <a:rPr sz="2218" b="1" spc="-28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18" b="1" dirty="0">
                <a:solidFill>
                  <a:schemeClr val="accent1"/>
                </a:solidFill>
                <a:latin typeface="Calibri"/>
                <a:cs typeface="Calibri"/>
              </a:rPr>
              <a:t>&amp;</a:t>
            </a:r>
            <a:r>
              <a:rPr sz="2218" b="1" spc="-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18" b="1" spc="-5" dirty="0">
                <a:solidFill>
                  <a:schemeClr val="accent1"/>
                </a:solidFill>
                <a:latin typeface="Calibri"/>
                <a:cs typeface="Calibri"/>
              </a:rPr>
              <a:t>Uncertainty</a:t>
            </a:r>
            <a:endParaRPr sz="2218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250" y="1120775"/>
            <a:ext cx="3719774" cy="1846844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179294" marR="2561" indent="-172890">
              <a:spcBef>
                <a:spcPts val="53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613" b="1" spc="-5" dirty="0">
                <a:solidFill>
                  <a:srgbClr val="FF0000"/>
                </a:solidFill>
                <a:latin typeface="Calibri"/>
                <a:cs typeface="Calibri"/>
              </a:rPr>
              <a:t>Complexity</a:t>
            </a:r>
            <a:r>
              <a:rPr sz="1613" b="1" spc="-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–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the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5" dirty="0">
                <a:latin typeface="Calibri"/>
                <a:cs typeface="Calibri"/>
              </a:rPr>
              <a:t>problem</a:t>
            </a:r>
            <a:r>
              <a:rPr sz="1613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contains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a</a:t>
            </a:r>
            <a:r>
              <a:rPr sz="1613" spc="5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large </a:t>
            </a:r>
            <a:r>
              <a:rPr sz="1613" spc="-355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number</a:t>
            </a:r>
            <a:r>
              <a:rPr sz="1613" spc="5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of </a:t>
            </a:r>
            <a:r>
              <a:rPr sz="1613" spc="-8" dirty="0">
                <a:latin typeface="Calibri"/>
                <a:cs typeface="Calibri"/>
              </a:rPr>
              <a:t>diverse,</a:t>
            </a:r>
            <a:r>
              <a:rPr sz="1613" spc="-3" dirty="0">
                <a:latin typeface="Calibri"/>
                <a:cs typeface="Calibri"/>
              </a:rPr>
              <a:t> dynamic</a:t>
            </a:r>
            <a:r>
              <a:rPr sz="1613" spc="13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and 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interdependent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elements</a:t>
            </a:r>
            <a:endParaRPr sz="1613" dirty="0">
              <a:latin typeface="Calibri"/>
              <a:cs typeface="Calibri"/>
            </a:endParaRPr>
          </a:p>
          <a:p>
            <a:pPr marL="179294" marR="54108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613" b="1" spc="-5" dirty="0">
                <a:solidFill>
                  <a:srgbClr val="FF0000"/>
                </a:solidFill>
                <a:latin typeface="Calibri"/>
                <a:cs typeface="Calibri"/>
              </a:rPr>
              <a:t>Measurement</a:t>
            </a:r>
            <a:r>
              <a:rPr sz="1613" b="1" spc="-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–</a:t>
            </a:r>
            <a:r>
              <a:rPr sz="1613" spc="-5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it is</a:t>
            </a:r>
            <a:r>
              <a:rPr sz="1613" spc="-8" dirty="0">
                <a:latin typeface="Calibri"/>
                <a:cs typeface="Calibri"/>
              </a:rPr>
              <a:t> </a:t>
            </a:r>
            <a:r>
              <a:rPr sz="1613" spc="-5" dirty="0">
                <a:latin typeface="Calibri"/>
                <a:cs typeface="Calibri"/>
              </a:rPr>
              <a:t>difficult</a:t>
            </a:r>
            <a:r>
              <a:rPr sz="1613" spc="13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or</a:t>
            </a:r>
            <a:r>
              <a:rPr sz="1613" spc="-5" dirty="0">
                <a:latin typeface="Calibri"/>
                <a:cs typeface="Calibri"/>
              </a:rPr>
              <a:t> practically </a:t>
            </a:r>
            <a:r>
              <a:rPr sz="1613" spc="-355" dirty="0">
                <a:latin typeface="Calibri"/>
                <a:cs typeface="Calibri"/>
              </a:rPr>
              <a:t> </a:t>
            </a:r>
            <a:r>
              <a:rPr lang="en-GB" sz="1613" spc="-8" dirty="0">
                <a:latin typeface="Calibri"/>
                <a:cs typeface="Calibri"/>
              </a:rPr>
              <a:t>in</a:t>
            </a:r>
            <a:r>
              <a:rPr sz="1613" spc="-8" dirty="0">
                <a:latin typeface="Calibri"/>
                <a:cs typeface="Calibri"/>
              </a:rPr>
              <a:t>feasible</a:t>
            </a:r>
            <a:r>
              <a:rPr sz="1613" spc="10" dirty="0">
                <a:latin typeface="Calibri"/>
                <a:cs typeface="Calibri"/>
              </a:rPr>
              <a:t> </a:t>
            </a:r>
            <a:r>
              <a:rPr sz="1613" spc="-13" dirty="0">
                <a:latin typeface="Calibri"/>
                <a:cs typeface="Calibri"/>
              </a:rPr>
              <a:t>to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get</a:t>
            </a:r>
            <a:r>
              <a:rPr sz="1613" dirty="0">
                <a:latin typeface="Calibri"/>
                <a:cs typeface="Calibri"/>
              </a:rPr>
              <a:t> </a:t>
            </a:r>
            <a:r>
              <a:rPr sz="1613" spc="-5" dirty="0">
                <a:latin typeface="Calibri"/>
                <a:cs typeface="Calibri"/>
              </a:rPr>
              <a:t>good </a:t>
            </a:r>
            <a:r>
              <a:rPr sz="1613" spc="-8" dirty="0">
                <a:latin typeface="Calibri"/>
                <a:cs typeface="Calibri"/>
              </a:rPr>
              <a:t>qualitative</a:t>
            </a:r>
            <a:r>
              <a:rPr sz="1613" spc="23" dirty="0">
                <a:latin typeface="Calibri"/>
                <a:cs typeface="Calibri"/>
              </a:rPr>
              <a:t> </a:t>
            </a:r>
            <a:r>
              <a:rPr sz="1613" spc="-10" dirty="0">
                <a:latin typeface="Calibri"/>
                <a:cs typeface="Calibri"/>
              </a:rPr>
              <a:t>data</a:t>
            </a:r>
            <a:endParaRPr sz="1613" dirty="0">
              <a:latin typeface="Calibri"/>
              <a:cs typeface="Calibri"/>
            </a:endParaRPr>
          </a:p>
          <a:p>
            <a:pPr marL="179294" marR="50266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613" b="1" spc="-3" dirty="0">
                <a:solidFill>
                  <a:srgbClr val="FF0000"/>
                </a:solidFill>
                <a:latin typeface="Calibri"/>
                <a:cs typeface="Calibri"/>
              </a:rPr>
              <a:t>Novelty </a:t>
            </a:r>
            <a:r>
              <a:rPr sz="1613" dirty="0">
                <a:latin typeface="Calibri"/>
                <a:cs typeface="Calibri"/>
              </a:rPr>
              <a:t>– </a:t>
            </a:r>
            <a:r>
              <a:rPr sz="1613" spc="-5" dirty="0">
                <a:latin typeface="Calibri"/>
                <a:cs typeface="Calibri"/>
              </a:rPr>
              <a:t>there </a:t>
            </a:r>
            <a:r>
              <a:rPr sz="1613" dirty="0">
                <a:latin typeface="Calibri"/>
                <a:cs typeface="Calibri"/>
              </a:rPr>
              <a:t>is a </a:t>
            </a:r>
            <a:r>
              <a:rPr sz="1613" spc="-3" dirty="0">
                <a:latin typeface="Calibri"/>
                <a:cs typeface="Calibri"/>
              </a:rPr>
              <a:t>new solution </a:t>
            </a:r>
            <a:r>
              <a:rPr sz="1613" spc="-5" dirty="0">
                <a:latin typeface="Calibri"/>
                <a:cs typeface="Calibri"/>
              </a:rPr>
              <a:t>evolving </a:t>
            </a:r>
            <a:r>
              <a:rPr sz="1613" spc="-358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or</a:t>
            </a:r>
            <a:r>
              <a:rPr sz="1613" spc="-5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an </a:t>
            </a:r>
            <a:r>
              <a:rPr sz="1613" spc="-8" dirty="0">
                <a:latin typeface="Calibri"/>
                <a:cs typeface="Calibri"/>
              </a:rPr>
              <a:t>innovative</a:t>
            </a:r>
            <a:r>
              <a:rPr sz="1613" spc="8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design</a:t>
            </a:r>
            <a:r>
              <a:rPr sz="1613" dirty="0">
                <a:latin typeface="Calibri"/>
                <a:cs typeface="Calibri"/>
              </a:rPr>
              <a:t> is</a:t>
            </a:r>
            <a:r>
              <a:rPr sz="1613" spc="-3" dirty="0">
                <a:latin typeface="Calibri"/>
                <a:cs typeface="Calibri"/>
              </a:rPr>
              <a:t> needed</a:t>
            </a:r>
            <a:endParaRPr sz="1613" dirty="0">
              <a:latin typeface="Calibri"/>
              <a:cs typeface="Calibri"/>
            </a:endParaRP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BD910E79-1BAC-33DB-1BC7-BCBEAD08D39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7CE46AF5-2B4B-1D1F-F136-826E339A347F}"/>
              </a:ext>
            </a:extLst>
          </p:cNvPr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10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96501" y="96863"/>
            <a:ext cx="671026" cy="527280"/>
            <a:chOff x="3364961" y="188976"/>
            <a:chExt cx="1330960" cy="104584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4961" y="251343"/>
              <a:ext cx="1330513" cy="8871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3572" y="188976"/>
              <a:ext cx="1229868" cy="10454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98520" y="262128"/>
              <a:ext cx="1268095" cy="824865"/>
            </a:xfrm>
            <a:custGeom>
              <a:avLst/>
              <a:gdLst/>
              <a:ahLst/>
              <a:cxnLst/>
              <a:rect l="l" t="t" r="r" b="b"/>
              <a:pathLst>
                <a:path w="1268095" h="824865">
                  <a:moveTo>
                    <a:pt x="1130553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4"/>
                  </a:lnTo>
                  <a:lnTo>
                    <a:pt x="1130553" y="824484"/>
                  </a:lnTo>
                  <a:lnTo>
                    <a:pt x="1174008" y="817483"/>
                  </a:lnTo>
                  <a:lnTo>
                    <a:pt x="1211732" y="797986"/>
                  </a:lnTo>
                  <a:lnTo>
                    <a:pt x="1241470" y="768248"/>
                  </a:lnTo>
                  <a:lnTo>
                    <a:pt x="1260967" y="730524"/>
                  </a:lnTo>
                  <a:lnTo>
                    <a:pt x="1267967" y="687070"/>
                  </a:lnTo>
                  <a:lnTo>
                    <a:pt x="1267967" y="137413"/>
                  </a:lnTo>
                  <a:lnTo>
                    <a:pt x="1260967" y="93959"/>
                  </a:lnTo>
                  <a:lnTo>
                    <a:pt x="1241470" y="56235"/>
                  </a:lnTo>
                  <a:lnTo>
                    <a:pt x="1211732" y="26497"/>
                  </a:lnTo>
                  <a:lnTo>
                    <a:pt x="1174008" y="7000"/>
                  </a:lnTo>
                  <a:lnTo>
                    <a:pt x="113055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01077" y="122897"/>
            <a:ext cx="463571" cy="415760"/>
          </a:xfrm>
          <a:prstGeom prst="rect">
            <a:avLst/>
          </a:prstGeom>
        </p:spPr>
        <p:txBody>
          <a:bodyPr vert="horz" wrap="square" lIns="0" tIns="16007" rIns="0" bIns="0" rtlCol="0">
            <a:spAutoFit/>
          </a:bodyPr>
          <a:lstStyle/>
          <a:p>
            <a:pPr marL="6083" marR="2561" indent="961" algn="ctr">
              <a:lnSpc>
                <a:spcPct val="91500"/>
              </a:lnSpc>
              <a:spcBef>
                <a:spcPts val="126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Limited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Expla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tion, 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Prediction,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54961" y="376446"/>
            <a:ext cx="1037593" cy="626525"/>
            <a:chOff x="4670996" y="743521"/>
            <a:chExt cx="2058035" cy="1242695"/>
          </a:xfrm>
        </p:grpSpPr>
        <p:sp>
          <p:nvSpPr>
            <p:cNvPr id="8" name="object 8"/>
            <p:cNvSpPr/>
            <p:nvPr/>
          </p:nvSpPr>
          <p:spPr>
            <a:xfrm>
              <a:off x="4675759" y="748283"/>
              <a:ext cx="852169" cy="348615"/>
            </a:xfrm>
            <a:custGeom>
              <a:avLst/>
              <a:gdLst/>
              <a:ahLst/>
              <a:cxnLst/>
              <a:rect l="l" t="t" r="r" b="b"/>
              <a:pathLst>
                <a:path w="852170" h="348615">
                  <a:moveTo>
                    <a:pt x="0" y="0"/>
                  </a:moveTo>
                  <a:lnTo>
                    <a:pt x="50019" y="12003"/>
                  </a:lnTo>
                  <a:lnTo>
                    <a:pt x="99783" y="24895"/>
                  </a:lnTo>
                  <a:lnTo>
                    <a:pt x="149279" y="38671"/>
                  </a:lnTo>
                  <a:lnTo>
                    <a:pt x="198495" y="53327"/>
                  </a:lnTo>
                  <a:lnTo>
                    <a:pt x="247422" y="68858"/>
                  </a:lnTo>
                  <a:lnTo>
                    <a:pt x="296046" y="85259"/>
                  </a:lnTo>
                  <a:lnTo>
                    <a:pt x="344357" y="102525"/>
                  </a:lnTo>
                  <a:lnTo>
                    <a:pt x="392342" y="120653"/>
                  </a:lnTo>
                  <a:lnTo>
                    <a:pt x="439991" y="139636"/>
                  </a:lnTo>
                  <a:lnTo>
                    <a:pt x="487292" y="159471"/>
                  </a:lnTo>
                  <a:lnTo>
                    <a:pt x="534233" y="180152"/>
                  </a:lnTo>
                  <a:lnTo>
                    <a:pt x="580803" y="201675"/>
                  </a:lnTo>
                  <a:lnTo>
                    <a:pt x="626991" y="224036"/>
                  </a:lnTo>
                  <a:lnTo>
                    <a:pt x="672785" y="247229"/>
                  </a:lnTo>
                  <a:lnTo>
                    <a:pt x="718173" y="271250"/>
                  </a:lnTo>
                  <a:lnTo>
                    <a:pt x="763144" y="296095"/>
                  </a:lnTo>
                  <a:lnTo>
                    <a:pt x="807686" y="321757"/>
                  </a:lnTo>
                  <a:lnTo>
                    <a:pt x="851788" y="348233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9720" y="1080490"/>
              <a:ext cx="1348740" cy="9052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9824" y="1124686"/>
              <a:ext cx="1245120" cy="85041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22392" y="1100327"/>
              <a:ext cx="1268095" cy="824865"/>
            </a:xfrm>
            <a:custGeom>
              <a:avLst/>
              <a:gdLst/>
              <a:ahLst/>
              <a:cxnLst/>
              <a:rect l="l" t="t" r="r" b="b"/>
              <a:pathLst>
                <a:path w="1268095" h="824864">
                  <a:moveTo>
                    <a:pt x="1130554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4"/>
                  </a:lnTo>
                  <a:lnTo>
                    <a:pt x="1130554" y="824484"/>
                  </a:lnTo>
                  <a:lnTo>
                    <a:pt x="1174008" y="817483"/>
                  </a:lnTo>
                  <a:lnTo>
                    <a:pt x="1211732" y="797986"/>
                  </a:lnTo>
                  <a:lnTo>
                    <a:pt x="1241470" y="768248"/>
                  </a:lnTo>
                  <a:lnTo>
                    <a:pt x="1260967" y="730524"/>
                  </a:lnTo>
                  <a:lnTo>
                    <a:pt x="1267967" y="687070"/>
                  </a:lnTo>
                  <a:lnTo>
                    <a:pt x="1267967" y="137413"/>
                  </a:lnTo>
                  <a:lnTo>
                    <a:pt x="1260967" y="93959"/>
                  </a:lnTo>
                  <a:lnTo>
                    <a:pt x="1241470" y="56235"/>
                  </a:lnTo>
                  <a:lnTo>
                    <a:pt x="1211732" y="26497"/>
                  </a:lnTo>
                  <a:lnTo>
                    <a:pt x="1174008" y="7000"/>
                  </a:lnTo>
                  <a:lnTo>
                    <a:pt x="113055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17924" y="595137"/>
            <a:ext cx="471575" cy="325233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6403" marR="2561" algn="ctr">
              <a:lnSpc>
                <a:spcPts val="776"/>
              </a:lnSpc>
              <a:spcBef>
                <a:spcPts val="136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sz="706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706" spc="-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an </a:t>
            </a:r>
            <a:r>
              <a:rPr sz="706" spc="-1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educated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guest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34868" y="975311"/>
            <a:ext cx="679990" cy="1047837"/>
            <a:chOff x="6217920" y="1931352"/>
            <a:chExt cx="1348740" cy="2078355"/>
          </a:xfrm>
        </p:grpSpPr>
        <p:sp>
          <p:nvSpPr>
            <p:cNvPr id="14" name="object 14"/>
            <p:cNvSpPr/>
            <p:nvPr/>
          </p:nvSpPr>
          <p:spPr>
            <a:xfrm>
              <a:off x="6405118" y="1936114"/>
              <a:ext cx="458470" cy="1176655"/>
            </a:xfrm>
            <a:custGeom>
              <a:avLst/>
              <a:gdLst/>
              <a:ahLst/>
              <a:cxnLst/>
              <a:rect l="l" t="t" r="r" b="b"/>
              <a:pathLst>
                <a:path w="458470" h="1176655">
                  <a:moveTo>
                    <a:pt x="0" y="0"/>
                  </a:moveTo>
                  <a:lnTo>
                    <a:pt x="28211" y="42614"/>
                  </a:lnTo>
                  <a:lnTo>
                    <a:pt x="55632" y="85686"/>
                  </a:lnTo>
                  <a:lnTo>
                    <a:pt x="82258" y="129203"/>
                  </a:lnTo>
                  <a:lnTo>
                    <a:pt x="108084" y="173154"/>
                  </a:lnTo>
                  <a:lnTo>
                    <a:pt x="133107" y="217529"/>
                  </a:lnTo>
                  <a:lnTo>
                    <a:pt x="157321" y="262316"/>
                  </a:lnTo>
                  <a:lnTo>
                    <a:pt x="180723" y="307503"/>
                  </a:lnTo>
                  <a:lnTo>
                    <a:pt x="203309" y="353079"/>
                  </a:lnTo>
                  <a:lnTo>
                    <a:pt x="225073" y="399034"/>
                  </a:lnTo>
                  <a:lnTo>
                    <a:pt x="246012" y="445355"/>
                  </a:lnTo>
                  <a:lnTo>
                    <a:pt x="266121" y="492032"/>
                  </a:lnTo>
                  <a:lnTo>
                    <a:pt x="285396" y="539053"/>
                  </a:lnTo>
                  <a:lnTo>
                    <a:pt x="303832" y="586407"/>
                  </a:lnTo>
                  <a:lnTo>
                    <a:pt x="321426" y="634083"/>
                  </a:lnTo>
                  <a:lnTo>
                    <a:pt x="338172" y="682069"/>
                  </a:lnTo>
                  <a:lnTo>
                    <a:pt x="354067" y="730354"/>
                  </a:lnTo>
                  <a:lnTo>
                    <a:pt x="369106" y="778927"/>
                  </a:lnTo>
                  <a:lnTo>
                    <a:pt x="383285" y="827777"/>
                  </a:lnTo>
                  <a:lnTo>
                    <a:pt x="396600" y="876893"/>
                  </a:lnTo>
                  <a:lnTo>
                    <a:pt x="409045" y="926262"/>
                  </a:lnTo>
                  <a:lnTo>
                    <a:pt x="420618" y="975875"/>
                  </a:lnTo>
                  <a:lnTo>
                    <a:pt x="431312" y="1025719"/>
                  </a:lnTo>
                  <a:lnTo>
                    <a:pt x="441125" y="1075783"/>
                  </a:lnTo>
                  <a:lnTo>
                    <a:pt x="450052" y="1126056"/>
                  </a:lnTo>
                  <a:lnTo>
                    <a:pt x="458088" y="1176527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7920" y="3105924"/>
              <a:ext cx="1348740" cy="9037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01028" y="3343643"/>
              <a:ext cx="379475" cy="46026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60592" y="3125723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60">
                  <a:moveTo>
                    <a:pt x="1130808" y="0"/>
                  </a:moveTo>
                  <a:lnTo>
                    <a:pt x="137160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60" y="822959"/>
                  </a:lnTo>
                  <a:lnTo>
                    <a:pt x="1130808" y="822959"/>
                  </a:lnTo>
                  <a:lnTo>
                    <a:pt x="1174138" y="815961"/>
                  </a:lnTo>
                  <a:lnTo>
                    <a:pt x="1211787" y="796478"/>
                  </a:lnTo>
                  <a:lnTo>
                    <a:pt x="1241486" y="766779"/>
                  </a:lnTo>
                  <a:lnTo>
                    <a:pt x="1260969" y="729130"/>
                  </a:lnTo>
                  <a:lnTo>
                    <a:pt x="1267967" y="685800"/>
                  </a:lnTo>
                  <a:lnTo>
                    <a:pt x="1267967" y="137160"/>
                  </a:lnTo>
                  <a:lnTo>
                    <a:pt x="1260969" y="93829"/>
                  </a:lnTo>
                  <a:lnTo>
                    <a:pt x="1241486" y="56180"/>
                  </a:lnTo>
                  <a:lnTo>
                    <a:pt x="1211787" y="26481"/>
                  </a:lnTo>
                  <a:lnTo>
                    <a:pt x="1174138" y="6998"/>
                  </a:lnTo>
                  <a:lnTo>
                    <a:pt x="113080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48867" y="1714111"/>
            <a:ext cx="54745" cy="115408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6403">
              <a:spcBef>
                <a:spcPts val="53"/>
              </a:spcBef>
            </a:pP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84223" y="1996000"/>
            <a:ext cx="1778730" cy="1463387"/>
            <a:chOff x="3340608" y="3955859"/>
            <a:chExt cx="3528060" cy="2902585"/>
          </a:xfrm>
        </p:grpSpPr>
        <p:sp>
          <p:nvSpPr>
            <p:cNvPr id="20" name="object 20"/>
            <p:cNvSpPr/>
            <p:nvPr/>
          </p:nvSpPr>
          <p:spPr>
            <a:xfrm>
              <a:off x="6490716" y="3960621"/>
              <a:ext cx="372745" cy="1043305"/>
            </a:xfrm>
            <a:custGeom>
              <a:avLst/>
              <a:gdLst/>
              <a:ahLst/>
              <a:cxnLst/>
              <a:rect l="l" t="t" r="r" b="b"/>
              <a:pathLst>
                <a:path w="372745" h="1043304">
                  <a:moveTo>
                    <a:pt x="372744" y="0"/>
                  </a:moveTo>
                  <a:lnTo>
                    <a:pt x="364786" y="50183"/>
                  </a:lnTo>
                  <a:lnTo>
                    <a:pt x="355945" y="100178"/>
                  </a:lnTo>
                  <a:lnTo>
                    <a:pt x="346226" y="149973"/>
                  </a:lnTo>
                  <a:lnTo>
                    <a:pt x="335632" y="199556"/>
                  </a:lnTo>
                  <a:lnTo>
                    <a:pt x="324168" y="248917"/>
                  </a:lnTo>
                  <a:lnTo>
                    <a:pt x="311837" y="298043"/>
                  </a:lnTo>
                  <a:lnTo>
                    <a:pt x="298645" y="346925"/>
                  </a:lnTo>
                  <a:lnTo>
                    <a:pt x="284594" y="395551"/>
                  </a:lnTo>
                  <a:lnTo>
                    <a:pt x="269688" y="443910"/>
                  </a:lnTo>
                  <a:lnTo>
                    <a:pt x="253933" y="491990"/>
                  </a:lnTo>
                  <a:lnTo>
                    <a:pt x="237331" y="539781"/>
                  </a:lnTo>
                  <a:lnTo>
                    <a:pt x="219886" y="587271"/>
                  </a:lnTo>
                  <a:lnTo>
                    <a:pt x="201604" y="634450"/>
                  </a:lnTo>
                  <a:lnTo>
                    <a:pt x="182487" y="681305"/>
                  </a:lnTo>
                  <a:lnTo>
                    <a:pt x="162540" y="727826"/>
                  </a:lnTo>
                  <a:lnTo>
                    <a:pt x="141767" y="774001"/>
                  </a:lnTo>
                  <a:lnTo>
                    <a:pt x="120171" y="819821"/>
                  </a:lnTo>
                  <a:lnTo>
                    <a:pt x="97757" y="865272"/>
                  </a:lnTo>
                  <a:lnTo>
                    <a:pt x="74529" y="910345"/>
                  </a:lnTo>
                  <a:lnTo>
                    <a:pt x="50491" y="955027"/>
                  </a:lnTo>
                  <a:lnTo>
                    <a:pt x="25646" y="999308"/>
                  </a:lnTo>
                  <a:lnTo>
                    <a:pt x="0" y="1043177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9720" y="4992623"/>
              <a:ext cx="1348740" cy="11765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72684" y="4977383"/>
              <a:ext cx="1202436" cy="12420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422392" y="5012435"/>
              <a:ext cx="1268095" cy="1096010"/>
            </a:xfrm>
            <a:custGeom>
              <a:avLst/>
              <a:gdLst/>
              <a:ahLst/>
              <a:cxnLst/>
              <a:rect l="l" t="t" r="r" b="b"/>
              <a:pathLst>
                <a:path w="1268095" h="1096010">
                  <a:moveTo>
                    <a:pt x="1085341" y="0"/>
                  </a:moveTo>
                  <a:lnTo>
                    <a:pt x="182625" y="0"/>
                  </a:lnTo>
                  <a:lnTo>
                    <a:pt x="134084" y="6525"/>
                  </a:lnTo>
                  <a:lnTo>
                    <a:pt x="90461" y="24939"/>
                  </a:lnTo>
                  <a:lnTo>
                    <a:pt x="53498" y="53498"/>
                  </a:lnTo>
                  <a:lnTo>
                    <a:pt x="24939" y="90461"/>
                  </a:lnTo>
                  <a:lnTo>
                    <a:pt x="6525" y="134084"/>
                  </a:lnTo>
                  <a:lnTo>
                    <a:pt x="0" y="182625"/>
                  </a:lnTo>
                  <a:lnTo>
                    <a:pt x="0" y="913129"/>
                  </a:lnTo>
                  <a:lnTo>
                    <a:pt x="6525" y="961679"/>
                  </a:lnTo>
                  <a:lnTo>
                    <a:pt x="24939" y="1005305"/>
                  </a:lnTo>
                  <a:lnTo>
                    <a:pt x="53498" y="1042266"/>
                  </a:lnTo>
                  <a:lnTo>
                    <a:pt x="90461" y="1070822"/>
                  </a:lnTo>
                  <a:lnTo>
                    <a:pt x="134084" y="1089232"/>
                  </a:lnTo>
                  <a:lnTo>
                    <a:pt x="182625" y="1095756"/>
                  </a:lnTo>
                  <a:lnTo>
                    <a:pt x="1085341" y="1095756"/>
                  </a:lnTo>
                  <a:lnTo>
                    <a:pt x="1133883" y="1089232"/>
                  </a:lnTo>
                  <a:lnTo>
                    <a:pt x="1177506" y="1070822"/>
                  </a:lnTo>
                  <a:lnTo>
                    <a:pt x="1214469" y="1042266"/>
                  </a:lnTo>
                  <a:lnTo>
                    <a:pt x="1243028" y="1005305"/>
                  </a:lnTo>
                  <a:lnTo>
                    <a:pt x="1261442" y="961679"/>
                  </a:lnTo>
                  <a:lnTo>
                    <a:pt x="1267967" y="913129"/>
                  </a:lnTo>
                  <a:lnTo>
                    <a:pt x="1267967" y="182625"/>
                  </a:lnTo>
                  <a:lnTo>
                    <a:pt x="1261442" y="134084"/>
                  </a:lnTo>
                  <a:lnTo>
                    <a:pt x="1243028" y="90461"/>
                  </a:lnTo>
                  <a:lnTo>
                    <a:pt x="1214469" y="53498"/>
                  </a:lnTo>
                  <a:lnTo>
                    <a:pt x="1177506" y="24939"/>
                  </a:lnTo>
                  <a:lnTo>
                    <a:pt x="1133883" y="6525"/>
                  </a:lnTo>
                  <a:lnTo>
                    <a:pt x="108534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674489" y="6043358"/>
              <a:ext cx="741680" cy="283845"/>
            </a:xfrm>
            <a:custGeom>
              <a:avLst/>
              <a:gdLst/>
              <a:ahLst/>
              <a:cxnLst/>
              <a:rect l="l" t="t" r="r" b="b"/>
              <a:pathLst>
                <a:path w="741679" h="283845">
                  <a:moveTo>
                    <a:pt x="741172" y="0"/>
                  </a:moveTo>
                  <a:lnTo>
                    <a:pt x="697330" y="23689"/>
                  </a:lnTo>
                  <a:lnTo>
                    <a:pt x="653109" y="46600"/>
                  </a:lnTo>
                  <a:lnTo>
                    <a:pt x="608519" y="68729"/>
                  </a:lnTo>
                  <a:lnTo>
                    <a:pt x="563570" y="90072"/>
                  </a:lnTo>
                  <a:lnTo>
                    <a:pt x="518273" y="110625"/>
                  </a:lnTo>
                  <a:lnTo>
                    <a:pt x="472638" y="130383"/>
                  </a:lnTo>
                  <a:lnTo>
                    <a:pt x="426676" y="149344"/>
                  </a:lnTo>
                  <a:lnTo>
                    <a:pt x="380396" y="167501"/>
                  </a:lnTo>
                  <a:lnTo>
                    <a:pt x="333810" y="184853"/>
                  </a:lnTo>
                  <a:lnTo>
                    <a:pt x="286928" y="201393"/>
                  </a:lnTo>
                  <a:lnTo>
                    <a:pt x="239760" y="217119"/>
                  </a:lnTo>
                  <a:lnTo>
                    <a:pt x="192317" y="232027"/>
                  </a:lnTo>
                  <a:lnTo>
                    <a:pt x="144609" y="246111"/>
                  </a:lnTo>
                  <a:lnTo>
                    <a:pt x="96647" y="259369"/>
                  </a:lnTo>
                  <a:lnTo>
                    <a:pt x="48440" y="271796"/>
                  </a:lnTo>
                  <a:lnTo>
                    <a:pt x="0" y="283387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55848" y="5967979"/>
              <a:ext cx="1348739" cy="8900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40608" y="6010653"/>
              <a:ext cx="1417319" cy="8473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98520" y="5987795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59">
                  <a:moveTo>
                    <a:pt x="1130807" y="0"/>
                  </a:moveTo>
                  <a:lnTo>
                    <a:pt x="137159" y="0"/>
                  </a:lnTo>
                  <a:lnTo>
                    <a:pt x="93829" y="6992"/>
                  </a:lnTo>
                  <a:lnTo>
                    <a:pt x="56180" y="26462"/>
                  </a:lnTo>
                  <a:lnTo>
                    <a:pt x="26481" y="56153"/>
                  </a:lnTo>
                  <a:lnTo>
                    <a:pt x="6998" y="93805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52"/>
                  </a:lnTo>
                  <a:lnTo>
                    <a:pt x="26481" y="766804"/>
                  </a:lnTo>
                  <a:lnTo>
                    <a:pt x="56180" y="796495"/>
                  </a:lnTo>
                  <a:lnTo>
                    <a:pt x="93829" y="815967"/>
                  </a:lnTo>
                  <a:lnTo>
                    <a:pt x="137159" y="822959"/>
                  </a:lnTo>
                  <a:lnTo>
                    <a:pt x="1130807" y="822959"/>
                  </a:lnTo>
                  <a:lnTo>
                    <a:pt x="1174138" y="815967"/>
                  </a:lnTo>
                  <a:lnTo>
                    <a:pt x="1211787" y="796495"/>
                  </a:lnTo>
                  <a:lnTo>
                    <a:pt x="1241486" y="766804"/>
                  </a:lnTo>
                  <a:lnTo>
                    <a:pt x="1260969" y="729152"/>
                  </a:lnTo>
                  <a:lnTo>
                    <a:pt x="1267967" y="685799"/>
                  </a:lnTo>
                  <a:lnTo>
                    <a:pt x="1267967" y="137159"/>
                  </a:lnTo>
                  <a:lnTo>
                    <a:pt x="1260969" y="93805"/>
                  </a:lnTo>
                  <a:lnTo>
                    <a:pt x="1241486" y="56153"/>
                  </a:lnTo>
                  <a:lnTo>
                    <a:pt x="1211787" y="26462"/>
                  </a:lnTo>
                  <a:lnTo>
                    <a:pt x="1174138" y="6992"/>
                  </a:lnTo>
                  <a:lnTo>
                    <a:pt x="113080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754207" y="3059057"/>
            <a:ext cx="558334" cy="325233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6403" marR="2561" algn="ctr">
              <a:lnSpc>
                <a:spcPts val="776"/>
              </a:lnSpc>
              <a:spcBef>
                <a:spcPts val="136"/>
              </a:spcBef>
            </a:pP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706" spc="-2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706" spc="-1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scare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resources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71537" y="2587854"/>
            <a:ext cx="1039834" cy="606036"/>
            <a:chOff x="1331975" y="5129784"/>
            <a:chExt cx="2062480" cy="1202055"/>
          </a:xfrm>
        </p:grpSpPr>
        <p:sp>
          <p:nvSpPr>
            <p:cNvPr id="30" name="object 30"/>
            <p:cNvSpPr/>
            <p:nvPr/>
          </p:nvSpPr>
          <p:spPr>
            <a:xfrm>
              <a:off x="2537840" y="5978233"/>
              <a:ext cx="852169" cy="348615"/>
            </a:xfrm>
            <a:custGeom>
              <a:avLst/>
              <a:gdLst/>
              <a:ahLst/>
              <a:cxnLst/>
              <a:rect l="l" t="t" r="r" b="b"/>
              <a:pathLst>
                <a:path w="852170" h="348614">
                  <a:moveTo>
                    <a:pt x="851788" y="348221"/>
                  </a:moveTo>
                  <a:lnTo>
                    <a:pt x="801769" y="336214"/>
                  </a:lnTo>
                  <a:lnTo>
                    <a:pt x="752005" y="323319"/>
                  </a:lnTo>
                  <a:lnTo>
                    <a:pt x="702509" y="309540"/>
                  </a:lnTo>
                  <a:lnTo>
                    <a:pt x="653293" y="294882"/>
                  </a:lnTo>
                  <a:lnTo>
                    <a:pt x="604366" y="279350"/>
                  </a:lnTo>
                  <a:lnTo>
                    <a:pt x="555742" y="262948"/>
                  </a:lnTo>
                  <a:lnTo>
                    <a:pt x="507431" y="245681"/>
                  </a:lnTo>
                  <a:lnTo>
                    <a:pt x="459446" y="227554"/>
                  </a:lnTo>
                  <a:lnTo>
                    <a:pt x="411797" y="208572"/>
                  </a:lnTo>
                  <a:lnTo>
                    <a:pt x="364496" y="188738"/>
                  </a:lnTo>
                  <a:lnTo>
                    <a:pt x="317555" y="168058"/>
                  </a:lnTo>
                  <a:lnTo>
                    <a:pt x="270985" y="146537"/>
                  </a:lnTo>
                  <a:lnTo>
                    <a:pt x="224797" y="124179"/>
                  </a:lnTo>
                  <a:lnTo>
                    <a:pt x="179003" y="100989"/>
                  </a:lnTo>
                  <a:lnTo>
                    <a:pt x="133615" y="76971"/>
                  </a:lnTo>
                  <a:lnTo>
                    <a:pt x="88644" y="52131"/>
                  </a:lnTo>
                  <a:lnTo>
                    <a:pt x="44102" y="26472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1975" y="5129784"/>
              <a:ext cx="1348739" cy="9037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6755" y="5269992"/>
              <a:ext cx="1095743" cy="65530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374647" y="5149596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60">
                  <a:moveTo>
                    <a:pt x="1130808" y="0"/>
                  </a:moveTo>
                  <a:lnTo>
                    <a:pt x="137160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54"/>
                  </a:lnTo>
                  <a:lnTo>
                    <a:pt x="26481" y="766806"/>
                  </a:lnTo>
                  <a:lnTo>
                    <a:pt x="56180" y="796497"/>
                  </a:lnTo>
                  <a:lnTo>
                    <a:pt x="93829" y="815967"/>
                  </a:lnTo>
                  <a:lnTo>
                    <a:pt x="137160" y="822959"/>
                  </a:lnTo>
                  <a:lnTo>
                    <a:pt x="1130808" y="822959"/>
                  </a:lnTo>
                  <a:lnTo>
                    <a:pt x="1174138" y="815967"/>
                  </a:lnTo>
                  <a:lnTo>
                    <a:pt x="1211787" y="796497"/>
                  </a:lnTo>
                  <a:lnTo>
                    <a:pt x="1241486" y="766806"/>
                  </a:lnTo>
                  <a:lnTo>
                    <a:pt x="1260969" y="729154"/>
                  </a:lnTo>
                  <a:lnTo>
                    <a:pt x="1267968" y="685799"/>
                  </a:lnTo>
                  <a:lnTo>
                    <a:pt x="1267968" y="137159"/>
                  </a:lnTo>
                  <a:lnTo>
                    <a:pt x="1260969" y="93829"/>
                  </a:lnTo>
                  <a:lnTo>
                    <a:pt x="1241486" y="56180"/>
                  </a:lnTo>
                  <a:lnTo>
                    <a:pt x="1211787" y="26481"/>
                  </a:lnTo>
                  <a:lnTo>
                    <a:pt x="1174138" y="6998"/>
                  </a:lnTo>
                  <a:lnTo>
                    <a:pt x="113080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14323" y="2685498"/>
            <a:ext cx="395380" cy="222641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40021" marR="2561" indent="-33938">
              <a:lnSpc>
                <a:spcPts val="776"/>
              </a:lnSpc>
              <a:spcBef>
                <a:spcPts val="136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cu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lt</a:t>
            </a:r>
            <a:r>
              <a:rPr sz="706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o 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48946" y="1567491"/>
            <a:ext cx="679349" cy="1027347"/>
            <a:chOff x="493776" y="3105924"/>
            <a:chExt cx="1347470" cy="2037714"/>
          </a:xfrm>
        </p:grpSpPr>
        <p:sp>
          <p:nvSpPr>
            <p:cNvPr id="36" name="object 36"/>
            <p:cNvSpPr/>
            <p:nvPr/>
          </p:nvSpPr>
          <p:spPr>
            <a:xfrm>
              <a:off x="1202131" y="3962146"/>
              <a:ext cx="458470" cy="1176655"/>
            </a:xfrm>
            <a:custGeom>
              <a:avLst/>
              <a:gdLst/>
              <a:ahLst/>
              <a:cxnLst/>
              <a:rect l="l" t="t" r="r" b="b"/>
              <a:pathLst>
                <a:path w="458469" h="1176654">
                  <a:moveTo>
                    <a:pt x="458139" y="1176401"/>
                  </a:moveTo>
                  <a:lnTo>
                    <a:pt x="429927" y="1133800"/>
                  </a:lnTo>
                  <a:lnTo>
                    <a:pt x="402506" y="1090742"/>
                  </a:lnTo>
                  <a:lnTo>
                    <a:pt x="375878" y="1047238"/>
                  </a:lnTo>
                  <a:lnTo>
                    <a:pt x="350050" y="1003297"/>
                  </a:lnTo>
                  <a:lnTo>
                    <a:pt x="325024" y="958933"/>
                  </a:lnTo>
                  <a:lnTo>
                    <a:pt x="300807" y="914156"/>
                  </a:lnTo>
                  <a:lnTo>
                    <a:pt x="277401" y="868977"/>
                  </a:lnTo>
                  <a:lnTo>
                    <a:pt x="254813" y="823408"/>
                  </a:lnTo>
                  <a:lnTo>
                    <a:pt x="233045" y="777460"/>
                  </a:lnTo>
                  <a:lnTo>
                    <a:pt x="212102" y="731145"/>
                  </a:lnTo>
                  <a:lnTo>
                    <a:pt x="191989" y="684473"/>
                  </a:lnTo>
                  <a:lnTo>
                    <a:pt x="172710" y="637456"/>
                  </a:lnTo>
                  <a:lnTo>
                    <a:pt x="154270" y="590106"/>
                  </a:lnTo>
                  <a:lnTo>
                    <a:pt x="136673" y="542434"/>
                  </a:lnTo>
                  <a:lnTo>
                    <a:pt x="119923" y="494450"/>
                  </a:lnTo>
                  <a:lnTo>
                    <a:pt x="104025" y="446167"/>
                  </a:lnTo>
                  <a:lnTo>
                    <a:pt x="88983" y="397595"/>
                  </a:lnTo>
                  <a:lnTo>
                    <a:pt x="74802" y="348747"/>
                  </a:lnTo>
                  <a:lnTo>
                    <a:pt x="61485" y="299632"/>
                  </a:lnTo>
                  <a:lnTo>
                    <a:pt x="49038" y="250264"/>
                  </a:lnTo>
                  <a:lnTo>
                    <a:pt x="37465" y="200652"/>
                  </a:lnTo>
                  <a:lnTo>
                    <a:pt x="26770" y="150808"/>
                  </a:lnTo>
                  <a:lnTo>
                    <a:pt x="16958" y="100744"/>
                  </a:lnTo>
                  <a:lnTo>
                    <a:pt x="8033" y="50471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776" y="3105924"/>
              <a:ext cx="1347216" cy="90371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6448" y="3246132"/>
              <a:ext cx="1261884" cy="65530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36448" y="3125724"/>
              <a:ext cx="1266825" cy="822960"/>
            </a:xfrm>
            <a:custGeom>
              <a:avLst/>
              <a:gdLst/>
              <a:ahLst/>
              <a:cxnLst/>
              <a:rect l="l" t="t" r="r" b="b"/>
              <a:pathLst>
                <a:path w="1266825" h="822960">
                  <a:moveTo>
                    <a:pt x="1129283" y="0"/>
                  </a:moveTo>
                  <a:lnTo>
                    <a:pt x="137159" y="0"/>
                  </a:lnTo>
                  <a:lnTo>
                    <a:pt x="93805" y="6998"/>
                  </a:lnTo>
                  <a:lnTo>
                    <a:pt x="56153" y="26481"/>
                  </a:lnTo>
                  <a:lnTo>
                    <a:pt x="26462" y="56180"/>
                  </a:lnTo>
                  <a:lnTo>
                    <a:pt x="6992" y="93829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6992" y="729130"/>
                  </a:lnTo>
                  <a:lnTo>
                    <a:pt x="26462" y="766779"/>
                  </a:lnTo>
                  <a:lnTo>
                    <a:pt x="56153" y="796478"/>
                  </a:lnTo>
                  <a:lnTo>
                    <a:pt x="93805" y="815961"/>
                  </a:lnTo>
                  <a:lnTo>
                    <a:pt x="137159" y="822959"/>
                  </a:lnTo>
                  <a:lnTo>
                    <a:pt x="1129283" y="822959"/>
                  </a:lnTo>
                  <a:lnTo>
                    <a:pt x="1172614" y="815961"/>
                  </a:lnTo>
                  <a:lnTo>
                    <a:pt x="1210263" y="796478"/>
                  </a:lnTo>
                  <a:lnTo>
                    <a:pt x="1239962" y="766779"/>
                  </a:lnTo>
                  <a:lnTo>
                    <a:pt x="1259445" y="729130"/>
                  </a:lnTo>
                  <a:lnTo>
                    <a:pt x="1266444" y="685800"/>
                  </a:lnTo>
                  <a:lnTo>
                    <a:pt x="1266444" y="137160"/>
                  </a:lnTo>
                  <a:lnTo>
                    <a:pt x="1259445" y="93829"/>
                  </a:lnTo>
                  <a:lnTo>
                    <a:pt x="1239962" y="56180"/>
                  </a:lnTo>
                  <a:lnTo>
                    <a:pt x="1210263" y="26481"/>
                  </a:lnTo>
                  <a:lnTo>
                    <a:pt x="1172614" y="6998"/>
                  </a:lnTo>
                  <a:lnTo>
                    <a:pt x="112928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40123" y="1664937"/>
            <a:ext cx="499107" cy="222641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6403" marR="2561" indent="84524">
              <a:lnSpc>
                <a:spcPts val="776"/>
              </a:lnSpc>
              <a:spcBef>
                <a:spcPts val="136"/>
              </a:spcBef>
            </a:pP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Complex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sa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l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Ch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03673" y="546334"/>
            <a:ext cx="747861" cy="1027028"/>
            <a:chOff x="1197368" y="1080490"/>
            <a:chExt cx="1483360" cy="2037080"/>
          </a:xfrm>
        </p:grpSpPr>
        <p:sp>
          <p:nvSpPr>
            <p:cNvPr id="42" name="object 42"/>
            <p:cNvSpPr/>
            <p:nvPr/>
          </p:nvSpPr>
          <p:spPr>
            <a:xfrm>
              <a:off x="1202131" y="1936115"/>
              <a:ext cx="458470" cy="1176655"/>
            </a:xfrm>
            <a:custGeom>
              <a:avLst/>
              <a:gdLst/>
              <a:ahLst/>
              <a:cxnLst/>
              <a:rect l="l" t="t" r="r" b="b"/>
              <a:pathLst>
                <a:path w="458469" h="1176655">
                  <a:moveTo>
                    <a:pt x="0" y="1176527"/>
                  </a:moveTo>
                  <a:lnTo>
                    <a:pt x="8033" y="1126056"/>
                  </a:lnTo>
                  <a:lnTo>
                    <a:pt x="16958" y="1075783"/>
                  </a:lnTo>
                  <a:lnTo>
                    <a:pt x="26770" y="1025719"/>
                  </a:lnTo>
                  <a:lnTo>
                    <a:pt x="37465" y="975875"/>
                  </a:lnTo>
                  <a:lnTo>
                    <a:pt x="49038" y="926262"/>
                  </a:lnTo>
                  <a:lnTo>
                    <a:pt x="61485" y="876893"/>
                  </a:lnTo>
                  <a:lnTo>
                    <a:pt x="74802" y="827777"/>
                  </a:lnTo>
                  <a:lnTo>
                    <a:pt x="88983" y="778927"/>
                  </a:lnTo>
                  <a:lnTo>
                    <a:pt x="104025" y="730354"/>
                  </a:lnTo>
                  <a:lnTo>
                    <a:pt x="119923" y="682069"/>
                  </a:lnTo>
                  <a:lnTo>
                    <a:pt x="136673" y="634083"/>
                  </a:lnTo>
                  <a:lnTo>
                    <a:pt x="154270" y="586407"/>
                  </a:lnTo>
                  <a:lnTo>
                    <a:pt x="172710" y="539053"/>
                  </a:lnTo>
                  <a:lnTo>
                    <a:pt x="191989" y="492032"/>
                  </a:lnTo>
                  <a:lnTo>
                    <a:pt x="212102" y="445355"/>
                  </a:lnTo>
                  <a:lnTo>
                    <a:pt x="233045" y="399034"/>
                  </a:lnTo>
                  <a:lnTo>
                    <a:pt x="254813" y="353079"/>
                  </a:lnTo>
                  <a:lnTo>
                    <a:pt x="277401" y="307503"/>
                  </a:lnTo>
                  <a:lnTo>
                    <a:pt x="300807" y="262316"/>
                  </a:lnTo>
                  <a:lnTo>
                    <a:pt x="325024" y="217529"/>
                  </a:lnTo>
                  <a:lnTo>
                    <a:pt x="350050" y="173154"/>
                  </a:lnTo>
                  <a:lnTo>
                    <a:pt x="375878" y="129203"/>
                  </a:lnTo>
                  <a:lnTo>
                    <a:pt x="402506" y="85686"/>
                  </a:lnTo>
                  <a:lnTo>
                    <a:pt x="429927" y="42614"/>
                  </a:lnTo>
                  <a:lnTo>
                    <a:pt x="458139" y="0"/>
                  </a:lnTo>
                </a:path>
              </a:pathLst>
            </a:custGeom>
            <a:ln w="9143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975" y="1080490"/>
              <a:ext cx="1348739" cy="90528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7319" y="1124686"/>
              <a:ext cx="1214615" cy="85041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374647" y="1100328"/>
              <a:ext cx="1268095" cy="824865"/>
            </a:xfrm>
            <a:custGeom>
              <a:avLst/>
              <a:gdLst/>
              <a:ahLst/>
              <a:cxnLst/>
              <a:rect l="l" t="t" r="r" b="b"/>
              <a:pathLst>
                <a:path w="1268095" h="824864">
                  <a:moveTo>
                    <a:pt x="1130554" y="0"/>
                  </a:moveTo>
                  <a:lnTo>
                    <a:pt x="137414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4" y="824484"/>
                  </a:lnTo>
                  <a:lnTo>
                    <a:pt x="1130554" y="824484"/>
                  </a:lnTo>
                  <a:lnTo>
                    <a:pt x="1174008" y="817483"/>
                  </a:lnTo>
                  <a:lnTo>
                    <a:pt x="1211732" y="797986"/>
                  </a:lnTo>
                  <a:lnTo>
                    <a:pt x="1241470" y="768248"/>
                  </a:lnTo>
                  <a:lnTo>
                    <a:pt x="1260967" y="730524"/>
                  </a:lnTo>
                  <a:lnTo>
                    <a:pt x="1267968" y="687070"/>
                  </a:lnTo>
                  <a:lnTo>
                    <a:pt x="1267968" y="137413"/>
                  </a:lnTo>
                  <a:lnTo>
                    <a:pt x="1260967" y="93959"/>
                  </a:lnTo>
                  <a:lnTo>
                    <a:pt x="1241470" y="56235"/>
                  </a:lnTo>
                  <a:lnTo>
                    <a:pt x="1211732" y="26497"/>
                  </a:lnTo>
                  <a:lnTo>
                    <a:pt x="1174008" y="7000"/>
                  </a:lnTo>
                  <a:lnTo>
                    <a:pt x="113055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84357" y="595137"/>
            <a:ext cx="455247" cy="325233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6403" marR="2561" indent="6083" algn="just">
              <a:lnSpc>
                <a:spcPts val="776"/>
              </a:lnSpc>
              <a:spcBef>
                <a:spcPts val="136"/>
              </a:spcBef>
            </a:pP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nb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ed 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706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No 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Experiment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77094" y="123742"/>
            <a:ext cx="1711820" cy="456528"/>
            <a:chOff x="2533078" y="242290"/>
            <a:chExt cx="3395345" cy="905510"/>
          </a:xfrm>
        </p:grpSpPr>
        <p:sp>
          <p:nvSpPr>
            <p:cNvPr id="48" name="object 48"/>
            <p:cNvSpPr/>
            <p:nvPr/>
          </p:nvSpPr>
          <p:spPr>
            <a:xfrm>
              <a:off x="2537841" y="748283"/>
              <a:ext cx="852169" cy="348615"/>
            </a:xfrm>
            <a:custGeom>
              <a:avLst/>
              <a:gdLst/>
              <a:ahLst/>
              <a:cxnLst/>
              <a:rect l="l" t="t" r="r" b="b"/>
              <a:pathLst>
                <a:path w="852170" h="348615">
                  <a:moveTo>
                    <a:pt x="0" y="348233"/>
                  </a:moveTo>
                  <a:lnTo>
                    <a:pt x="44102" y="321757"/>
                  </a:lnTo>
                  <a:lnTo>
                    <a:pt x="88644" y="296095"/>
                  </a:lnTo>
                  <a:lnTo>
                    <a:pt x="133615" y="271250"/>
                  </a:lnTo>
                  <a:lnTo>
                    <a:pt x="179003" y="247229"/>
                  </a:lnTo>
                  <a:lnTo>
                    <a:pt x="224797" y="224036"/>
                  </a:lnTo>
                  <a:lnTo>
                    <a:pt x="270985" y="201675"/>
                  </a:lnTo>
                  <a:lnTo>
                    <a:pt x="317555" y="180152"/>
                  </a:lnTo>
                  <a:lnTo>
                    <a:pt x="364496" y="159471"/>
                  </a:lnTo>
                  <a:lnTo>
                    <a:pt x="411797" y="139636"/>
                  </a:lnTo>
                  <a:lnTo>
                    <a:pt x="459446" y="120653"/>
                  </a:lnTo>
                  <a:lnTo>
                    <a:pt x="507431" y="102525"/>
                  </a:lnTo>
                  <a:lnTo>
                    <a:pt x="555742" y="85259"/>
                  </a:lnTo>
                  <a:lnTo>
                    <a:pt x="604366" y="68858"/>
                  </a:lnTo>
                  <a:lnTo>
                    <a:pt x="653293" y="53327"/>
                  </a:lnTo>
                  <a:lnTo>
                    <a:pt x="702509" y="38671"/>
                  </a:lnTo>
                  <a:lnTo>
                    <a:pt x="752005" y="24895"/>
                  </a:lnTo>
                  <a:lnTo>
                    <a:pt x="801769" y="12003"/>
                  </a:lnTo>
                  <a:lnTo>
                    <a:pt x="851788" y="0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9620" y="242290"/>
              <a:ext cx="1348739" cy="90528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57344" y="286486"/>
              <a:ext cx="1229868" cy="85041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622292" y="262127"/>
              <a:ext cx="1268095" cy="824865"/>
            </a:xfrm>
            <a:custGeom>
              <a:avLst/>
              <a:gdLst/>
              <a:ahLst/>
              <a:cxnLst/>
              <a:rect l="l" t="t" r="r" b="b"/>
              <a:pathLst>
                <a:path w="1268095" h="824865">
                  <a:moveTo>
                    <a:pt x="1130554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4"/>
                  </a:lnTo>
                  <a:lnTo>
                    <a:pt x="1130554" y="824484"/>
                  </a:lnTo>
                  <a:lnTo>
                    <a:pt x="1174008" y="817483"/>
                  </a:lnTo>
                  <a:lnTo>
                    <a:pt x="1211732" y="797986"/>
                  </a:lnTo>
                  <a:lnTo>
                    <a:pt x="1241470" y="768248"/>
                  </a:lnTo>
                  <a:lnTo>
                    <a:pt x="1260967" y="730524"/>
                  </a:lnTo>
                  <a:lnTo>
                    <a:pt x="1267968" y="687070"/>
                  </a:lnTo>
                  <a:lnTo>
                    <a:pt x="1267968" y="137413"/>
                  </a:lnTo>
                  <a:lnTo>
                    <a:pt x="1260967" y="93959"/>
                  </a:lnTo>
                  <a:lnTo>
                    <a:pt x="1241470" y="56235"/>
                  </a:lnTo>
                  <a:lnTo>
                    <a:pt x="1211732" y="26497"/>
                  </a:lnTo>
                  <a:lnTo>
                    <a:pt x="1174008" y="7000"/>
                  </a:lnTo>
                  <a:lnTo>
                    <a:pt x="11305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418382" y="172353"/>
            <a:ext cx="463571" cy="325233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6083" marR="2561" algn="ctr">
              <a:lnSpc>
                <a:spcPts val="776"/>
              </a:lnSpc>
              <a:spcBef>
                <a:spcPts val="136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Expla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tion, 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Prediction,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971946" y="376446"/>
            <a:ext cx="1037593" cy="626525"/>
            <a:chOff x="5894768" y="743521"/>
            <a:chExt cx="2058035" cy="1242695"/>
          </a:xfrm>
        </p:grpSpPr>
        <p:sp>
          <p:nvSpPr>
            <p:cNvPr id="54" name="object 54"/>
            <p:cNvSpPr/>
            <p:nvPr/>
          </p:nvSpPr>
          <p:spPr>
            <a:xfrm>
              <a:off x="5899530" y="748283"/>
              <a:ext cx="852169" cy="348615"/>
            </a:xfrm>
            <a:custGeom>
              <a:avLst/>
              <a:gdLst/>
              <a:ahLst/>
              <a:cxnLst/>
              <a:rect l="l" t="t" r="r" b="b"/>
              <a:pathLst>
                <a:path w="852170" h="348615">
                  <a:moveTo>
                    <a:pt x="0" y="0"/>
                  </a:moveTo>
                  <a:lnTo>
                    <a:pt x="50019" y="12003"/>
                  </a:lnTo>
                  <a:lnTo>
                    <a:pt x="99783" y="24895"/>
                  </a:lnTo>
                  <a:lnTo>
                    <a:pt x="149279" y="38671"/>
                  </a:lnTo>
                  <a:lnTo>
                    <a:pt x="198495" y="53327"/>
                  </a:lnTo>
                  <a:lnTo>
                    <a:pt x="247422" y="68858"/>
                  </a:lnTo>
                  <a:lnTo>
                    <a:pt x="296046" y="85259"/>
                  </a:lnTo>
                  <a:lnTo>
                    <a:pt x="344357" y="102525"/>
                  </a:lnTo>
                  <a:lnTo>
                    <a:pt x="392342" y="120653"/>
                  </a:lnTo>
                  <a:lnTo>
                    <a:pt x="439991" y="139636"/>
                  </a:lnTo>
                  <a:lnTo>
                    <a:pt x="487292" y="159471"/>
                  </a:lnTo>
                  <a:lnTo>
                    <a:pt x="534233" y="180152"/>
                  </a:lnTo>
                  <a:lnTo>
                    <a:pt x="580803" y="201675"/>
                  </a:lnTo>
                  <a:lnTo>
                    <a:pt x="626991" y="224036"/>
                  </a:lnTo>
                  <a:lnTo>
                    <a:pt x="672785" y="247229"/>
                  </a:lnTo>
                  <a:lnTo>
                    <a:pt x="718173" y="271250"/>
                  </a:lnTo>
                  <a:lnTo>
                    <a:pt x="763144" y="296095"/>
                  </a:lnTo>
                  <a:lnTo>
                    <a:pt x="807686" y="321757"/>
                  </a:lnTo>
                  <a:lnTo>
                    <a:pt x="851789" y="348233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3491" y="1080490"/>
              <a:ext cx="1348740" cy="90528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47687" y="1222260"/>
              <a:ext cx="1298448" cy="65530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646163" y="1100327"/>
              <a:ext cx="1268095" cy="824865"/>
            </a:xfrm>
            <a:custGeom>
              <a:avLst/>
              <a:gdLst/>
              <a:ahLst/>
              <a:cxnLst/>
              <a:rect l="l" t="t" r="r" b="b"/>
              <a:pathLst>
                <a:path w="1268095" h="824864">
                  <a:moveTo>
                    <a:pt x="1130553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4"/>
                  </a:lnTo>
                  <a:lnTo>
                    <a:pt x="1130553" y="824484"/>
                  </a:lnTo>
                  <a:lnTo>
                    <a:pt x="1174008" y="817483"/>
                  </a:lnTo>
                  <a:lnTo>
                    <a:pt x="1211732" y="797986"/>
                  </a:lnTo>
                  <a:lnTo>
                    <a:pt x="1241470" y="768248"/>
                  </a:lnTo>
                  <a:lnTo>
                    <a:pt x="1260967" y="730524"/>
                  </a:lnTo>
                  <a:lnTo>
                    <a:pt x="1267967" y="687070"/>
                  </a:lnTo>
                  <a:lnTo>
                    <a:pt x="1267967" y="137413"/>
                  </a:lnTo>
                  <a:lnTo>
                    <a:pt x="1260967" y="93959"/>
                  </a:lnTo>
                  <a:lnTo>
                    <a:pt x="1241470" y="56235"/>
                  </a:lnTo>
                  <a:lnTo>
                    <a:pt x="1211732" y="26497"/>
                  </a:lnTo>
                  <a:lnTo>
                    <a:pt x="1174008" y="7000"/>
                  </a:lnTo>
                  <a:lnTo>
                    <a:pt x="11305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422103" y="644312"/>
            <a:ext cx="497827" cy="211973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43223">
              <a:lnSpc>
                <a:spcPts val="812"/>
              </a:lnSpc>
              <a:spcBef>
                <a:spcPts val="53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sz="706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706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706">
              <a:latin typeface="Calibri"/>
              <a:cs typeface="Calibri"/>
            </a:endParaRPr>
          </a:p>
          <a:p>
            <a:pPr marL="6403">
              <a:lnSpc>
                <a:spcPts val="812"/>
              </a:lnSpc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Covering</a:t>
            </a:r>
            <a:r>
              <a:rPr sz="706" spc="-3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Law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51853" y="975311"/>
            <a:ext cx="679990" cy="1047837"/>
            <a:chOff x="7441692" y="1931352"/>
            <a:chExt cx="1348740" cy="2078355"/>
          </a:xfrm>
        </p:grpSpPr>
        <p:sp>
          <p:nvSpPr>
            <p:cNvPr id="60" name="object 60"/>
            <p:cNvSpPr/>
            <p:nvPr/>
          </p:nvSpPr>
          <p:spPr>
            <a:xfrm>
              <a:off x="7628890" y="1936114"/>
              <a:ext cx="458470" cy="1176655"/>
            </a:xfrm>
            <a:custGeom>
              <a:avLst/>
              <a:gdLst/>
              <a:ahLst/>
              <a:cxnLst/>
              <a:rect l="l" t="t" r="r" b="b"/>
              <a:pathLst>
                <a:path w="458470" h="1176655">
                  <a:moveTo>
                    <a:pt x="0" y="0"/>
                  </a:moveTo>
                  <a:lnTo>
                    <a:pt x="28211" y="42614"/>
                  </a:lnTo>
                  <a:lnTo>
                    <a:pt x="55632" y="85686"/>
                  </a:lnTo>
                  <a:lnTo>
                    <a:pt x="82258" y="129203"/>
                  </a:lnTo>
                  <a:lnTo>
                    <a:pt x="108084" y="173154"/>
                  </a:lnTo>
                  <a:lnTo>
                    <a:pt x="133107" y="217529"/>
                  </a:lnTo>
                  <a:lnTo>
                    <a:pt x="157321" y="262316"/>
                  </a:lnTo>
                  <a:lnTo>
                    <a:pt x="180723" y="307503"/>
                  </a:lnTo>
                  <a:lnTo>
                    <a:pt x="203309" y="353079"/>
                  </a:lnTo>
                  <a:lnTo>
                    <a:pt x="225073" y="399034"/>
                  </a:lnTo>
                  <a:lnTo>
                    <a:pt x="246012" y="445355"/>
                  </a:lnTo>
                  <a:lnTo>
                    <a:pt x="266121" y="492032"/>
                  </a:lnTo>
                  <a:lnTo>
                    <a:pt x="285396" y="539053"/>
                  </a:lnTo>
                  <a:lnTo>
                    <a:pt x="303832" y="586407"/>
                  </a:lnTo>
                  <a:lnTo>
                    <a:pt x="321426" y="634083"/>
                  </a:lnTo>
                  <a:lnTo>
                    <a:pt x="338172" y="682069"/>
                  </a:lnTo>
                  <a:lnTo>
                    <a:pt x="354067" y="730354"/>
                  </a:lnTo>
                  <a:lnTo>
                    <a:pt x="369106" y="778927"/>
                  </a:lnTo>
                  <a:lnTo>
                    <a:pt x="383285" y="827777"/>
                  </a:lnTo>
                  <a:lnTo>
                    <a:pt x="396600" y="876893"/>
                  </a:lnTo>
                  <a:lnTo>
                    <a:pt x="409045" y="926262"/>
                  </a:lnTo>
                  <a:lnTo>
                    <a:pt x="420618" y="975875"/>
                  </a:lnTo>
                  <a:lnTo>
                    <a:pt x="431312" y="1025719"/>
                  </a:lnTo>
                  <a:lnTo>
                    <a:pt x="441125" y="1075783"/>
                  </a:lnTo>
                  <a:lnTo>
                    <a:pt x="450052" y="1126056"/>
                  </a:lnTo>
                  <a:lnTo>
                    <a:pt x="458088" y="1176527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41692" y="3105924"/>
              <a:ext cx="1348740" cy="90371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32776" y="3343643"/>
              <a:ext cx="763524" cy="46026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484364" y="3125723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60">
                  <a:moveTo>
                    <a:pt x="1130807" y="0"/>
                  </a:moveTo>
                  <a:lnTo>
                    <a:pt x="137159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59" y="822959"/>
                  </a:lnTo>
                  <a:lnTo>
                    <a:pt x="1130807" y="822959"/>
                  </a:lnTo>
                  <a:lnTo>
                    <a:pt x="1174138" y="815961"/>
                  </a:lnTo>
                  <a:lnTo>
                    <a:pt x="1211787" y="796478"/>
                  </a:lnTo>
                  <a:lnTo>
                    <a:pt x="1241486" y="766779"/>
                  </a:lnTo>
                  <a:lnTo>
                    <a:pt x="1260969" y="729130"/>
                  </a:lnTo>
                  <a:lnTo>
                    <a:pt x="1267967" y="685800"/>
                  </a:lnTo>
                  <a:lnTo>
                    <a:pt x="1267967" y="137160"/>
                  </a:lnTo>
                  <a:lnTo>
                    <a:pt x="1260969" y="93829"/>
                  </a:lnTo>
                  <a:lnTo>
                    <a:pt x="1241486" y="56180"/>
                  </a:lnTo>
                  <a:lnTo>
                    <a:pt x="1211787" y="26481"/>
                  </a:lnTo>
                  <a:lnTo>
                    <a:pt x="1174138" y="6998"/>
                  </a:lnTo>
                  <a:lnTo>
                    <a:pt x="11308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969168" y="1714111"/>
            <a:ext cx="248753" cy="115408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6403">
              <a:spcBef>
                <a:spcPts val="53"/>
              </a:spcBef>
            </a:pPr>
            <a:r>
              <a:rPr sz="706" i="1" spc="-8" dirty="0">
                <a:solidFill>
                  <a:srgbClr val="FFFFFF"/>
                </a:solidFill>
                <a:latin typeface="Calibri"/>
                <a:cs typeface="Calibri"/>
              </a:rPr>
              <a:t>f(x,y,z)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329261" y="1996000"/>
            <a:ext cx="750742" cy="1116028"/>
            <a:chOff x="6603492" y="3955859"/>
            <a:chExt cx="1489075" cy="2213610"/>
          </a:xfrm>
        </p:grpSpPr>
        <p:sp>
          <p:nvSpPr>
            <p:cNvPr id="66" name="object 66"/>
            <p:cNvSpPr/>
            <p:nvPr/>
          </p:nvSpPr>
          <p:spPr>
            <a:xfrm>
              <a:off x="7714488" y="3960621"/>
              <a:ext cx="372745" cy="1043305"/>
            </a:xfrm>
            <a:custGeom>
              <a:avLst/>
              <a:gdLst/>
              <a:ahLst/>
              <a:cxnLst/>
              <a:rect l="l" t="t" r="r" b="b"/>
              <a:pathLst>
                <a:path w="372745" h="1043304">
                  <a:moveTo>
                    <a:pt x="372744" y="0"/>
                  </a:moveTo>
                  <a:lnTo>
                    <a:pt x="364786" y="50183"/>
                  </a:lnTo>
                  <a:lnTo>
                    <a:pt x="355945" y="100178"/>
                  </a:lnTo>
                  <a:lnTo>
                    <a:pt x="346226" y="149973"/>
                  </a:lnTo>
                  <a:lnTo>
                    <a:pt x="335632" y="199556"/>
                  </a:lnTo>
                  <a:lnTo>
                    <a:pt x="324168" y="248917"/>
                  </a:lnTo>
                  <a:lnTo>
                    <a:pt x="311837" y="298043"/>
                  </a:lnTo>
                  <a:lnTo>
                    <a:pt x="298645" y="346925"/>
                  </a:lnTo>
                  <a:lnTo>
                    <a:pt x="284594" y="395551"/>
                  </a:lnTo>
                  <a:lnTo>
                    <a:pt x="269688" y="443910"/>
                  </a:lnTo>
                  <a:lnTo>
                    <a:pt x="253933" y="491990"/>
                  </a:lnTo>
                  <a:lnTo>
                    <a:pt x="237331" y="539781"/>
                  </a:lnTo>
                  <a:lnTo>
                    <a:pt x="219886" y="587271"/>
                  </a:lnTo>
                  <a:lnTo>
                    <a:pt x="201604" y="634450"/>
                  </a:lnTo>
                  <a:lnTo>
                    <a:pt x="182487" y="681305"/>
                  </a:lnTo>
                  <a:lnTo>
                    <a:pt x="162540" y="727826"/>
                  </a:lnTo>
                  <a:lnTo>
                    <a:pt x="141767" y="774001"/>
                  </a:lnTo>
                  <a:lnTo>
                    <a:pt x="120171" y="819821"/>
                  </a:lnTo>
                  <a:lnTo>
                    <a:pt x="97757" y="865272"/>
                  </a:lnTo>
                  <a:lnTo>
                    <a:pt x="74529" y="910345"/>
                  </a:lnTo>
                  <a:lnTo>
                    <a:pt x="50491" y="955027"/>
                  </a:lnTo>
                  <a:lnTo>
                    <a:pt x="25646" y="999308"/>
                  </a:lnTo>
                  <a:lnTo>
                    <a:pt x="0" y="1043177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3492" y="4992623"/>
              <a:ext cx="1348740" cy="117651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0924" y="5074919"/>
              <a:ext cx="1331976" cy="104547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646164" y="5012435"/>
              <a:ext cx="1268095" cy="1096010"/>
            </a:xfrm>
            <a:custGeom>
              <a:avLst/>
              <a:gdLst/>
              <a:ahLst/>
              <a:cxnLst/>
              <a:rect l="l" t="t" r="r" b="b"/>
              <a:pathLst>
                <a:path w="1268095" h="1096010">
                  <a:moveTo>
                    <a:pt x="1085341" y="0"/>
                  </a:moveTo>
                  <a:lnTo>
                    <a:pt x="182625" y="0"/>
                  </a:lnTo>
                  <a:lnTo>
                    <a:pt x="134084" y="6525"/>
                  </a:lnTo>
                  <a:lnTo>
                    <a:pt x="90461" y="24939"/>
                  </a:lnTo>
                  <a:lnTo>
                    <a:pt x="53498" y="53498"/>
                  </a:lnTo>
                  <a:lnTo>
                    <a:pt x="24939" y="90461"/>
                  </a:lnTo>
                  <a:lnTo>
                    <a:pt x="6525" y="134084"/>
                  </a:lnTo>
                  <a:lnTo>
                    <a:pt x="0" y="182625"/>
                  </a:lnTo>
                  <a:lnTo>
                    <a:pt x="0" y="913129"/>
                  </a:lnTo>
                  <a:lnTo>
                    <a:pt x="6525" y="961679"/>
                  </a:lnTo>
                  <a:lnTo>
                    <a:pt x="24939" y="1005305"/>
                  </a:lnTo>
                  <a:lnTo>
                    <a:pt x="53498" y="1042266"/>
                  </a:lnTo>
                  <a:lnTo>
                    <a:pt x="90461" y="1070822"/>
                  </a:lnTo>
                  <a:lnTo>
                    <a:pt x="134084" y="1089232"/>
                  </a:lnTo>
                  <a:lnTo>
                    <a:pt x="182625" y="1095756"/>
                  </a:lnTo>
                  <a:lnTo>
                    <a:pt x="1085341" y="1095756"/>
                  </a:lnTo>
                  <a:lnTo>
                    <a:pt x="1133883" y="1089232"/>
                  </a:lnTo>
                  <a:lnTo>
                    <a:pt x="1177506" y="1070822"/>
                  </a:lnTo>
                  <a:lnTo>
                    <a:pt x="1214469" y="1042266"/>
                  </a:lnTo>
                  <a:lnTo>
                    <a:pt x="1243028" y="1005305"/>
                  </a:lnTo>
                  <a:lnTo>
                    <a:pt x="1261442" y="961679"/>
                  </a:lnTo>
                  <a:lnTo>
                    <a:pt x="1267967" y="913129"/>
                  </a:lnTo>
                  <a:lnTo>
                    <a:pt x="1267967" y="182625"/>
                  </a:lnTo>
                  <a:lnTo>
                    <a:pt x="1261442" y="134084"/>
                  </a:lnTo>
                  <a:lnTo>
                    <a:pt x="1243028" y="90461"/>
                  </a:lnTo>
                  <a:lnTo>
                    <a:pt x="1214469" y="53498"/>
                  </a:lnTo>
                  <a:lnTo>
                    <a:pt x="1177506" y="24939"/>
                  </a:lnTo>
                  <a:lnTo>
                    <a:pt x="1133883" y="6525"/>
                  </a:lnTo>
                  <a:lnTo>
                    <a:pt x="108534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413394" y="2586957"/>
            <a:ext cx="514795" cy="415437"/>
          </a:xfrm>
          <a:prstGeom prst="rect">
            <a:avLst/>
          </a:prstGeom>
        </p:spPr>
        <p:txBody>
          <a:bodyPr vert="horz" wrap="square" lIns="0" tIns="15687" rIns="0" bIns="0" rtlCol="0">
            <a:spAutoFit/>
          </a:bodyPr>
          <a:lstStyle/>
          <a:p>
            <a:pPr marL="6403" marR="2561" algn="ctr">
              <a:lnSpc>
                <a:spcPct val="91500"/>
              </a:lnSpc>
              <a:spcBef>
                <a:spcPts val="124"/>
              </a:spcBef>
            </a:pP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706" spc="-2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706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Salient </a:t>
            </a:r>
            <a:r>
              <a:rPr sz="706" spc="-1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captured by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301208" y="3010444"/>
            <a:ext cx="1048798" cy="448844"/>
            <a:chOff x="4564379" y="5967980"/>
            <a:chExt cx="2080260" cy="890269"/>
          </a:xfrm>
        </p:grpSpPr>
        <p:sp>
          <p:nvSpPr>
            <p:cNvPr id="72" name="object 72"/>
            <p:cNvSpPr/>
            <p:nvPr/>
          </p:nvSpPr>
          <p:spPr>
            <a:xfrm>
              <a:off x="5898260" y="6043358"/>
              <a:ext cx="741680" cy="283845"/>
            </a:xfrm>
            <a:custGeom>
              <a:avLst/>
              <a:gdLst/>
              <a:ahLst/>
              <a:cxnLst/>
              <a:rect l="l" t="t" r="r" b="b"/>
              <a:pathLst>
                <a:path w="741679" h="283845">
                  <a:moveTo>
                    <a:pt x="741171" y="0"/>
                  </a:moveTo>
                  <a:lnTo>
                    <a:pt x="697330" y="23689"/>
                  </a:lnTo>
                  <a:lnTo>
                    <a:pt x="653109" y="46600"/>
                  </a:lnTo>
                  <a:lnTo>
                    <a:pt x="608519" y="68729"/>
                  </a:lnTo>
                  <a:lnTo>
                    <a:pt x="563570" y="90072"/>
                  </a:lnTo>
                  <a:lnTo>
                    <a:pt x="518273" y="110625"/>
                  </a:lnTo>
                  <a:lnTo>
                    <a:pt x="472638" y="130383"/>
                  </a:lnTo>
                  <a:lnTo>
                    <a:pt x="426676" y="149344"/>
                  </a:lnTo>
                  <a:lnTo>
                    <a:pt x="380396" y="167501"/>
                  </a:lnTo>
                  <a:lnTo>
                    <a:pt x="333810" y="184853"/>
                  </a:lnTo>
                  <a:lnTo>
                    <a:pt x="286928" y="201393"/>
                  </a:lnTo>
                  <a:lnTo>
                    <a:pt x="239760" y="217119"/>
                  </a:lnTo>
                  <a:lnTo>
                    <a:pt x="192317" y="232027"/>
                  </a:lnTo>
                  <a:lnTo>
                    <a:pt x="144609" y="246111"/>
                  </a:lnTo>
                  <a:lnTo>
                    <a:pt x="96647" y="259369"/>
                  </a:lnTo>
                  <a:lnTo>
                    <a:pt x="48440" y="271796"/>
                  </a:lnTo>
                  <a:lnTo>
                    <a:pt x="0" y="283387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73" name="object 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79619" y="5967980"/>
              <a:ext cx="1348739" cy="89001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64379" y="6010653"/>
              <a:ext cx="1417320" cy="847343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622291" y="5987796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59">
                  <a:moveTo>
                    <a:pt x="1130808" y="0"/>
                  </a:moveTo>
                  <a:lnTo>
                    <a:pt x="137160" y="0"/>
                  </a:lnTo>
                  <a:lnTo>
                    <a:pt x="93829" y="6992"/>
                  </a:lnTo>
                  <a:lnTo>
                    <a:pt x="56180" y="26462"/>
                  </a:lnTo>
                  <a:lnTo>
                    <a:pt x="26481" y="56153"/>
                  </a:lnTo>
                  <a:lnTo>
                    <a:pt x="6998" y="93805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52"/>
                  </a:lnTo>
                  <a:lnTo>
                    <a:pt x="26481" y="766804"/>
                  </a:lnTo>
                  <a:lnTo>
                    <a:pt x="56180" y="796495"/>
                  </a:lnTo>
                  <a:lnTo>
                    <a:pt x="93829" y="815967"/>
                  </a:lnTo>
                  <a:lnTo>
                    <a:pt x="137160" y="822959"/>
                  </a:lnTo>
                  <a:lnTo>
                    <a:pt x="1130808" y="822959"/>
                  </a:lnTo>
                  <a:lnTo>
                    <a:pt x="1174138" y="815967"/>
                  </a:lnTo>
                  <a:lnTo>
                    <a:pt x="1211787" y="796495"/>
                  </a:lnTo>
                  <a:lnTo>
                    <a:pt x="1241486" y="766804"/>
                  </a:lnTo>
                  <a:lnTo>
                    <a:pt x="1260969" y="729152"/>
                  </a:lnTo>
                  <a:lnTo>
                    <a:pt x="1267968" y="685799"/>
                  </a:lnTo>
                  <a:lnTo>
                    <a:pt x="1267968" y="137159"/>
                  </a:lnTo>
                  <a:lnTo>
                    <a:pt x="1260969" y="93805"/>
                  </a:lnTo>
                  <a:lnTo>
                    <a:pt x="1241486" y="56153"/>
                  </a:lnTo>
                  <a:lnTo>
                    <a:pt x="1211787" y="26462"/>
                  </a:lnTo>
                  <a:lnTo>
                    <a:pt x="1174138" y="6992"/>
                  </a:lnTo>
                  <a:lnTo>
                    <a:pt x="11308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371512" y="2537783"/>
            <a:ext cx="907293" cy="848761"/>
          </a:xfrm>
          <a:prstGeom prst="rect">
            <a:avLst/>
          </a:prstGeom>
        </p:spPr>
        <p:txBody>
          <a:bodyPr vert="horz" wrap="square" lIns="0" tIns="15687" rIns="0" bIns="0" rtlCol="0">
            <a:spAutoFit/>
          </a:bodyPr>
          <a:lstStyle/>
          <a:p>
            <a:pPr marL="463922" marR="2882" indent="-640" algn="ctr">
              <a:lnSpc>
                <a:spcPct val="91600"/>
              </a:lnSpc>
              <a:spcBef>
                <a:spcPts val="124"/>
              </a:spcBef>
            </a:pP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limited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number of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18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6" spc="-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706" spc="-13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706" spc="-13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captured by </a:t>
            </a:r>
            <a:r>
              <a:rPr sz="706" spc="-1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706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706">
              <a:latin typeface="Calibri"/>
              <a:cs typeface="Calibri"/>
            </a:endParaRPr>
          </a:p>
          <a:p>
            <a:pPr marL="6403" marR="351864" algn="ctr">
              <a:lnSpc>
                <a:spcPts val="776"/>
              </a:lnSpc>
              <a:spcBef>
                <a:spcPts val="237"/>
              </a:spcBef>
            </a:pP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706" spc="-3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706" spc="-1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adequate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resources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288523" y="2587854"/>
            <a:ext cx="1039834" cy="606036"/>
            <a:chOff x="2555748" y="5129784"/>
            <a:chExt cx="2062480" cy="1202055"/>
          </a:xfrm>
        </p:grpSpPr>
        <p:sp>
          <p:nvSpPr>
            <p:cNvPr id="78" name="object 78"/>
            <p:cNvSpPr/>
            <p:nvPr/>
          </p:nvSpPr>
          <p:spPr>
            <a:xfrm>
              <a:off x="3761613" y="5978233"/>
              <a:ext cx="852169" cy="348615"/>
            </a:xfrm>
            <a:custGeom>
              <a:avLst/>
              <a:gdLst/>
              <a:ahLst/>
              <a:cxnLst/>
              <a:rect l="l" t="t" r="r" b="b"/>
              <a:pathLst>
                <a:path w="852170" h="348614">
                  <a:moveTo>
                    <a:pt x="851788" y="348221"/>
                  </a:moveTo>
                  <a:lnTo>
                    <a:pt x="801769" y="336214"/>
                  </a:lnTo>
                  <a:lnTo>
                    <a:pt x="752005" y="323319"/>
                  </a:lnTo>
                  <a:lnTo>
                    <a:pt x="702509" y="309540"/>
                  </a:lnTo>
                  <a:lnTo>
                    <a:pt x="653293" y="294882"/>
                  </a:lnTo>
                  <a:lnTo>
                    <a:pt x="604366" y="279350"/>
                  </a:lnTo>
                  <a:lnTo>
                    <a:pt x="555742" y="262948"/>
                  </a:lnTo>
                  <a:lnTo>
                    <a:pt x="507431" y="245681"/>
                  </a:lnTo>
                  <a:lnTo>
                    <a:pt x="459446" y="227554"/>
                  </a:lnTo>
                  <a:lnTo>
                    <a:pt x="411797" y="208572"/>
                  </a:lnTo>
                  <a:lnTo>
                    <a:pt x="364496" y="188738"/>
                  </a:lnTo>
                  <a:lnTo>
                    <a:pt x="317555" y="168058"/>
                  </a:lnTo>
                  <a:lnTo>
                    <a:pt x="270985" y="146537"/>
                  </a:lnTo>
                  <a:lnTo>
                    <a:pt x="224797" y="124179"/>
                  </a:lnTo>
                  <a:lnTo>
                    <a:pt x="179003" y="100989"/>
                  </a:lnTo>
                  <a:lnTo>
                    <a:pt x="133615" y="76971"/>
                  </a:lnTo>
                  <a:lnTo>
                    <a:pt x="88644" y="52131"/>
                  </a:lnTo>
                  <a:lnTo>
                    <a:pt x="44102" y="26472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79" name="object 7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55748" y="5129784"/>
              <a:ext cx="1348739" cy="90371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51760" y="5367528"/>
              <a:ext cx="1153680" cy="460260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598420" y="5149596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60">
                  <a:moveTo>
                    <a:pt x="1130808" y="0"/>
                  </a:moveTo>
                  <a:lnTo>
                    <a:pt x="137160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54"/>
                  </a:lnTo>
                  <a:lnTo>
                    <a:pt x="26481" y="766806"/>
                  </a:lnTo>
                  <a:lnTo>
                    <a:pt x="56180" y="796497"/>
                  </a:lnTo>
                  <a:lnTo>
                    <a:pt x="93829" y="815967"/>
                  </a:lnTo>
                  <a:lnTo>
                    <a:pt x="137160" y="822959"/>
                  </a:lnTo>
                  <a:lnTo>
                    <a:pt x="1130808" y="822959"/>
                  </a:lnTo>
                  <a:lnTo>
                    <a:pt x="1174138" y="815967"/>
                  </a:lnTo>
                  <a:lnTo>
                    <a:pt x="1211787" y="796497"/>
                  </a:lnTo>
                  <a:lnTo>
                    <a:pt x="1241486" y="766806"/>
                  </a:lnTo>
                  <a:lnTo>
                    <a:pt x="1260969" y="729154"/>
                  </a:lnTo>
                  <a:lnTo>
                    <a:pt x="1267968" y="685799"/>
                  </a:lnTo>
                  <a:lnTo>
                    <a:pt x="1267968" y="137159"/>
                  </a:lnTo>
                  <a:lnTo>
                    <a:pt x="1260969" y="93829"/>
                  </a:lnTo>
                  <a:lnTo>
                    <a:pt x="1241486" y="56180"/>
                  </a:lnTo>
                  <a:lnTo>
                    <a:pt x="1211787" y="26481"/>
                  </a:lnTo>
                  <a:lnTo>
                    <a:pt x="1174138" y="6998"/>
                  </a:lnTo>
                  <a:lnTo>
                    <a:pt x="11308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407041" y="2734813"/>
            <a:ext cx="445003" cy="115085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Measurable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865930" y="1567491"/>
            <a:ext cx="679990" cy="1027347"/>
            <a:chOff x="1717548" y="3105924"/>
            <a:chExt cx="1348740" cy="2037714"/>
          </a:xfrm>
        </p:grpSpPr>
        <p:sp>
          <p:nvSpPr>
            <p:cNvPr id="84" name="object 84"/>
            <p:cNvSpPr/>
            <p:nvPr/>
          </p:nvSpPr>
          <p:spPr>
            <a:xfrm>
              <a:off x="2425954" y="3962146"/>
              <a:ext cx="458470" cy="1176655"/>
            </a:xfrm>
            <a:custGeom>
              <a:avLst/>
              <a:gdLst/>
              <a:ahLst/>
              <a:cxnLst/>
              <a:rect l="l" t="t" r="r" b="b"/>
              <a:pathLst>
                <a:path w="458469" h="1176654">
                  <a:moveTo>
                    <a:pt x="458088" y="1176401"/>
                  </a:moveTo>
                  <a:lnTo>
                    <a:pt x="429876" y="1133800"/>
                  </a:lnTo>
                  <a:lnTo>
                    <a:pt x="402454" y="1090742"/>
                  </a:lnTo>
                  <a:lnTo>
                    <a:pt x="375825" y="1047238"/>
                  </a:lnTo>
                  <a:lnTo>
                    <a:pt x="349996" y="1003297"/>
                  </a:lnTo>
                  <a:lnTo>
                    <a:pt x="324969" y="958933"/>
                  </a:lnTo>
                  <a:lnTo>
                    <a:pt x="300750" y="914156"/>
                  </a:lnTo>
                  <a:lnTo>
                    <a:pt x="277343" y="868977"/>
                  </a:lnTo>
                  <a:lnTo>
                    <a:pt x="254753" y="823408"/>
                  </a:lnTo>
                  <a:lnTo>
                    <a:pt x="232983" y="777460"/>
                  </a:lnTo>
                  <a:lnTo>
                    <a:pt x="212040" y="731145"/>
                  </a:lnTo>
                  <a:lnTo>
                    <a:pt x="191926" y="684473"/>
                  </a:lnTo>
                  <a:lnTo>
                    <a:pt x="172647" y="637456"/>
                  </a:lnTo>
                  <a:lnTo>
                    <a:pt x="154207" y="590106"/>
                  </a:lnTo>
                  <a:lnTo>
                    <a:pt x="136610" y="542434"/>
                  </a:lnTo>
                  <a:lnTo>
                    <a:pt x="119861" y="494450"/>
                  </a:lnTo>
                  <a:lnTo>
                    <a:pt x="103965" y="446167"/>
                  </a:lnTo>
                  <a:lnTo>
                    <a:pt x="88925" y="397595"/>
                  </a:lnTo>
                  <a:lnTo>
                    <a:pt x="74748" y="348747"/>
                  </a:lnTo>
                  <a:lnTo>
                    <a:pt x="61436" y="299632"/>
                  </a:lnTo>
                  <a:lnTo>
                    <a:pt x="48994" y="250264"/>
                  </a:lnTo>
                  <a:lnTo>
                    <a:pt x="37427" y="200652"/>
                  </a:lnTo>
                  <a:lnTo>
                    <a:pt x="26740" y="150808"/>
                  </a:lnTo>
                  <a:lnTo>
                    <a:pt x="16937" y="100744"/>
                  </a:lnTo>
                  <a:lnTo>
                    <a:pt x="8022" y="50471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7548" y="3105924"/>
              <a:ext cx="1348739" cy="90371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54124" y="3246132"/>
              <a:ext cx="1312164" cy="655307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760220" y="3125724"/>
              <a:ext cx="1268095" cy="822960"/>
            </a:xfrm>
            <a:custGeom>
              <a:avLst/>
              <a:gdLst/>
              <a:ahLst/>
              <a:cxnLst/>
              <a:rect l="l" t="t" r="r" b="b"/>
              <a:pathLst>
                <a:path w="1268095" h="822960">
                  <a:moveTo>
                    <a:pt x="1130808" y="0"/>
                  </a:moveTo>
                  <a:lnTo>
                    <a:pt x="137160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6998" y="729130"/>
                  </a:lnTo>
                  <a:lnTo>
                    <a:pt x="26481" y="766779"/>
                  </a:lnTo>
                  <a:lnTo>
                    <a:pt x="56180" y="796478"/>
                  </a:lnTo>
                  <a:lnTo>
                    <a:pt x="93829" y="815961"/>
                  </a:lnTo>
                  <a:lnTo>
                    <a:pt x="137160" y="822959"/>
                  </a:lnTo>
                  <a:lnTo>
                    <a:pt x="1130808" y="822959"/>
                  </a:lnTo>
                  <a:lnTo>
                    <a:pt x="1174138" y="815961"/>
                  </a:lnTo>
                  <a:lnTo>
                    <a:pt x="1211787" y="796478"/>
                  </a:lnTo>
                  <a:lnTo>
                    <a:pt x="1241486" y="766779"/>
                  </a:lnTo>
                  <a:lnTo>
                    <a:pt x="1260969" y="729130"/>
                  </a:lnTo>
                  <a:lnTo>
                    <a:pt x="1267968" y="685800"/>
                  </a:lnTo>
                  <a:lnTo>
                    <a:pt x="1267968" y="137160"/>
                  </a:lnTo>
                  <a:lnTo>
                    <a:pt x="1260969" y="93829"/>
                  </a:lnTo>
                  <a:lnTo>
                    <a:pt x="1241486" y="56180"/>
                  </a:lnTo>
                  <a:lnTo>
                    <a:pt x="1211787" y="26481"/>
                  </a:lnTo>
                  <a:lnTo>
                    <a:pt x="1174138" y="6998"/>
                  </a:lnTo>
                  <a:lnTo>
                    <a:pt x="11308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954355" y="1664937"/>
            <a:ext cx="504230" cy="222641"/>
          </a:xfrm>
          <a:prstGeom prst="rect">
            <a:avLst/>
          </a:prstGeom>
        </p:spPr>
        <p:txBody>
          <a:bodyPr vert="horz" wrap="square" lIns="0" tIns="17288" rIns="0" bIns="0" rtlCol="0">
            <a:spAutoFit/>
          </a:bodyPr>
          <a:lstStyle/>
          <a:p>
            <a:pPr marL="132229" marR="2561" indent="-126146">
              <a:lnSpc>
                <a:spcPts val="776"/>
              </a:lnSpc>
              <a:spcBef>
                <a:spcPts val="136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706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causal </a:t>
            </a:r>
            <a:r>
              <a:rPr sz="706" spc="-15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Chains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1220684" y="519455"/>
            <a:ext cx="747861" cy="1053920"/>
            <a:chOff x="2421191" y="1027175"/>
            <a:chExt cx="1483360" cy="2090420"/>
          </a:xfrm>
        </p:grpSpPr>
        <p:sp>
          <p:nvSpPr>
            <p:cNvPr id="90" name="object 90"/>
            <p:cNvSpPr/>
            <p:nvPr/>
          </p:nvSpPr>
          <p:spPr>
            <a:xfrm>
              <a:off x="2425954" y="1936114"/>
              <a:ext cx="458470" cy="1176655"/>
            </a:xfrm>
            <a:custGeom>
              <a:avLst/>
              <a:gdLst/>
              <a:ahLst/>
              <a:cxnLst/>
              <a:rect l="l" t="t" r="r" b="b"/>
              <a:pathLst>
                <a:path w="458469" h="1176655">
                  <a:moveTo>
                    <a:pt x="0" y="1176527"/>
                  </a:moveTo>
                  <a:lnTo>
                    <a:pt x="8022" y="1126056"/>
                  </a:lnTo>
                  <a:lnTo>
                    <a:pt x="16937" y="1075783"/>
                  </a:lnTo>
                  <a:lnTo>
                    <a:pt x="26740" y="1025719"/>
                  </a:lnTo>
                  <a:lnTo>
                    <a:pt x="37427" y="975875"/>
                  </a:lnTo>
                  <a:lnTo>
                    <a:pt x="48994" y="926262"/>
                  </a:lnTo>
                  <a:lnTo>
                    <a:pt x="61436" y="876893"/>
                  </a:lnTo>
                  <a:lnTo>
                    <a:pt x="74748" y="827777"/>
                  </a:lnTo>
                  <a:lnTo>
                    <a:pt x="88925" y="778927"/>
                  </a:lnTo>
                  <a:lnTo>
                    <a:pt x="103965" y="730354"/>
                  </a:lnTo>
                  <a:lnTo>
                    <a:pt x="119861" y="682069"/>
                  </a:lnTo>
                  <a:lnTo>
                    <a:pt x="136610" y="634083"/>
                  </a:lnTo>
                  <a:lnTo>
                    <a:pt x="154207" y="586407"/>
                  </a:lnTo>
                  <a:lnTo>
                    <a:pt x="172647" y="539053"/>
                  </a:lnTo>
                  <a:lnTo>
                    <a:pt x="191926" y="492032"/>
                  </a:lnTo>
                  <a:lnTo>
                    <a:pt x="212040" y="445355"/>
                  </a:lnTo>
                  <a:lnTo>
                    <a:pt x="232983" y="399034"/>
                  </a:lnTo>
                  <a:lnTo>
                    <a:pt x="254753" y="353079"/>
                  </a:lnTo>
                  <a:lnTo>
                    <a:pt x="277343" y="307503"/>
                  </a:lnTo>
                  <a:lnTo>
                    <a:pt x="300750" y="262316"/>
                  </a:lnTo>
                  <a:lnTo>
                    <a:pt x="324969" y="217529"/>
                  </a:lnTo>
                  <a:lnTo>
                    <a:pt x="349996" y="173154"/>
                  </a:lnTo>
                  <a:lnTo>
                    <a:pt x="375825" y="129203"/>
                  </a:lnTo>
                  <a:lnTo>
                    <a:pt x="402454" y="85686"/>
                  </a:lnTo>
                  <a:lnTo>
                    <a:pt x="429876" y="42614"/>
                  </a:lnTo>
                  <a:lnTo>
                    <a:pt x="458088" y="0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5748" y="1080490"/>
              <a:ext cx="1348739" cy="90528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65476" y="1027175"/>
              <a:ext cx="1130808" cy="1045463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598420" y="1100327"/>
              <a:ext cx="1268095" cy="824865"/>
            </a:xfrm>
            <a:custGeom>
              <a:avLst/>
              <a:gdLst/>
              <a:ahLst/>
              <a:cxnLst/>
              <a:rect l="l" t="t" r="r" b="b"/>
              <a:pathLst>
                <a:path w="1268095" h="824864">
                  <a:moveTo>
                    <a:pt x="1130554" y="0"/>
                  </a:moveTo>
                  <a:lnTo>
                    <a:pt x="137413" y="0"/>
                  </a:lnTo>
                  <a:lnTo>
                    <a:pt x="93959" y="7000"/>
                  </a:lnTo>
                  <a:lnTo>
                    <a:pt x="56235" y="26497"/>
                  </a:lnTo>
                  <a:lnTo>
                    <a:pt x="26497" y="56235"/>
                  </a:lnTo>
                  <a:lnTo>
                    <a:pt x="7000" y="93959"/>
                  </a:lnTo>
                  <a:lnTo>
                    <a:pt x="0" y="137413"/>
                  </a:lnTo>
                  <a:lnTo>
                    <a:pt x="0" y="687070"/>
                  </a:lnTo>
                  <a:lnTo>
                    <a:pt x="7000" y="730524"/>
                  </a:lnTo>
                  <a:lnTo>
                    <a:pt x="26497" y="768248"/>
                  </a:lnTo>
                  <a:lnTo>
                    <a:pt x="56235" y="797986"/>
                  </a:lnTo>
                  <a:lnTo>
                    <a:pt x="93959" y="817483"/>
                  </a:lnTo>
                  <a:lnTo>
                    <a:pt x="137413" y="824484"/>
                  </a:lnTo>
                  <a:lnTo>
                    <a:pt x="1130554" y="824484"/>
                  </a:lnTo>
                  <a:lnTo>
                    <a:pt x="1174008" y="817483"/>
                  </a:lnTo>
                  <a:lnTo>
                    <a:pt x="1211732" y="797986"/>
                  </a:lnTo>
                  <a:lnTo>
                    <a:pt x="1241470" y="768248"/>
                  </a:lnTo>
                  <a:lnTo>
                    <a:pt x="1260967" y="730524"/>
                  </a:lnTo>
                  <a:lnTo>
                    <a:pt x="1267968" y="687070"/>
                  </a:lnTo>
                  <a:lnTo>
                    <a:pt x="1267968" y="137413"/>
                  </a:lnTo>
                  <a:lnTo>
                    <a:pt x="1260967" y="93959"/>
                  </a:lnTo>
                  <a:lnTo>
                    <a:pt x="1241470" y="56235"/>
                  </a:lnTo>
                  <a:lnTo>
                    <a:pt x="1211732" y="26497"/>
                  </a:lnTo>
                  <a:lnTo>
                    <a:pt x="1174008" y="7000"/>
                  </a:lnTo>
                  <a:lnTo>
                    <a:pt x="11305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1413956" y="545771"/>
            <a:ext cx="431877" cy="415437"/>
          </a:xfrm>
          <a:prstGeom prst="rect">
            <a:avLst/>
          </a:prstGeom>
        </p:spPr>
        <p:txBody>
          <a:bodyPr vert="horz" wrap="square" lIns="0" tIns="15687" rIns="0" bIns="0" rtlCol="0">
            <a:spAutoFit/>
          </a:bodyPr>
          <a:lstStyle/>
          <a:p>
            <a:pPr marL="6403" marR="2561" indent="32977" algn="just">
              <a:lnSpc>
                <a:spcPct val="91500"/>
              </a:lnSpc>
              <a:spcBef>
                <a:spcPts val="124"/>
              </a:spcBef>
            </a:pP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Isolatable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Systems,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 Controlled 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6" spc="-3" dirty="0">
                <a:solidFill>
                  <a:srgbClr val="FFFFFF"/>
                </a:solidFill>
                <a:latin typeface="Calibri"/>
                <a:cs typeface="Calibri"/>
              </a:rPr>
              <a:t>Exp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rim</a:t>
            </a:r>
            <a:r>
              <a:rPr sz="706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706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706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706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1894079" y="376446"/>
            <a:ext cx="754584" cy="1299472"/>
            <a:chOff x="3756850" y="743521"/>
            <a:chExt cx="1496695" cy="2577465"/>
          </a:xfrm>
        </p:grpSpPr>
        <p:sp>
          <p:nvSpPr>
            <p:cNvPr id="96" name="object 96"/>
            <p:cNvSpPr/>
            <p:nvPr/>
          </p:nvSpPr>
          <p:spPr>
            <a:xfrm>
              <a:off x="3761613" y="748283"/>
              <a:ext cx="852169" cy="348615"/>
            </a:xfrm>
            <a:custGeom>
              <a:avLst/>
              <a:gdLst/>
              <a:ahLst/>
              <a:cxnLst/>
              <a:rect l="l" t="t" r="r" b="b"/>
              <a:pathLst>
                <a:path w="852170" h="348615">
                  <a:moveTo>
                    <a:pt x="0" y="348233"/>
                  </a:moveTo>
                  <a:lnTo>
                    <a:pt x="44102" y="321757"/>
                  </a:lnTo>
                  <a:lnTo>
                    <a:pt x="88644" y="296095"/>
                  </a:lnTo>
                  <a:lnTo>
                    <a:pt x="133615" y="271250"/>
                  </a:lnTo>
                  <a:lnTo>
                    <a:pt x="179003" y="247229"/>
                  </a:lnTo>
                  <a:lnTo>
                    <a:pt x="224797" y="224036"/>
                  </a:lnTo>
                  <a:lnTo>
                    <a:pt x="270985" y="201675"/>
                  </a:lnTo>
                  <a:lnTo>
                    <a:pt x="317555" y="180152"/>
                  </a:lnTo>
                  <a:lnTo>
                    <a:pt x="364496" y="159471"/>
                  </a:lnTo>
                  <a:lnTo>
                    <a:pt x="411797" y="139636"/>
                  </a:lnTo>
                  <a:lnTo>
                    <a:pt x="459446" y="120653"/>
                  </a:lnTo>
                  <a:lnTo>
                    <a:pt x="507431" y="102525"/>
                  </a:lnTo>
                  <a:lnTo>
                    <a:pt x="555742" y="85259"/>
                  </a:lnTo>
                  <a:lnTo>
                    <a:pt x="604366" y="68858"/>
                  </a:lnTo>
                  <a:lnTo>
                    <a:pt x="653293" y="53327"/>
                  </a:lnTo>
                  <a:lnTo>
                    <a:pt x="702509" y="38671"/>
                  </a:lnTo>
                  <a:lnTo>
                    <a:pt x="752005" y="24895"/>
                  </a:lnTo>
                  <a:lnTo>
                    <a:pt x="801769" y="12003"/>
                  </a:lnTo>
                  <a:lnTo>
                    <a:pt x="851788" y="0"/>
                  </a:lnTo>
                </a:path>
              </a:pathLst>
            </a:custGeom>
            <a:ln w="9144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97" name="object 9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86169" y="2334766"/>
              <a:ext cx="1367088" cy="98604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3924300" y="2350008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1295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295400" y="9144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99" name="object 99"/>
            <p:cNvSpPr/>
            <p:nvPr/>
          </p:nvSpPr>
          <p:spPr>
            <a:xfrm>
              <a:off x="3924300" y="2350008"/>
              <a:ext cx="1295400" cy="914400"/>
            </a:xfrm>
            <a:custGeom>
              <a:avLst/>
              <a:gdLst/>
              <a:ahLst/>
              <a:cxnLst/>
              <a:rect l="l" t="t" r="r" b="b"/>
              <a:pathLst>
                <a:path w="1295400" h="914400">
                  <a:moveTo>
                    <a:pt x="0" y="914400"/>
                  </a:moveTo>
                  <a:lnTo>
                    <a:pt x="1295400" y="9144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982727" y="1333650"/>
            <a:ext cx="648936" cy="146184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118462">
              <a:spcBef>
                <a:spcPts val="50"/>
              </a:spcBef>
            </a:pPr>
            <a:r>
              <a:rPr sz="908" spc="-3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endParaRPr sz="908">
              <a:latin typeface="Calibri"/>
              <a:cs typeface="Calibri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1958524" y="1645095"/>
            <a:ext cx="699199" cy="506470"/>
            <a:chOff x="3884676" y="3259848"/>
            <a:chExt cx="1386840" cy="1004569"/>
          </a:xfrm>
        </p:grpSpPr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84676" y="3259848"/>
              <a:ext cx="1386839" cy="1004303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931920" y="3284219"/>
              <a:ext cx="1297305" cy="914400"/>
            </a:xfrm>
            <a:custGeom>
              <a:avLst/>
              <a:gdLst/>
              <a:ahLst/>
              <a:cxnLst/>
              <a:rect l="l" t="t" r="r" b="b"/>
              <a:pathLst>
                <a:path w="1297304" h="914400">
                  <a:moveTo>
                    <a:pt x="1296924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1296924" y="914399"/>
                  </a:lnTo>
                  <a:lnTo>
                    <a:pt x="12969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31920" y="3284219"/>
              <a:ext cx="1297305" cy="914400"/>
            </a:xfrm>
            <a:custGeom>
              <a:avLst/>
              <a:gdLst/>
              <a:ahLst/>
              <a:cxnLst/>
              <a:rect l="l" t="t" r="r" b="b"/>
              <a:pathLst>
                <a:path w="1297304" h="914400">
                  <a:moveTo>
                    <a:pt x="0" y="914399"/>
                  </a:moveTo>
                  <a:lnTo>
                    <a:pt x="1296924" y="914399"/>
                  </a:lnTo>
                  <a:lnTo>
                    <a:pt x="1296924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1982727" y="1805289"/>
            <a:ext cx="648936" cy="146184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112379">
              <a:spcBef>
                <a:spcPts val="50"/>
              </a:spcBef>
            </a:pPr>
            <a:r>
              <a:rPr sz="908" spc="-10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endParaRPr sz="908">
              <a:latin typeface="Calibri"/>
              <a:cs typeface="Calibri"/>
            </a:endParaRPr>
          </a:p>
        </p:txBody>
      </p:sp>
      <p:pic>
        <p:nvPicPr>
          <p:cNvPr id="106" name="object 10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22869" y="40005"/>
            <a:ext cx="2461025" cy="2149843"/>
          </a:xfrm>
          <a:prstGeom prst="rect">
            <a:avLst/>
          </a:prstGeom>
        </p:spPr>
      </p:pic>
      <p:grpSp>
        <p:nvGrpSpPr>
          <p:cNvPr id="107" name="object 107"/>
          <p:cNvGrpSpPr/>
          <p:nvPr/>
        </p:nvGrpSpPr>
        <p:grpSpPr>
          <a:xfrm>
            <a:off x="131815" y="49352"/>
            <a:ext cx="3829584" cy="3329517"/>
            <a:chOff x="268224" y="96011"/>
            <a:chExt cx="7595870" cy="6604000"/>
          </a:xfrm>
        </p:grpSpPr>
        <p:pic>
          <p:nvPicPr>
            <p:cNvPr id="108" name="object 10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22704" y="5884164"/>
              <a:ext cx="1679447" cy="815352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1980438" y="5963183"/>
              <a:ext cx="1369060" cy="621665"/>
            </a:xfrm>
            <a:custGeom>
              <a:avLst/>
              <a:gdLst/>
              <a:ahLst/>
              <a:cxnLst/>
              <a:rect l="l" t="t" r="r" b="b"/>
              <a:pathLst>
                <a:path w="1369060" h="621665">
                  <a:moveTo>
                    <a:pt x="1296489" y="573301"/>
                  </a:moveTo>
                  <a:lnTo>
                    <a:pt x="1251966" y="598576"/>
                  </a:lnTo>
                  <a:lnTo>
                    <a:pt x="1249807" y="606488"/>
                  </a:lnTo>
                  <a:lnTo>
                    <a:pt x="1253236" y="612698"/>
                  </a:lnTo>
                  <a:lnTo>
                    <a:pt x="1256792" y="618921"/>
                  </a:lnTo>
                  <a:lnTo>
                    <a:pt x="1264666" y="621106"/>
                  </a:lnTo>
                  <a:lnTo>
                    <a:pt x="1346242" y="574852"/>
                  </a:lnTo>
                  <a:lnTo>
                    <a:pt x="1342644" y="574852"/>
                  </a:lnTo>
                  <a:lnTo>
                    <a:pt x="1335913" y="574763"/>
                  </a:lnTo>
                  <a:lnTo>
                    <a:pt x="1303654" y="573709"/>
                  </a:lnTo>
                  <a:lnTo>
                    <a:pt x="1296489" y="573301"/>
                  </a:lnTo>
                  <a:close/>
                </a:path>
                <a:path w="1369060" h="621665">
                  <a:moveTo>
                    <a:pt x="1317112" y="561594"/>
                  </a:moveTo>
                  <a:lnTo>
                    <a:pt x="1296489" y="573301"/>
                  </a:lnTo>
                  <a:lnTo>
                    <a:pt x="1303654" y="573709"/>
                  </a:lnTo>
                  <a:lnTo>
                    <a:pt x="1335913" y="574763"/>
                  </a:lnTo>
                  <a:lnTo>
                    <a:pt x="1342644" y="574852"/>
                  </a:lnTo>
                  <a:lnTo>
                    <a:pt x="1342671" y="573011"/>
                  </a:lnTo>
                  <a:lnTo>
                    <a:pt x="1336166" y="573011"/>
                  </a:lnTo>
                  <a:lnTo>
                    <a:pt x="1317112" y="561594"/>
                  </a:lnTo>
                  <a:close/>
                </a:path>
                <a:path w="1369060" h="621665">
                  <a:moveTo>
                    <a:pt x="1266189" y="500849"/>
                  </a:moveTo>
                  <a:lnTo>
                    <a:pt x="1258189" y="502843"/>
                  </a:lnTo>
                  <a:lnTo>
                    <a:pt x="1250823" y="515111"/>
                  </a:lnTo>
                  <a:lnTo>
                    <a:pt x="1252855" y="523074"/>
                  </a:lnTo>
                  <a:lnTo>
                    <a:pt x="1293014" y="547155"/>
                  </a:lnTo>
                  <a:lnTo>
                    <a:pt x="1305052" y="547839"/>
                  </a:lnTo>
                  <a:lnTo>
                    <a:pt x="1336802" y="548868"/>
                  </a:lnTo>
                  <a:lnTo>
                    <a:pt x="1343025" y="548944"/>
                  </a:lnTo>
                  <a:lnTo>
                    <a:pt x="1342644" y="574852"/>
                  </a:lnTo>
                  <a:lnTo>
                    <a:pt x="1346242" y="574852"/>
                  </a:lnTo>
                  <a:lnTo>
                    <a:pt x="1368552" y="562203"/>
                  </a:lnTo>
                  <a:lnTo>
                    <a:pt x="1266189" y="500849"/>
                  </a:lnTo>
                  <a:close/>
                </a:path>
                <a:path w="1369060" h="621665">
                  <a:moveTo>
                    <a:pt x="696393" y="299783"/>
                  </a:moveTo>
                  <a:lnTo>
                    <a:pt x="670432" y="299783"/>
                  </a:lnTo>
                  <a:lnTo>
                    <a:pt x="670813" y="301878"/>
                  </a:lnTo>
                  <a:lnTo>
                    <a:pt x="670590" y="301878"/>
                  </a:lnTo>
                  <a:lnTo>
                    <a:pt x="671322" y="311594"/>
                  </a:lnTo>
                  <a:lnTo>
                    <a:pt x="672464" y="324827"/>
                  </a:lnTo>
                  <a:lnTo>
                    <a:pt x="672719" y="325526"/>
                  </a:lnTo>
                  <a:lnTo>
                    <a:pt x="675639" y="337248"/>
                  </a:lnTo>
                  <a:lnTo>
                    <a:pt x="697484" y="376656"/>
                  </a:lnTo>
                  <a:lnTo>
                    <a:pt x="734694" y="412851"/>
                  </a:lnTo>
                  <a:lnTo>
                    <a:pt x="766826" y="435444"/>
                  </a:lnTo>
                  <a:lnTo>
                    <a:pt x="804418" y="456831"/>
                  </a:lnTo>
                  <a:lnTo>
                    <a:pt x="846582" y="476935"/>
                  </a:lnTo>
                  <a:lnTo>
                    <a:pt x="893572" y="495642"/>
                  </a:lnTo>
                  <a:lnTo>
                    <a:pt x="944118" y="512800"/>
                  </a:lnTo>
                  <a:lnTo>
                    <a:pt x="998219" y="528218"/>
                  </a:lnTo>
                  <a:lnTo>
                    <a:pt x="1055243" y="541781"/>
                  </a:lnTo>
                  <a:lnTo>
                    <a:pt x="1114806" y="553326"/>
                  </a:lnTo>
                  <a:lnTo>
                    <a:pt x="1176401" y="562559"/>
                  </a:lnTo>
                  <a:lnTo>
                    <a:pt x="1239520" y="569379"/>
                  </a:lnTo>
                  <a:lnTo>
                    <a:pt x="1296489" y="573301"/>
                  </a:lnTo>
                  <a:lnTo>
                    <a:pt x="1317112" y="561594"/>
                  </a:lnTo>
                  <a:lnTo>
                    <a:pt x="1293014" y="547155"/>
                  </a:lnTo>
                  <a:lnTo>
                    <a:pt x="1273556" y="546049"/>
                  </a:lnTo>
                  <a:lnTo>
                    <a:pt x="1242060" y="543598"/>
                  </a:lnTo>
                  <a:lnTo>
                    <a:pt x="1180084" y="536892"/>
                  </a:lnTo>
                  <a:lnTo>
                    <a:pt x="1119505" y="527837"/>
                  </a:lnTo>
                  <a:lnTo>
                    <a:pt x="1060958" y="516521"/>
                  </a:lnTo>
                  <a:lnTo>
                    <a:pt x="1005078" y="503224"/>
                  </a:lnTo>
                  <a:lnTo>
                    <a:pt x="952119" y="488162"/>
                  </a:lnTo>
                  <a:lnTo>
                    <a:pt x="902716" y="471411"/>
                  </a:lnTo>
                  <a:lnTo>
                    <a:pt x="857376" y="453351"/>
                  </a:lnTo>
                  <a:lnTo>
                    <a:pt x="816737" y="434022"/>
                  </a:lnTo>
                  <a:lnTo>
                    <a:pt x="781176" y="413867"/>
                  </a:lnTo>
                  <a:lnTo>
                    <a:pt x="738759" y="382485"/>
                  </a:lnTo>
                  <a:lnTo>
                    <a:pt x="710945" y="351167"/>
                  </a:lnTo>
                  <a:lnTo>
                    <a:pt x="700889" y="330911"/>
                  </a:lnTo>
                  <a:lnTo>
                    <a:pt x="700151" y="329120"/>
                  </a:lnTo>
                  <a:lnTo>
                    <a:pt x="700319" y="329120"/>
                  </a:lnTo>
                  <a:lnTo>
                    <a:pt x="698290" y="321322"/>
                  </a:lnTo>
                  <a:lnTo>
                    <a:pt x="698119" y="321322"/>
                  </a:lnTo>
                  <a:lnTo>
                    <a:pt x="697738" y="319201"/>
                  </a:lnTo>
                  <a:lnTo>
                    <a:pt x="697959" y="319201"/>
                  </a:lnTo>
                  <a:lnTo>
                    <a:pt x="697230" y="309511"/>
                  </a:lnTo>
                  <a:lnTo>
                    <a:pt x="696573" y="301878"/>
                  </a:lnTo>
                  <a:lnTo>
                    <a:pt x="670813" y="301878"/>
                  </a:lnTo>
                  <a:lnTo>
                    <a:pt x="670498" y="300657"/>
                  </a:lnTo>
                  <a:lnTo>
                    <a:pt x="696468" y="300657"/>
                  </a:lnTo>
                  <a:lnTo>
                    <a:pt x="696393" y="299783"/>
                  </a:lnTo>
                  <a:close/>
                </a:path>
                <a:path w="1369060" h="621665">
                  <a:moveTo>
                    <a:pt x="1336421" y="550633"/>
                  </a:moveTo>
                  <a:lnTo>
                    <a:pt x="1317112" y="561594"/>
                  </a:lnTo>
                  <a:lnTo>
                    <a:pt x="1336166" y="573011"/>
                  </a:lnTo>
                  <a:lnTo>
                    <a:pt x="1336421" y="550633"/>
                  </a:lnTo>
                  <a:close/>
                </a:path>
                <a:path w="1369060" h="621665">
                  <a:moveTo>
                    <a:pt x="1343000" y="550633"/>
                  </a:moveTo>
                  <a:lnTo>
                    <a:pt x="1336421" y="550633"/>
                  </a:lnTo>
                  <a:lnTo>
                    <a:pt x="1336166" y="573011"/>
                  </a:lnTo>
                  <a:lnTo>
                    <a:pt x="1342671" y="573011"/>
                  </a:lnTo>
                  <a:lnTo>
                    <a:pt x="1343000" y="550633"/>
                  </a:lnTo>
                  <a:close/>
                </a:path>
                <a:path w="1369060" h="621665">
                  <a:moveTo>
                    <a:pt x="1293014" y="547155"/>
                  </a:moveTo>
                  <a:lnTo>
                    <a:pt x="1317112" y="561594"/>
                  </a:lnTo>
                  <a:lnTo>
                    <a:pt x="1336421" y="550633"/>
                  </a:lnTo>
                  <a:lnTo>
                    <a:pt x="1343000" y="550633"/>
                  </a:lnTo>
                  <a:lnTo>
                    <a:pt x="1343025" y="548944"/>
                  </a:lnTo>
                  <a:lnTo>
                    <a:pt x="1336802" y="548868"/>
                  </a:lnTo>
                  <a:lnTo>
                    <a:pt x="1305052" y="547839"/>
                  </a:lnTo>
                  <a:lnTo>
                    <a:pt x="1293014" y="547155"/>
                  </a:lnTo>
                  <a:close/>
                </a:path>
                <a:path w="1369060" h="621665">
                  <a:moveTo>
                    <a:pt x="700151" y="329120"/>
                  </a:moveTo>
                  <a:lnTo>
                    <a:pt x="700786" y="330911"/>
                  </a:lnTo>
                  <a:lnTo>
                    <a:pt x="700609" y="330232"/>
                  </a:lnTo>
                  <a:lnTo>
                    <a:pt x="700151" y="329120"/>
                  </a:lnTo>
                  <a:close/>
                </a:path>
                <a:path w="1369060" h="621665">
                  <a:moveTo>
                    <a:pt x="700609" y="330232"/>
                  </a:moveTo>
                  <a:lnTo>
                    <a:pt x="700786" y="330911"/>
                  </a:lnTo>
                  <a:lnTo>
                    <a:pt x="700609" y="330232"/>
                  </a:lnTo>
                  <a:close/>
                </a:path>
                <a:path w="1369060" h="621665">
                  <a:moveTo>
                    <a:pt x="700319" y="329120"/>
                  </a:moveTo>
                  <a:lnTo>
                    <a:pt x="700151" y="329120"/>
                  </a:lnTo>
                  <a:lnTo>
                    <a:pt x="700609" y="330232"/>
                  </a:lnTo>
                  <a:lnTo>
                    <a:pt x="700319" y="329120"/>
                  </a:lnTo>
                  <a:close/>
                </a:path>
                <a:path w="1369060" h="621665">
                  <a:moveTo>
                    <a:pt x="697738" y="319201"/>
                  </a:moveTo>
                  <a:lnTo>
                    <a:pt x="698119" y="321322"/>
                  </a:lnTo>
                  <a:lnTo>
                    <a:pt x="698049" y="320398"/>
                  </a:lnTo>
                  <a:lnTo>
                    <a:pt x="697738" y="319201"/>
                  </a:lnTo>
                  <a:close/>
                </a:path>
                <a:path w="1369060" h="621665">
                  <a:moveTo>
                    <a:pt x="698049" y="320398"/>
                  </a:moveTo>
                  <a:lnTo>
                    <a:pt x="698119" y="321322"/>
                  </a:lnTo>
                  <a:lnTo>
                    <a:pt x="698290" y="321322"/>
                  </a:lnTo>
                  <a:lnTo>
                    <a:pt x="698049" y="320398"/>
                  </a:lnTo>
                  <a:close/>
                </a:path>
                <a:path w="1369060" h="621665">
                  <a:moveTo>
                    <a:pt x="697959" y="319201"/>
                  </a:moveTo>
                  <a:lnTo>
                    <a:pt x="697738" y="319201"/>
                  </a:lnTo>
                  <a:lnTo>
                    <a:pt x="698049" y="320398"/>
                  </a:lnTo>
                  <a:lnTo>
                    <a:pt x="697959" y="319201"/>
                  </a:lnTo>
                  <a:close/>
                </a:path>
                <a:path w="1369060" h="621665">
                  <a:moveTo>
                    <a:pt x="670432" y="299783"/>
                  </a:moveTo>
                  <a:lnTo>
                    <a:pt x="670498" y="300657"/>
                  </a:lnTo>
                  <a:lnTo>
                    <a:pt x="670813" y="301878"/>
                  </a:lnTo>
                  <a:lnTo>
                    <a:pt x="670432" y="299783"/>
                  </a:lnTo>
                  <a:close/>
                </a:path>
                <a:path w="1369060" h="621665">
                  <a:moveTo>
                    <a:pt x="667955" y="290801"/>
                  </a:moveTo>
                  <a:lnTo>
                    <a:pt x="670498" y="300657"/>
                  </a:lnTo>
                  <a:lnTo>
                    <a:pt x="670432" y="299783"/>
                  </a:lnTo>
                  <a:lnTo>
                    <a:pt x="696393" y="299783"/>
                  </a:lnTo>
                  <a:lnTo>
                    <a:pt x="696087" y="296290"/>
                  </a:lnTo>
                  <a:lnTo>
                    <a:pt x="695832" y="295605"/>
                  </a:lnTo>
                  <a:lnTo>
                    <a:pt x="694915" y="291896"/>
                  </a:lnTo>
                  <a:lnTo>
                    <a:pt x="668401" y="291896"/>
                  </a:lnTo>
                  <a:lnTo>
                    <a:pt x="667955" y="290801"/>
                  </a:lnTo>
                  <a:close/>
                </a:path>
                <a:path w="1369060" h="621665">
                  <a:moveTo>
                    <a:pt x="667766" y="290067"/>
                  </a:moveTo>
                  <a:lnTo>
                    <a:pt x="667955" y="290801"/>
                  </a:lnTo>
                  <a:lnTo>
                    <a:pt x="668401" y="291896"/>
                  </a:lnTo>
                  <a:lnTo>
                    <a:pt x="667766" y="290067"/>
                  </a:lnTo>
                  <a:close/>
                </a:path>
                <a:path w="1369060" h="621665">
                  <a:moveTo>
                    <a:pt x="694463" y="290067"/>
                  </a:moveTo>
                  <a:lnTo>
                    <a:pt x="667766" y="290067"/>
                  </a:lnTo>
                  <a:lnTo>
                    <a:pt x="668401" y="291896"/>
                  </a:lnTo>
                  <a:lnTo>
                    <a:pt x="694915" y="291896"/>
                  </a:lnTo>
                  <a:lnTo>
                    <a:pt x="694463" y="290067"/>
                  </a:lnTo>
                  <a:close/>
                </a:path>
                <a:path w="1369060" h="621665">
                  <a:moveTo>
                    <a:pt x="71932" y="47805"/>
                  </a:moveTo>
                  <a:lnTo>
                    <a:pt x="51314" y="59510"/>
                  </a:lnTo>
                  <a:lnTo>
                    <a:pt x="75419" y="73949"/>
                  </a:lnTo>
                  <a:lnTo>
                    <a:pt x="95123" y="75069"/>
                  </a:lnTo>
                  <a:lnTo>
                    <a:pt x="126618" y="77444"/>
                  </a:lnTo>
                  <a:lnTo>
                    <a:pt x="188722" y="84239"/>
                  </a:lnTo>
                  <a:lnTo>
                    <a:pt x="249174" y="93319"/>
                  </a:lnTo>
                  <a:lnTo>
                    <a:pt x="307720" y="104647"/>
                  </a:lnTo>
                  <a:lnTo>
                    <a:pt x="363728" y="117957"/>
                  </a:lnTo>
                  <a:lnTo>
                    <a:pt x="416687" y="133032"/>
                  </a:lnTo>
                  <a:lnTo>
                    <a:pt x="466089" y="149796"/>
                  </a:lnTo>
                  <a:lnTo>
                    <a:pt x="511429" y="167906"/>
                  </a:lnTo>
                  <a:lnTo>
                    <a:pt x="552323" y="187210"/>
                  </a:lnTo>
                  <a:lnTo>
                    <a:pt x="587756" y="207530"/>
                  </a:lnTo>
                  <a:lnTo>
                    <a:pt x="630428" y="239217"/>
                  </a:lnTo>
                  <a:lnTo>
                    <a:pt x="658494" y="271208"/>
                  </a:lnTo>
                  <a:lnTo>
                    <a:pt x="667955" y="290801"/>
                  </a:lnTo>
                  <a:lnTo>
                    <a:pt x="667766" y="290067"/>
                  </a:lnTo>
                  <a:lnTo>
                    <a:pt x="694463" y="290067"/>
                  </a:lnTo>
                  <a:lnTo>
                    <a:pt x="692912" y="283794"/>
                  </a:lnTo>
                  <a:lnTo>
                    <a:pt x="692785" y="283171"/>
                  </a:lnTo>
                  <a:lnTo>
                    <a:pt x="670306" y="243535"/>
                  </a:lnTo>
                  <a:lnTo>
                    <a:pt x="633222" y="207759"/>
                  </a:lnTo>
                  <a:lnTo>
                    <a:pt x="601091" y="185356"/>
                  </a:lnTo>
                  <a:lnTo>
                    <a:pt x="563626" y="163956"/>
                  </a:lnTo>
                  <a:lnTo>
                    <a:pt x="521462" y="144017"/>
                  </a:lnTo>
                  <a:lnTo>
                    <a:pt x="474725" y="125361"/>
                  </a:lnTo>
                  <a:lnTo>
                    <a:pt x="424180" y="108216"/>
                  </a:lnTo>
                  <a:lnTo>
                    <a:pt x="370078" y="92811"/>
                  </a:lnTo>
                  <a:lnTo>
                    <a:pt x="312928" y="79260"/>
                  </a:lnTo>
                  <a:lnTo>
                    <a:pt x="253364" y="67729"/>
                  </a:lnTo>
                  <a:lnTo>
                    <a:pt x="191769" y="58521"/>
                  </a:lnTo>
                  <a:lnTo>
                    <a:pt x="128650" y="51600"/>
                  </a:lnTo>
                  <a:lnTo>
                    <a:pt x="96647" y="49212"/>
                  </a:lnTo>
                  <a:lnTo>
                    <a:pt x="71932" y="47805"/>
                  </a:lnTo>
                  <a:close/>
                </a:path>
                <a:path w="1369060" h="621665">
                  <a:moveTo>
                    <a:pt x="103759" y="0"/>
                  </a:moveTo>
                  <a:lnTo>
                    <a:pt x="0" y="58902"/>
                  </a:lnTo>
                  <a:lnTo>
                    <a:pt x="96181" y="116598"/>
                  </a:lnTo>
                  <a:lnTo>
                    <a:pt x="102362" y="120256"/>
                  </a:lnTo>
                  <a:lnTo>
                    <a:pt x="110236" y="118262"/>
                  </a:lnTo>
                  <a:lnTo>
                    <a:pt x="117601" y="105981"/>
                  </a:lnTo>
                  <a:lnTo>
                    <a:pt x="115569" y="98031"/>
                  </a:lnTo>
                  <a:lnTo>
                    <a:pt x="75419" y="73949"/>
                  </a:lnTo>
                  <a:lnTo>
                    <a:pt x="63626" y="73278"/>
                  </a:lnTo>
                  <a:lnTo>
                    <a:pt x="32004" y="72237"/>
                  </a:lnTo>
                  <a:lnTo>
                    <a:pt x="25526" y="72161"/>
                  </a:lnTo>
                  <a:lnTo>
                    <a:pt x="25781" y="46253"/>
                  </a:lnTo>
                  <a:lnTo>
                    <a:pt x="74667" y="46253"/>
                  </a:lnTo>
                  <a:lnTo>
                    <a:pt x="116459" y="22529"/>
                  </a:lnTo>
                  <a:lnTo>
                    <a:pt x="118744" y="14617"/>
                  </a:lnTo>
                  <a:lnTo>
                    <a:pt x="111632" y="2171"/>
                  </a:lnTo>
                  <a:lnTo>
                    <a:pt x="103759" y="0"/>
                  </a:lnTo>
                  <a:close/>
                </a:path>
                <a:path w="1369060" h="621665">
                  <a:moveTo>
                    <a:pt x="25781" y="46253"/>
                  </a:moveTo>
                  <a:lnTo>
                    <a:pt x="25526" y="72161"/>
                  </a:lnTo>
                  <a:lnTo>
                    <a:pt x="32004" y="72237"/>
                  </a:lnTo>
                  <a:lnTo>
                    <a:pt x="63626" y="73278"/>
                  </a:lnTo>
                  <a:lnTo>
                    <a:pt x="75419" y="73949"/>
                  </a:lnTo>
                  <a:lnTo>
                    <a:pt x="69615" y="70472"/>
                  </a:lnTo>
                  <a:lnTo>
                    <a:pt x="32004" y="70472"/>
                  </a:lnTo>
                  <a:lnTo>
                    <a:pt x="32257" y="48094"/>
                  </a:lnTo>
                  <a:lnTo>
                    <a:pt x="71423" y="48094"/>
                  </a:lnTo>
                  <a:lnTo>
                    <a:pt x="71932" y="47805"/>
                  </a:lnTo>
                  <a:lnTo>
                    <a:pt x="64516" y="47383"/>
                  </a:lnTo>
                  <a:lnTo>
                    <a:pt x="32257" y="46329"/>
                  </a:lnTo>
                  <a:lnTo>
                    <a:pt x="25781" y="46253"/>
                  </a:lnTo>
                  <a:close/>
                </a:path>
                <a:path w="1369060" h="621665">
                  <a:moveTo>
                    <a:pt x="32257" y="48094"/>
                  </a:moveTo>
                  <a:lnTo>
                    <a:pt x="32004" y="70472"/>
                  </a:lnTo>
                  <a:lnTo>
                    <a:pt x="51314" y="59510"/>
                  </a:lnTo>
                  <a:lnTo>
                    <a:pt x="32257" y="48094"/>
                  </a:lnTo>
                  <a:close/>
                </a:path>
                <a:path w="1369060" h="621665">
                  <a:moveTo>
                    <a:pt x="51314" y="59510"/>
                  </a:moveTo>
                  <a:lnTo>
                    <a:pt x="32004" y="70472"/>
                  </a:lnTo>
                  <a:lnTo>
                    <a:pt x="69615" y="70472"/>
                  </a:lnTo>
                  <a:lnTo>
                    <a:pt x="51314" y="59510"/>
                  </a:lnTo>
                  <a:close/>
                </a:path>
                <a:path w="1369060" h="621665">
                  <a:moveTo>
                    <a:pt x="71423" y="48094"/>
                  </a:moveTo>
                  <a:lnTo>
                    <a:pt x="32257" y="48094"/>
                  </a:lnTo>
                  <a:lnTo>
                    <a:pt x="51314" y="59510"/>
                  </a:lnTo>
                  <a:lnTo>
                    <a:pt x="71423" y="48094"/>
                  </a:lnTo>
                  <a:close/>
                </a:path>
                <a:path w="1369060" h="621665">
                  <a:moveTo>
                    <a:pt x="74667" y="46253"/>
                  </a:moveTo>
                  <a:lnTo>
                    <a:pt x="25781" y="46253"/>
                  </a:lnTo>
                  <a:lnTo>
                    <a:pt x="32257" y="46329"/>
                  </a:lnTo>
                  <a:lnTo>
                    <a:pt x="64516" y="47383"/>
                  </a:lnTo>
                  <a:lnTo>
                    <a:pt x="71932" y="47805"/>
                  </a:lnTo>
                  <a:lnTo>
                    <a:pt x="74667" y="4625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10" name="object 11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98620" y="5308091"/>
              <a:ext cx="1391412" cy="816876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356353" y="5387466"/>
              <a:ext cx="1080135" cy="622300"/>
            </a:xfrm>
            <a:custGeom>
              <a:avLst/>
              <a:gdLst/>
              <a:ahLst/>
              <a:cxnLst/>
              <a:rect l="l" t="t" r="r" b="b"/>
              <a:pathLst>
                <a:path w="1080135" h="622300">
                  <a:moveTo>
                    <a:pt x="102108" y="501662"/>
                  </a:moveTo>
                  <a:lnTo>
                    <a:pt x="0" y="563372"/>
                  </a:lnTo>
                  <a:lnTo>
                    <a:pt x="103886" y="621919"/>
                  </a:lnTo>
                  <a:lnTo>
                    <a:pt x="111887" y="619709"/>
                  </a:lnTo>
                  <a:lnTo>
                    <a:pt x="115316" y="613473"/>
                  </a:lnTo>
                  <a:lnTo>
                    <a:pt x="118872" y="607237"/>
                  </a:lnTo>
                  <a:lnTo>
                    <a:pt x="116586" y="599338"/>
                  </a:lnTo>
                  <a:lnTo>
                    <a:pt x="75016" y="575919"/>
                  </a:lnTo>
                  <a:lnTo>
                    <a:pt x="26162" y="575919"/>
                  </a:lnTo>
                  <a:lnTo>
                    <a:pt x="25146" y="550037"/>
                  </a:lnTo>
                  <a:lnTo>
                    <a:pt x="74803" y="547217"/>
                  </a:lnTo>
                  <a:lnTo>
                    <a:pt x="115443" y="523836"/>
                  </a:lnTo>
                  <a:lnTo>
                    <a:pt x="117475" y="515874"/>
                  </a:lnTo>
                  <a:lnTo>
                    <a:pt x="110109" y="503631"/>
                  </a:lnTo>
                  <a:lnTo>
                    <a:pt x="102108" y="501662"/>
                  </a:lnTo>
                  <a:close/>
                </a:path>
                <a:path w="1080135" h="622300">
                  <a:moveTo>
                    <a:pt x="77195" y="546979"/>
                  </a:moveTo>
                  <a:lnTo>
                    <a:pt x="74803" y="547217"/>
                  </a:lnTo>
                  <a:lnTo>
                    <a:pt x="50037" y="548995"/>
                  </a:lnTo>
                  <a:lnTo>
                    <a:pt x="25146" y="550037"/>
                  </a:lnTo>
                  <a:lnTo>
                    <a:pt x="26162" y="575919"/>
                  </a:lnTo>
                  <a:lnTo>
                    <a:pt x="51054" y="574890"/>
                  </a:lnTo>
                  <a:lnTo>
                    <a:pt x="62554" y="574065"/>
                  </a:lnTo>
                  <a:lnTo>
                    <a:pt x="32385" y="574065"/>
                  </a:lnTo>
                  <a:lnTo>
                    <a:pt x="32004" y="551688"/>
                  </a:lnTo>
                  <a:lnTo>
                    <a:pt x="69405" y="551688"/>
                  </a:lnTo>
                  <a:lnTo>
                    <a:pt x="77195" y="546979"/>
                  </a:lnTo>
                  <a:close/>
                </a:path>
                <a:path w="1080135" h="622300">
                  <a:moveTo>
                    <a:pt x="70688" y="573481"/>
                  </a:moveTo>
                  <a:lnTo>
                    <a:pt x="51054" y="574890"/>
                  </a:lnTo>
                  <a:lnTo>
                    <a:pt x="26162" y="575919"/>
                  </a:lnTo>
                  <a:lnTo>
                    <a:pt x="75016" y="575919"/>
                  </a:lnTo>
                  <a:lnTo>
                    <a:pt x="70688" y="573481"/>
                  </a:lnTo>
                  <a:close/>
                </a:path>
                <a:path w="1080135" h="622300">
                  <a:moveTo>
                    <a:pt x="32004" y="551688"/>
                  </a:moveTo>
                  <a:lnTo>
                    <a:pt x="32385" y="574065"/>
                  </a:lnTo>
                  <a:lnTo>
                    <a:pt x="51362" y="562594"/>
                  </a:lnTo>
                  <a:lnTo>
                    <a:pt x="32004" y="551688"/>
                  </a:lnTo>
                  <a:close/>
                </a:path>
                <a:path w="1080135" h="622300">
                  <a:moveTo>
                    <a:pt x="51362" y="562594"/>
                  </a:moveTo>
                  <a:lnTo>
                    <a:pt x="32385" y="574065"/>
                  </a:lnTo>
                  <a:lnTo>
                    <a:pt x="62554" y="574065"/>
                  </a:lnTo>
                  <a:lnTo>
                    <a:pt x="70688" y="573481"/>
                  </a:lnTo>
                  <a:lnTo>
                    <a:pt x="51362" y="562594"/>
                  </a:lnTo>
                  <a:close/>
                </a:path>
                <a:path w="1080135" h="622300">
                  <a:moveTo>
                    <a:pt x="1008951" y="48454"/>
                  </a:moveTo>
                  <a:lnTo>
                    <a:pt x="952119" y="54483"/>
                  </a:lnTo>
                  <a:lnTo>
                    <a:pt x="902588" y="62611"/>
                  </a:lnTo>
                  <a:lnTo>
                    <a:pt x="831215" y="79248"/>
                  </a:lnTo>
                  <a:lnTo>
                    <a:pt x="786003" y="92837"/>
                  </a:lnTo>
                  <a:lnTo>
                    <a:pt x="742950" y="108458"/>
                  </a:lnTo>
                  <a:lnTo>
                    <a:pt x="702818" y="125730"/>
                  </a:lnTo>
                  <a:lnTo>
                    <a:pt x="665734" y="144653"/>
                  </a:lnTo>
                  <a:lnTo>
                    <a:pt x="632079" y="164973"/>
                  </a:lnTo>
                  <a:lnTo>
                    <a:pt x="588899" y="197866"/>
                  </a:lnTo>
                  <a:lnTo>
                    <a:pt x="555751" y="233438"/>
                  </a:lnTo>
                  <a:lnTo>
                    <a:pt x="534288" y="271640"/>
                  </a:lnTo>
                  <a:lnTo>
                    <a:pt x="526796" y="310121"/>
                  </a:lnTo>
                  <a:lnTo>
                    <a:pt x="526288" y="320205"/>
                  </a:lnTo>
                  <a:lnTo>
                    <a:pt x="524256" y="330669"/>
                  </a:lnTo>
                  <a:lnTo>
                    <a:pt x="503047" y="372884"/>
                  </a:lnTo>
                  <a:lnTo>
                    <a:pt x="473456" y="404698"/>
                  </a:lnTo>
                  <a:lnTo>
                    <a:pt x="433197" y="435343"/>
                  </a:lnTo>
                  <a:lnTo>
                    <a:pt x="384048" y="463816"/>
                  </a:lnTo>
                  <a:lnTo>
                    <a:pt x="346837" y="481203"/>
                  </a:lnTo>
                  <a:lnTo>
                    <a:pt x="306705" y="497116"/>
                  </a:lnTo>
                  <a:lnTo>
                    <a:pt x="263779" y="511302"/>
                  </a:lnTo>
                  <a:lnTo>
                    <a:pt x="195580" y="528967"/>
                  </a:lnTo>
                  <a:lnTo>
                    <a:pt x="148082" y="538086"/>
                  </a:lnTo>
                  <a:lnTo>
                    <a:pt x="99441" y="544766"/>
                  </a:lnTo>
                  <a:lnTo>
                    <a:pt x="77195" y="546979"/>
                  </a:lnTo>
                  <a:lnTo>
                    <a:pt x="51362" y="562594"/>
                  </a:lnTo>
                  <a:lnTo>
                    <a:pt x="70688" y="573481"/>
                  </a:lnTo>
                  <a:lnTo>
                    <a:pt x="76708" y="573049"/>
                  </a:lnTo>
                  <a:lnTo>
                    <a:pt x="101981" y="570547"/>
                  </a:lnTo>
                  <a:lnTo>
                    <a:pt x="152019" y="563702"/>
                  </a:lnTo>
                  <a:lnTo>
                    <a:pt x="200787" y="554342"/>
                  </a:lnTo>
                  <a:lnTo>
                    <a:pt x="247904" y="542810"/>
                  </a:lnTo>
                  <a:lnTo>
                    <a:pt x="293243" y="529145"/>
                  </a:lnTo>
                  <a:lnTo>
                    <a:pt x="336296" y="513562"/>
                  </a:lnTo>
                  <a:lnTo>
                    <a:pt x="376428" y="496328"/>
                  </a:lnTo>
                  <a:lnTo>
                    <a:pt x="413512" y="477456"/>
                  </a:lnTo>
                  <a:lnTo>
                    <a:pt x="447040" y="457276"/>
                  </a:lnTo>
                  <a:lnTo>
                    <a:pt x="490093" y="424484"/>
                  </a:lnTo>
                  <a:lnTo>
                    <a:pt x="523113" y="389255"/>
                  </a:lnTo>
                  <a:lnTo>
                    <a:pt x="544711" y="351561"/>
                  </a:lnTo>
                  <a:lnTo>
                    <a:pt x="552704" y="311797"/>
                  </a:lnTo>
                  <a:lnTo>
                    <a:pt x="553466" y="299986"/>
                  </a:lnTo>
                  <a:lnTo>
                    <a:pt x="555625" y="289902"/>
                  </a:lnTo>
                  <a:lnTo>
                    <a:pt x="577088" y="248094"/>
                  </a:lnTo>
                  <a:lnTo>
                    <a:pt x="606679" y="216623"/>
                  </a:lnTo>
                  <a:lnTo>
                    <a:pt x="646811" y="186309"/>
                  </a:lnTo>
                  <a:lnTo>
                    <a:pt x="695960" y="157861"/>
                  </a:lnTo>
                  <a:lnTo>
                    <a:pt x="733044" y="140589"/>
                  </a:lnTo>
                  <a:lnTo>
                    <a:pt x="773303" y="124714"/>
                  </a:lnTo>
                  <a:lnTo>
                    <a:pt x="816101" y="110490"/>
                  </a:lnTo>
                  <a:lnTo>
                    <a:pt x="884428" y="92837"/>
                  </a:lnTo>
                  <a:lnTo>
                    <a:pt x="931799" y="83820"/>
                  </a:lnTo>
                  <a:lnTo>
                    <a:pt x="980567" y="76962"/>
                  </a:lnTo>
                  <a:lnTo>
                    <a:pt x="1002390" y="74926"/>
                  </a:lnTo>
                  <a:lnTo>
                    <a:pt x="1028258" y="59326"/>
                  </a:lnTo>
                  <a:lnTo>
                    <a:pt x="1008951" y="48454"/>
                  </a:lnTo>
                  <a:close/>
                </a:path>
                <a:path w="1080135" h="622300">
                  <a:moveTo>
                    <a:pt x="69405" y="551688"/>
                  </a:moveTo>
                  <a:lnTo>
                    <a:pt x="32004" y="551688"/>
                  </a:lnTo>
                  <a:lnTo>
                    <a:pt x="51362" y="562594"/>
                  </a:lnTo>
                  <a:lnTo>
                    <a:pt x="69405" y="551688"/>
                  </a:lnTo>
                  <a:close/>
                </a:path>
                <a:path w="1080135" h="622300">
                  <a:moveTo>
                    <a:pt x="1057268" y="45974"/>
                  </a:moveTo>
                  <a:lnTo>
                    <a:pt x="1053338" y="45974"/>
                  </a:lnTo>
                  <a:lnTo>
                    <a:pt x="1054481" y="71882"/>
                  </a:lnTo>
                  <a:lnTo>
                    <a:pt x="1029970" y="72898"/>
                  </a:lnTo>
                  <a:lnTo>
                    <a:pt x="1005078" y="74676"/>
                  </a:lnTo>
                  <a:lnTo>
                    <a:pt x="1002390" y="74926"/>
                  </a:lnTo>
                  <a:lnTo>
                    <a:pt x="964057" y="98044"/>
                  </a:lnTo>
                  <a:lnTo>
                    <a:pt x="962151" y="106045"/>
                  </a:lnTo>
                  <a:lnTo>
                    <a:pt x="969518" y="118237"/>
                  </a:lnTo>
                  <a:lnTo>
                    <a:pt x="977519" y="120269"/>
                  </a:lnTo>
                  <a:lnTo>
                    <a:pt x="1079627" y="58547"/>
                  </a:lnTo>
                  <a:lnTo>
                    <a:pt x="1057268" y="45974"/>
                  </a:lnTo>
                  <a:close/>
                </a:path>
                <a:path w="1080135" h="622300">
                  <a:moveTo>
                    <a:pt x="1028258" y="59326"/>
                  </a:moveTo>
                  <a:lnTo>
                    <a:pt x="1002390" y="74926"/>
                  </a:lnTo>
                  <a:lnTo>
                    <a:pt x="1005078" y="74676"/>
                  </a:lnTo>
                  <a:lnTo>
                    <a:pt x="1029970" y="72898"/>
                  </a:lnTo>
                  <a:lnTo>
                    <a:pt x="1054481" y="71882"/>
                  </a:lnTo>
                  <a:lnTo>
                    <a:pt x="1054408" y="70231"/>
                  </a:lnTo>
                  <a:lnTo>
                    <a:pt x="1047623" y="70231"/>
                  </a:lnTo>
                  <a:lnTo>
                    <a:pt x="1028258" y="59326"/>
                  </a:lnTo>
                  <a:close/>
                </a:path>
                <a:path w="1080135" h="622300">
                  <a:moveTo>
                    <a:pt x="1047242" y="47879"/>
                  </a:moveTo>
                  <a:lnTo>
                    <a:pt x="1028258" y="59326"/>
                  </a:lnTo>
                  <a:lnTo>
                    <a:pt x="1047623" y="70231"/>
                  </a:lnTo>
                  <a:lnTo>
                    <a:pt x="1047242" y="47879"/>
                  </a:lnTo>
                  <a:close/>
                </a:path>
                <a:path w="1080135" h="622300">
                  <a:moveTo>
                    <a:pt x="1053422" y="47879"/>
                  </a:moveTo>
                  <a:lnTo>
                    <a:pt x="1047242" y="47879"/>
                  </a:lnTo>
                  <a:lnTo>
                    <a:pt x="1047623" y="70231"/>
                  </a:lnTo>
                  <a:lnTo>
                    <a:pt x="1054408" y="70231"/>
                  </a:lnTo>
                  <a:lnTo>
                    <a:pt x="1053422" y="47879"/>
                  </a:lnTo>
                  <a:close/>
                </a:path>
                <a:path w="1080135" h="622300">
                  <a:moveTo>
                    <a:pt x="1053338" y="45974"/>
                  </a:moveTo>
                  <a:lnTo>
                    <a:pt x="1028065" y="47117"/>
                  </a:lnTo>
                  <a:lnTo>
                    <a:pt x="1008951" y="48454"/>
                  </a:lnTo>
                  <a:lnTo>
                    <a:pt x="1028258" y="59326"/>
                  </a:lnTo>
                  <a:lnTo>
                    <a:pt x="1047242" y="47879"/>
                  </a:lnTo>
                  <a:lnTo>
                    <a:pt x="1053422" y="47879"/>
                  </a:lnTo>
                  <a:lnTo>
                    <a:pt x="1053338" y="45974"/>
                  </a:lnTo>
                  <a:close/>
                </a:path>
                <a:path w="1080135" h="622300">
                  <a:moveTo>
                    <a:pt x="975613" y="0"/>
                  </a:moveTo>
                  <a:lnTo>
                    <a:pt x="967740" y="2159"/>
                  </a:lnTo>
                  <a:lnTo>
                    <a:pt x="964184" y="8509"/>
                  </a:lnTo>
                  <a:lnTo>
                    <a:pt x="960755" y="14732"/>
                  </a:lnTo>
                  <a:lnTo>
                    <a:pt x="962913" y="22606"/>
                  </a:lnTo>
                  <a:lnTo>
                    <a:pt x="969137" y="26035"/>
                  </a:lnTo>
                  <a:lnTo>
                    <a:pt x="1008951" y="48454"/>
                  </a:lnTo>
                  <a:lnTo>
                    <a:pt x="1028065" y="47117"/>
                  </a:lnTo>
                  <a:lnTo>
                    <a:pt x="1053338" y="45974"/>
                  </a:lnTo>
                  <a:lnTo>
                    <a:pt x="1057268" y="45974"/>
                  </a:lnTo>
                  <a:lnTo>
                    <a:pt x="97561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12" name="object 11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57315" y="3867911"/>
              <a:ext cx="929627" cy="1203960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999988" y="4005833"/>
              <a:ext cx="791210" cy="1008380"/>
            </a:xfrm>
            <a:custGeom>
              <a:avLst/>
              <a:gdLst/>
              <a:ahLst/>
              <a:cxnLst/>
              <a:rect l="l" t="t" r="r" b="b"/>
              <a:pathLst>
                <a:path w="791209" h="1008379">
                  <a:moveTo>
                    <a:pt x="732284" y="51365"/>
                  </a:moveTo>
                  <a:lnTo>
                    <a:pt x="714612" y="79886"/>
                  </a:lnTo>
                  <a:lnTo>
                    <a:pt x="712851" y="91567"/>
                  </a:lnTo>
                  <a:lnTo>
                    <a:pt x="708533" y="114300"/>
                  </a:lnTo>
                  <a:lnTo>
                    <a:pt x="697357" y="158877"/>
                  </a:lnTo>
                  <a:lnTo>
                    <a:pt x="682879" y="202311"/>
                  </a:lnTo>
                  <a:lnTo>
                    <a:pt x="665480" y="244094"/>
                  </a:lnTo>
                  <a:lnTo>
                    <a:pt x="645287" y="283718"/>
                  </a:lnTo>
                  <a:lnTo>
                    <a:pt x="622808" y="321056"/>
                  </a:lnTo>
                  <a:lnTo>
                    <a:pt x="598042" y="355727"/>
                  </a:lnTo>
                  <a:lnTo>
                    <a:pt x="571500" y="387223"/>
                  </a:lnTo>
                  <a:lnTo>
                    <a:pt x="543433" y="415036"/>
                  </a:lnTo>
                  <a:lnTo>
                    <a:pt x="498856" y="449707"/>
                  </a:lnTo>
                  <a:lnTo>
                    <a:pt x="452627" y="474345"/>
                  </a:lnTo>
                  <a:lnTo>
                    <a:pt x="405511" y="488315"/>
                  </a:lnTo>
                  <a:lnTo>
                    <a:pt x="354964" y="491998"/>
                  </a:lnTo>
                  <a:lnTo>
                    <a:pt x="336931" y="494284"/>
                  </a:lnTo>
                  <a:lnTo>
                    <a:pt x="284225" y="509778"/>
                  </a:lnTo>
                  <a:lnTo>
                    <a:pt x="233679" y="536702"/>
                  </a:lnTo>
                  <a:lnTo>
                    <a:pt x="201422" y="560324"/>
                  </a:lnTo>
                  <a:lnTo>
                    <a:pt x="170814" y="588137"/>
                  </a:lnTo>
                  <a:lnTo>
                    <a:pt x="141859" y="619506"/>
                  </a:lnTo>
                  <a:lnTo>
                    <a:pt x="114935" y="654304"/>
                  </a:lnTo>
                  <a:lnTo>
                    <a:pt x="90170" y="692023"/>
                  </a:lnTo>
                  <a:lnTo>
                    <a:pt x="67817" y="732282"/>
                  </a:lnTo>
                  <a:lnTo>
                    <a:pt x="48260" y="774700"/>
                  </a:lnTo>
                  <a:lnTo>
                    <a:pt x="31496" y="819150"/>
                  </a:lnTo>
                  <a:lnTo>
                    <a:pt x="18161" y="865124"/>
                  </a:lnTo>
                  <a:lnTo>
                    <a:pt x="8254" y="912241"/>
                  </a:lnTo>
                  <a:lnTo>
                    <a:pt x="2159" y="960120"/>
                  </a:lnTo>
                  <a:lnTo>
                    <a:pt x="0" y="1007872"/>
                  </a:lnTo>
                  <a:lnTo>
                    <a:pt x="25908" y="1008380"/>
                  </a:lnTo>
                  <a:lnTo>
                    <a:pt x="26415" y="984758"/>
                  </a:lnTo>
                  <a:lnTo>
                    <a:pt x="27939" y="961898"/>
                  </a:lnTo>
                  <a:lnTo>
                    <a:pt x="33909" y="916051"/>
                  </a:lnTo>
                  <a:lnTo>
                    <a:pt x="43434" y="870966"/>
                  </a:lnTo>
                  <a:lnTo>
                    <a:pt x="56261" y="826897"/>
                  </a:lnTo>
                  <a:lnTo>
                    <a:pt x="72389" y="784352"/>
                  </a:lnTo>
                  <a:lnTo>
                    <a:pt x="91059" y="743585"/>
                  </a:lnTo>
                  <a:lnTo>
                    <a:pt x="112522" y="704977"/>
                  </a:lnTo>
                  <a:lnTo>
                    <a:pt x="136271" y="668909"/>
                  </a:lnTo>
                  <a:lnTo>
                    <a:pt x="161925" y="635889"/>
                  </a:lnTo>
                  <a:lnTo>
                    <a:pt x="189484" y="606044"/>
                  </a:lnTo>
                  <a:lnTo>
                    <a:pt x="218439" y="580009"/>
                  </a:lnTo>
                  <a:lnTo>
                    <a:pt x="263778" y="548640"/>
                  </a:lnTo>
                  <a:lnTo>
                    <a:pt x="310641" y="527558"/>
                  </a:lnTo>
                  <a:lnTo>
                    <a:pt x="358139" y="517652"/>
                  </a:lnTo>
                  <a:lnTo>
                    <a:pt x="390778" y="516255"/>
                  </a:lnTo>
                  <a:lnTo>
                    <a:pt x="408686" y="514096"/>
                  </a:lnTo>
                  <a:lnTo>
                    <a:pt x="461645" y="498729"/>
                  </a:lnTo>
                  <a:lnTo>
                    <a:pt x="512444" y="471805"/>
                  </a:lnTo>
                  <a:lnTo>
                    <a:pt x="544703" y="448183"/>
                  </a:lnTo>
                  <a:lnTo>
                    <a:pt x="575437" y="420370"/>
                  </a:lnTo>
                  <a:lnTo>
                    <a:pt x="604392" y="389001"/>
                  </a:lnTo>
                  <a:lnTo>
                    <a:pt x="631443" y="354330"/>
                  </a:lnTo>
                  <a:lnTo>
                    <a:pt x="656336" y="316611"/>
                  </a:lnTo>
                  <a:lnTo>
                    <a:pt x="678688" y="276352"/>
                  </a:lnTo>
                  <a:lnTo>
                    <a:pt x="698245" y="233807"/>
                  </a:lnTo>
                  <a:lnTo>
                    <a:pt x="715010" y="189357"/>
                  </a:lnTo>
                  <a:lnTo>
                    <a:pt x="728344" y="143510"/>
                  </a:lnTo>
                  <a:lnTo>
                    <a:pt x="738378" y="96520"/>
                  </a:lnTo>
                  <a:lnTo>
                    <a:pt x="742154" y="69392"/>
                  </a:lnTo>
                  <a:lnTo>
                    <a:pt x="732284" y="51365"/>
                  </a:lnTo>
                  <a:close/>
                </a:path>
                <a:path w="791209" h="1008379">
                  <a:moveTo>
                    <a:pt x="747245" y="24765"/>
                  </a:moveTo>
                  <a:lnTo>
                    <a:pt x="720089" y="24765"/>
                  </a:lnTo>
                  <a:lnTo>
                    <a:pt x="745997" y="26416"/>
                  </a:lnTo>
                  <a:lnTo>
                    <a:pt x="744473" y="48514"/>
                  </a:lnTo>
                  <a:lnTo>
                    <a:pt x="742154" y="69392"/>
                  </a:lnTo>
                  <a:lnTo>
                    <a:pt x="764793" y="110744"/>
                  </a:lnTo>
                  <a:lnTo>
                    <a:pt x="768222" y="117094"/>
                  </a:lnTo>
                  <a:lnTo>
                    <a:pt x="776096" y="119380"/>
                  </a:lnTo>
                  <a:lnTo>
                    <a:pt x="782446" y="115951"/>
                  </a:lnTo>
                  <a:lnTo>
                    <a:pt x="788669" y="112522"/>
                  </a:lnTo>
                  <a:lnTo>
                    <a:pt x="790956" y="104648"/>
                  </a:lnTo>
                  <a:lnTo>
                    <a:pt x="787527" y="98298"/>
                  </a:lnTo>
                  <a:lnTo>
                    <a:pt x="747245" y="24765"/>
                  </a:lnTo>
                  <a:close/>
                </a:path>
                <a:path w="791209" h="1008379">
                  <a:moveTo>
                    <a:pt x="733679" y="0"/>
                  </a:moveTo>
                  <a:lnTo>
                    <a:pt x="674496" y="95250"/>
                  </a:lnTo>
                  <a:lnTo>
                    <a:pt x="670813" y="101346"/>
                  </a:lnTo>
                  <a:lnTo>
                    <a:pt x="672591" y="109347"/>
                  </a:lnTo>
                  <a:lnTo>
                    <a:pt x="678688" y="113157"/>
                  </a:lnTo>
                  <a:lnTo>
                    <a:pt x="684784" y="116840"/>
                  </a:lnTo>
                  <a:lnTo>
                    <a:pt x="692785" y="115062"/>
                  </a:lnTo>
                  <a:lnTo>
                    <a:pt x="714612" y="79886"/>
                  </a:lnTo>
                  <a:lnTo>
                    <a:pt x="720089" y="24765"/>
                  </a:lnTo>
                  <a:lnTo>
                    <a:pt x="747245" y="24765"/>
                  </a:lnTo>
                  <a:lnTo>
                    <a:pt x="733679" y="0"/>
                  </a:lnTo>
                  <a:close/>
                </a:path>
                <a:path w="791209" h="1008379">
                  <a:moveTo>
                    <a:pt x="720089" y="24765"/>
                  </a:moveTo>
                  <a:lnTo>
                    <a:pt x="718692" y="45720"/>
                  </a:lnTo>
                  <a:lnTo>
                    <a:pt x="716280" y="68834"/>
                  </a:lnTo>
                  <a:lnTo>
                    <a:pt x="714612" y="79886"/>
                  </a:lnTo>
                  <a:lnTo>
                    <a:pt x="732284" y="51365"/>
                  </a:lnTo>
                  <a:lnTo>
                    <a:pt x="721613" y="31877"/>
                  </a:lnTo>
                  <a:lnTo>
                    <a:pt x="745621" y="31877"/>
                  </a:lnTo>
                  <a:lnTo>
                    <a:pt x="745997" y="26416"/>
                  </a:lnTo>
                  <a:lnTo>
                    <a:pt x="720089" y="24765"/>
                  </a:lnTo>
                  <a:close/>
                </a:path>
                <a:path w="791209" h="1008379">
                  <a:moveTo>
                    <a:pt x="745621" y="31877"/>
                  </a:moveTo>
                  <a:lnTo>
                    <a:pt x="721613" y="31877"/>
                  </a:lnTo>
                  <a:lnTo>
                    <a:pt x="743965" y="32512"/>
                  </a:lnTo>
                  <a:lnTo>
                    <a:pt x="732284" y="51365"/>
                  </a:lnTo>
                  <a:lnTo>
                    <a:pt x="742154" y="69392"/>
                  </a:lnTo>
                  <a:lnTo>
                    <a:pt x="744473" y="48514"/>
                  </a:lnTo>
                  <a:lnTo>
                    <a:pt x="745621" y="31877"/>
                  </a:lnTo>
                  <a:close/>
                </a:path>
                <a:path w="791209" h="1008379">
                  <a:moveTo>
                    <a:pt x="721613" y="31877"/>
                  </a:moveTo>
                  <a:lnTo>
                    <a:pt x="732284" y="51365"/>
                  </a:lnTo>
                  <a:lnTo>
                    <a:pt x="743965" y="32512"/>
                  </a:lnTo>
                  <a:lnTo>
                    <a:pt x="721613" y="3187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14" name="object 11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28359" y="1851660"/>
              <a:ext cx="856475" cy="127558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027927" y="1989582"/>
              <a:ext cx="718820" cy="1080135"/>
            </a:xfrm>
            <a:custGeom>
              <a:avLst/>
              <a:gdLst/>
              <a:ahLst/>
              <a:cxnLst/>
              <a:rect l="l" t="t" r="r" b="b"/>
              <a:pathLst>
                <a:path w="718820" h="1080135">
                  <a:moveTo>
                    <a:pt x="59182" y="51334"/>
                  </a:moveTo>
                  <a:lnTo>
                    <a:pt x="48750" y="70018"/>
                  </a:lnTo>
                  <a:lnTo>
                    <a:pt x="49402" y="77342"/>
                  </a:lnTo>
                  <a:lnTo>
                    <a:pt x="52577" y="102742"/>
                  </a:lnTo>
                  <a:lnTo>
                    <a:pt x="61595" y="152907"/>
                  </a:lnTo>
                  <a:lnTo>
                    <a:pt x="73533" y="201929"/>
                  </a:lnTo>
                  <a:lnTo>
                    <a:pt x="88519" y="249300"/>
                  </a:lnTo>
                  <a:lnTo>
                    <a:pt x="106172" y="294639"/>
                  </a:lnTo>
                  <a:lnTo>
                    <a:pt x="126111" y="337692"/>
                  </a:lnTo>
                  <a:lnTo>
                    <a:pt x="148336" y="377951"/>
                  </a:lnTo>
                  <a:lnTo>
                    <a:pt x="172593" y="415035"/>
                  </a:lnTo>
                  <a:lnTo>
                    <a:pt x="198627" y="448690"/>
                  </a:lnTo>
                  <a:lnTo>
                    <a:pt x="226313" y="478408"/>
                  </a:lnTo>
                  <a:lnTo>
                    <a:pt x="255524" y="503808"/>
                  </a:lnTo>
                  <a:lnTo>
                    <a:pt x="301498" y="532891"/>
                  </a:lnTo>
                  <a:lnTo>
                    <a:pt x="349758" y="549401"/>
                  </a:lnTo>
                  <a:lnTo>
                    <a:pt x="395224" y="553338"/>
                  </a:lnTo>
                  <a:lnTo>
                    <a:pt x="409194" y="555370"/>
                  </a:lnTo>
                  <a:lnTo>
                    <a:pt x="451104" y="569976"/>
                  </a:lnTo>
                  <a:lnTo>
                    <a:pt x="492632" y="596138"/>
                  </a:lnTo>
                  <a:lnTo>
                    <a:pt x="532765" y="633094"/>
                  </a:lnTo>
                  <a:lnTo>
                    <a:pt x="558165" y="663066"/>
                  </a:lnTo>
                  <a:lnTo>
                    <a:pt x="582041" y="696721"/>
                  </a:lnTo>
                  <a:lnTo>
                    <a:pt x="604266" y="733932"/>
                  </a:lnTo>
                  <a:lnTo>
                    <a:pt x="624713" y="773938"/>
                  </a:lnTo>
                  <a:lnTo>
                    <a:pt x="642874" y="816737"/>
                  </a:lnTo>
                  <a:lnTo>
                    <a:pt x="658622" y="861567"/>
                  </a:lnTo>
                  <a:lnTo>
                    <a:pt x="671702" y="908176"/>
                  </a:lnTo>
                  <a:lnTo>
                    <a:pt x="681863" y="956055"/>
                  </a:lnTo>
                  <a:lnTo>
                    <a:pt x="688848" y="1004951"/>
                  </a:lnTo>
                  <a:lnTo>
                    <a:pt x="692403" y="1054480"/>
                  </a:lnTo>
                  <a:lnTo>
                    <a:pt x="692912" y="1079753"/>
                  </a:lnTo>
                  <a:lnTo>
                    <a:pt x="718820" y="1079372"/>
                  </a:lnTo>
                  <a:lnTo>
                    <a:pt x="716915" y="1028191"/>
                  </a:lnTo>
                  <a:lnTo>
                    <a:pt x="711453" y="977264"/>
                  </a:lnTo>
                  <a:lnTo>
                    <a:pt x="702564" y="927100"/>
                  </a:lnTo>
                  <a:lnTo>
                    <a:pt x="690626" y="878077"/>
                  </a:lnTo>
                  <a:lnTo>
                    <a:pt x="675640" y="830706"/>
                  </a:lnTo>
                  <a:lnTo>
                    <a:pt x="657987" y="785367"/>
                  </a:lnTo>
                  <a:lnTo>
                    <a:pt x="638048" y="742188"/>
                  </a:lnTo>
                  <a:lnTo>
                    <a:pt x="615823" y="702055"/>
                  </a:lnTo>
                  <a:lnTo>
                    <a:pt x="591693" y="664844"/>
                  </a:lnTo>
                  <a:lnTo>
                    <a:pt x="565785" y="631316"/>
                  </a:lnTo>
                  <a:lnTo>
                    <a:pt x="538099" y="601598"/>
                  </a:lnTo>
                  <a:lnTo>
                    <a:pt x="509143" y="576198"/>
                  </a:lnTo>
                  <a:lnTo>
                    <a:pt x="463423" y="547115"/>
                  </a:lnTo>
                  <a:lnTo>
                    <a:pt x="415417" y="530225"/>
                  </a:lnTo>
                  <a:lnTo>
                    <a:pt x="367538" y="526033"/>
                  </a:lnTo>
                  <a:lnTo>
                    <a:pt x="353695" y="523875"/>
                  </a:lnTo>
                  <a:lnTo>
                    <a:pt x="312038" y="509142"/>
                  </a:lnTo>
                  <a:lnTo>
                    <a:pt x="270763" y="482980"/>
                  </a:lnTo>
                  <a:lnTo>
                    <a:pt x="230886" y="446023"/>
                  </a:lnTo>
                  <a:lnTo>
                    <a:pt x="205612" y="416051"/>
                  </a:lnTo>
                  <a:lnTo>
                    <a:pt x="181610" y="382396"/>
                  </a:lnTo>
                  <a:lnTo>
                    <a:pt x="159512" y="345313"/>
                  </a:lnTo>
                  <a:lnTo>
                    <a:pt x="139192" y="305180"/>
                  </a:lnTo>
                  <a:lnTo>
                    <a:pt x="121031" y="262508"/>
                  </a:lnTo>
                  <a:lnTo>
                    <a:pt x="105283" y="217677"/>
                  </a:lnTo>
                  <a:lnTo>
                    <a:pt x="92201" y="171068"/>
                  </a:lnTo>
                  <a:lnTo>
                    <a:pt x="82169" y="123062"/>
                  </a:lnTo>
                  <a:lnTo>
                    <a:pt x="75582" y="78222"/>
                  </a:lnTo>
                  <a:lnTo>
                    <a:pt x="59182" y="51334"/>
                  </a:lnTo>
                  <a:close/>
                </a:path>
                <a:path w="718820" h="1080135">
                  <a:moveTo>
                    <a:pt x="58166" y="0"/>
                  </a:moveTo>
                  <a:lnTo>
                    <a:pt x="3556" y="97916"/>
                  </a:lnTo>
                  <a:lnTo>
                    <a:pt x="0" y="104139"/>
                  </a:lnTo>
                  <a:lnTo>
                    <a:pt x="2286" y="112013"/>
                  </a:lnTo>
                  <a:lnTo>
                    <a:pt x="8509" y="115569"/>
                  </a:lnTo>
                  <a:lnTo>
                    <a:pt x="14732" y="118998"/>
                  </a:lnTo>
                  <a:lnTo>
                    <a:pt x="22606" y="116839"/>
                  </a:lnTo>
                  <a:lnTo>
                    <a:pt x="48750" y="70018"/>
                  </a:lnTo>
                  <a:lnTo>
                    <a:pt x="47117" y="51688"/>
                  </a:lnTo>
                  <a:lnTo>
                    <a:pt x="45720" y="26415"/>
                  </a:lnTo>
                  <a:lnTo>
                    <a:pt x="71627" y="24891"/>
                  </a:lnTo>
                  <a:lnTo>
                    <a:pt x="73352" y="24891"/>
                  </a:lnTo>
                  <a:lnTo>
                    <a:pt x="58166" y="0"/>
                  </a:lnTo>
                  <a:close/>
                </a:path>
                <a:path w="718820" h="1080135">
                  <a:moveTo>
                    <a:pt x="73352" y="24891"/>
                  </a:moveTo>
                  <a:lnTo>
                    <a:pt x="71627" y="24891"/>
                  </a:lnTo>
                  <a:lnTo>
                    <a:pt x="73025" y="49402"/>
                  </a:lnTo>
                  <a:lnTo>
                    <a:pt x="75057" y="74167"/>
                  </a:lnTo>
                  <a:lnTo>
                    <a:pt x="75582" y="78222"/>
                  </a:lnTo>
                  <a:lnTo>
                    <a:pt x="94487" y="109219"/>
                  </a:lnTo>
                  <a:lnTo>
                    <a:pt x="98171" y="115315"/>
                  </a:lnTo>
                  <a:lnTo>
                    <a:pt x="106172" y="117220"/>
                  </a:lnTo>
                  <a:lnTo>
                    <a:pt x="118363" y="109854"/>
                  </a:lnTo>
                  <a:lnTo>
                    <a:pt x="120269" y="101853"/>
                  </a:lnTo>
                  <a:lnTo>
                    <a:pt x="116586" y="95757"/>
                  </a:lnTo>
                  <a:lnTo>
                    <a:pt x="73352" y="24891"/>
                  </a:lnTo>
                  <a:close/>
                </a:path>
                <a:path w="718820" h="1080135">
                  <a:moveTo>
                    <a:pt x="72033" y="32003"/>
                  </a:moveTo>
                  <a:lnTo>
                    <a:pt x="69976" y="32003"/>
                  </a:lnTo>
                  <a:lnTo>
                    <a:pt x="59182" y="51334"/>
                  </a:lnTo>
                  <a:lnTo>
                    <a:pt x="75582" y="78222"/>
                  </a:lnTo>
                  <a:lnTo>
                    <a:pt x="75057" y="74167"/>
                  </a:lnTo>
                  <a:lnTo>
                    <a:pt x="73025" y="49402"/>
                  </a:lnTo>
                  <a:lnTo>
                    <a:pt x="72033" y="32003"/>
                  </a:lnTo>
                  <a:close/>
                </a:path>
                <a:path w="718820" h="1080135">
                  <a:moveTo>
                    <a:pt x="71627" y="24891"/>
                  </a:moveTo>
                  <a:lnTo>
                    <a:pt x="45720" y="26415"/>
                  </a:lnTo>
                  <a:lnTo>
                    <a:pt x="47117" y="51688"/>
                  </a:lnTo>
                  <a:lnTo>
                    <a:pt x="48750" y="70018"/>
                  </a:lnTo>
                  <a:lnTo>
                    <a:pt x="59182" y="51334"/>
                  </a:lnTo>
                  <a:lnTo>
                    <a:pt x="47625" y="32384"/>
                  </a:lnTo>
                  <a:lnTo>
                    <a:pt x="69976" y="32003"/>
                  </a:lnTo>
                  <a:lnTo>
                    <a:pt x="72033" y="32003"/>
                  </a:lnTo>
                  <a:lnTo>
                    <a:pt x="71627" y="24891"/>
                  </a:lnTo>
                  <a:close/>
                </a:path>
                <a:path w="718820" h="1080135">
                  <a:moveTo>
                    <a:pt x="69976" y="32003"/>
                  </a:moveTo>
                  <a:lnTo>
                    <a:pt x="47625" y="32384"/>
                  </a:lnTo>
                  <a:lnTo>
                    <a:pt x="59182" y="51334"/>
                  </a:lnTo>
                  <a:lnTo>
                    <a:pt x="69976" y="3200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16" name="object 11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83735" y="989037"/>
              <a:ext cx="1490472" cy="640118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4141470" y="1067815"/>
              <a:ext cx="1296035" cy="504190"/>
            </a:xfrm>
            <a:custGeom>
              <a:avLst/>
              <a:gdLst/>
              <a:ahLst/>
              <a:cxnLst/>
              <a:rect l="l" t="t" r="r" b="b"/>
              <a:pathLst>
                <a:path w="1296035" h="504190">
                  <a:moveTo>
                    <a:pt x="659879" y="266192"/>
                  </a:moveTo>
                  <a:lnTo>
                    <a:pt x="633856" y="266192"/>
                  </a:lnTo>
                  <a:lnTo>
                    <a:pt x="634238" y="268478"/>
                  </a:lnTo>
                  <a:lnTo>
                    <a:pt x="634057" y="268478"/>
                  </a:lnTo>
                  <a:lnTo>
                    <a:pt x="634745" y="276351"/>
                  </a:lnTo>
                  <a:lnTo>
                    <a:pt x="635762" y="286385"/>
                  </a:lnTo>
                  <a:lnTo>
                    <a:pt x="636142" y="288671"/>
                  </a:lnTo>
                  <a:lnTo>
                    <a:pt x="638937" y="298704"/>
                  </a:lnTo>
                  <a:lnTo>
                    <a:pt x="639063" y="299338"/>
                  </a:lnTo>
                  <a:lnTo>
                    <a:pt x="660907" y="334391"/>
                  </a:lnTo>
                  <a:lnTo>
                    <a:pt x="696087" y="365125"/>
                  </a:lnTo>
                  <a:lnTo>
                    <a:pt x="743584" y="393700"/>
                  </a:lnTo>
                  <a:lnTo>
                    <a:pt x="781303" y="411353"/>
                  </a:lnTo>
                  <a:lnTo>
                    <a:pt x="823594" y="427989"/>
                  </a:lnTo>
                  <a:lnTo>
                    <a:pt x="869695" y="443357"/>
                  </a:lnTo>
                  <a:lnTo>
                    <a:pt x="919352" y="457454"/>
                  </a:lnTo>
                  <a:lnTo>
                    <a:pt x="972057" y="469773"/>
                  </a:lnTo>
                  <a:lnTo>
                    <a:pt x="1027302" y="480568"/>
                  </a:lnTo>
                  <a:lnTo>
                    <a:pt x="1114170" y="493268"/>
                  </a:lnTo>
                  <a:lnTo>
                    <a:pt x="1173733" y="499110"/>
                  </a:lnTo>
                  <a:lnTo>
                    <a:pt x="1234313" y="502793"/>
                  </a:lnTo>
                  <a:lnTo>
                    <a:pt x="1295272" y="503936"/>
                  </a:lnTo>
                  <a:lnTo>
                    <a:pt x="1295527" y="478155"/>
                  </a:lnTo>
                  <a:lnTo>
                    <a:pt x="1265174" y="477774"/>
                  </a:lnTo>
                  <a:lnTo>
                    <a:pt x="1235075" y="476885"/>
                  </a:lnTo>
                  <a:lnTo>
                    <a:pt x="1175512" y="473201"/>
                  </a:lnTo>
                  <a:lnTo>
                    <a:pt x="1116583" y="467487"/>
                  </a:lnTo>
                  <a:lnTo>
                    <a:pt x="1059306" y="459613"/>
                  </a:lnTo>
                  <a:lnTo>
                    <a:pt x="1004062" y="449961"/>
                  </a:lnTo>
                  <a:lnTo>
                    <a:pt x="950976" y="438531"/>
                  </a:lnTo>
                  <a:lnTo>
                    <a:pt x="900810" y="425576"/>
                  </a:lnTo>
                  <a:lnTo>
                    <a:pt x="854075" y="411225"/>
                  </a:lnTo>
                  <a:lnTo>
                    <a:pt x="811149" y="395732"/>
                  </a:lnTo>
                  <a:lnTo>
                    <a:pt x="772540" y="378968"/>
                  </a:lnTo>
                  <a:lnTo>
                    <a:pt x="724026" y="352679"/>
                  </a:lnTo>
                  <a:lnTo>
                    <a:pt x="688213" y="325374"/>
                  </a:lnTo>
                  <a:lnTo>
                    <a:pt x="664018" y="291846"/>
                  </a:lnTo>
                  <a:lnTo>
                    <a:pt x="663193" y="289941"/>
                  </a:lnTo>
                  <a:lnTo>
                    <a:pt x="663425" y="289941"/>
                  </a:lnTo>
                  <a:lnTo>
                    <a:pt x="661763" y="283972"/>
                  </a:lnTo>
                  <a:lnTo>
                    <a:pt x="661542" y="283972"/>
                  </a:lnTo>
                  <a:lnTo>
                    <a:pt x="661162" y="281813"/>
                  </a:lnTo>
                  <a:lnTo>
                    <a:pt x="661351" y="281813"/>
                  </a:lnTo>
                  <a:lnTo>
                    <a:pt x="660653" y="273938"/>
                  </a:lnTo>
                  <a:lnTo>
                    <a:pt x="660107" y="268478"/>
                  </a:lnTo>
                  <a:lnTo>
                    <a:pt x="634238" y="268478"/>
                  </a:lnTo>
                  <a:lnTo>
                    <a:pt x="633972" y="267512"/>
                  </a:lnTo>
                  <a:lnTo>
                    <a:pt x="660011" y="267512"/>
                  </a:lnTo>
                  <a:lnTo>
                    <a:pt x="659879" y="266192"/>
                  </a:lnTo>
                  <a:close/>
                </a:path>
                <a:path w="1296035" h="504190">
                  <a:moveTo>
                    <a:pt x="663193" y="289941"/>
                  </a:moveTo>
                  <a:lnTo>
                    <a:pt x="663955" y="291846"/>
                  </a:lnTo>
                  <a:lnTo>
                    <a:pt x="663843" y="291440"/>
                  </a:lnTo>
                  <a:lnTo>
                    <a:pt x="663193" y="289941"/>
                  </a:lnTo>
                  <a:close/>
                </a:path>
                <a:path w="1296035" h="504190">
                  <a:moveTo>
                    <a:pt x="663843" y="291440"/>
                  </a:moveTo>
                  <a:lnTo>
                    <a:pt x="663955" y="291846"/>
                  </a:lnTo>
                  <a:lnTo>
                    <a:pt x="663843" y="291440"/>
                  </a:lnTo>
                  <a:close/>
                </a:path>
                <a:path w="1296035" h="504190">
                  <a:moveTo>
                    <a:pt x="663425" y="289941"/>
                  </a:moveTo>
                  <a:lnTo>
                    <a:pt x="663193" y="289941"/>
                  </a:lnTo>
                  <a:lnTo>
                    <a:pt x="663843" y="291440"/>
                  </a:lnTo>
                  <a:lnTo>
                    <a:pt x="663425" y="289941"/>
                  </a:lnTo>
                  <a:close/>
                </a:path>
                <a:path w="1296035" h="504190">
                  <a:moveTo>
                    <a:pt x="661162" y="281813"/>
                  </a:moveTo>
                  <a:lnTo>
                    <a:pt x="661542" y="283972"/>
                  </a:lnTo>
                  <a:lnTo>
                    <a:pt x="661440" y="282812"/>
                  </a:lnTo>
                  <a:lnTo>
                    <a:pt x="661162" y="281813"/>
                  </a:lnTo>
                  <a:close/>
                </a:path>
                <a:path w="1296035" h="504190">
                  <a:moveTo>
                    <a:pt x="661440" y="282812"/>
                  </a:moveTo>
                  <a:lnTo>
                    <a:pt x="661542" y="283972"/>
                  </a:lnTo>
                  <a:lnTo>
                    <a:pt x="661763" y="283972"/>
                  </a:lnTo>
                  <a:lnTo>
                    <a:pt x="661440" y="282812"/>
                  </a:lnTo>
                  <a:close/>
                </a:path>
                <a:path w="1296035" h="504190">
                  <a:moveTo>
                    <a:pt x="661351" y="281813"/>
                  </a:moveTo>
                  <a:lnTo>
                    <a:pt x="661162" y="281813"/>
                  </a:lnTo>
                  <a:lnTo>
                    <a:pt x="661440" y="282812"/>
                  </a:lnTo>
                  <a:lnTo>
                    <a:pt x="661351" y="281813"/>
                  </a:lnTo>
                  <a:close/>
                </a:path>
                <a:path w="1296035" h="504190">
                  <a:moveTo>
                    <a:pt x="633856" y="266192"/>
                  </a:moveTo>
                  <a:lnTo>
                    <a:pt x="633972" y="267512"/>
                  </a:lnTo>
                  <a:lnTo>
                    <a:pt x="634238" y="268478"/>
                  </a:lnTo>
                  <a:lnTo>
                    <a:pt x="633856" y="266192"/>
                  </a:lnTo>
                  <a:close/>
                </a:path>
                <a:path w="1296035" h="504190">
                  <a:moveTo>
                    <a:pt x="631605" y="258905"/>
                  </a:moveTo>
                  <a:lnTo>
                    <a:pt x="633972" y="267512"/>
                  </a:lnTo>
                  <a:lnTo>
                    <a:pt x="633856" y="266192"/>
                  </a:lnTo>
                  <a:lnTo>
                    <a:pt x="659879" y="266192"/>
                  </a:lnTo>
                  <a:lnTo>
                    <a:pt x="659638" y="263779"/>
                  </a:lnTo>
                  <a:lnTo>
                    <a:pt x="659638" y="263017"/>
                  </a:lnTo>
                  <a:lnTo>
                    <a:pt x="659383" y="262382"/>
                  </a:lnTo>
                  <a:lnTo>
                    <a:pt x="659256" y="261620"/>
                  </a:lnTo>
                  <a:lnTo>
                    <a:pt x="658872" y="260223"/>
                  </a:lnTo>
                  <a:lnTo>
                    <a:pt x="632205" y="260223"/>
                  </a:lnTo>
                  <a:lnTo>
                    <a:pt x="631605" y="258905"/>
                  </a:lnTo>
                  <a:close/>
                </a:path>
                <a:path w="1296035" h="504190">
                  <a:moveTo>
                    <a:pt x="631443" y="258318"/>
                  </a:moveTo>
                  <a:lnTo>
                    <a:pt x="631605" y="258905"/>
                  </a:lnTo>
                  <a:lnTo>
                    <a:pt x="632205" y="260223"/>
                  </a:lnTo>
                  <a:lnTo>
                    <a:pt x="631443" y="258318"/>
                  </a:lnTo>
                  <a:close/>
                </a:path>
                <a:path w="1296035" h="504190">
                  <a:moveTo>
                    <a:pt x="658348" y="258318"/>
                  </a:moveTo>
                  <a:lnTo>
                    <a:pt x="631443" y="258318"/>
                  </a:lnTo>
                  <a:lnTo>
                    <a:pt x="632205" y="260223"/>
                  </a:lnTo>
                  <a:lnTo>
                    <a:pt x="658872" y="260223"/>
                  </a:lnTo>
                  <a:lnTo>
                    <a:pt x="658348" y="258318"/>
                  </a:lnTo>
                  <a:close/>
                </a:path>
                <a:path w="1296035" h="504190">
                  <a:moveTo>
                    <a:pt x="71713" y="48018"/>
                  </a:moveTo>
                  <a:lnTo>
                    <a:pt x="51351" y="59641"/>
                  </a:lnTo>
                  <a:lnTo>
                    <a:pt x="75791" y="74208"/>
                  </a:lnTo>
                  <a:lnTo>
                    <a:pt x="89915" y="74930"/>
                  </a:lnTo>
                  <a:lnTo>
                    <a:pt x="119506" y="76962"/>
                  </a:lnTo>
                  <a:lnTo>
                    <a:pt x="178307" y="82676"/>
                  </a:lnTo>
                  <a:lnTo>
                    <a:pt x="235712" y="90550"/>
                  </a:lnTo>
                  <a:lnTo>
                    <a:pt x="291083" y="100203"/>
                  </a:lnTo>
                  <a:lnTo>
                    <a:pt x="344169" y="111506"/>
                  </a:lnTo>
                  <a:lnTo>
                    <a:pt x="394334" y="124587"/>
                  </a:lnTo>
                  <a:lnTo>
                    <a:pt x="441070" y="138937"/>
                  </a:lnTo>
                  <a:lnTo>
                    <a:pt x="483869" y="154432"/>
                  </a:lnTo>
                  <a:lnTo>
                    <a:pt x="522477" y="171069"/>
                  </a:lnTo>
                  <a:lnTo>
                    <a:pt x="570864" y="197231"/>
                  </a:lnTo>
                  <a:lnTo>
                    <a:pt x="606425" y="224155"/>
                  </a:lnTo>
                  <a:lnTo>
                    <a:pt x="631605" y="258905"/>
                  </a:lnTo>
                  <a:lnTo>
                    <a:pt x="631443" y="258318"/>
                  </a:lnTo>
                  <a:lnTo>
                    <a:pt x="658348" y="258318"/>
                  </a:lnTo>
                  <a:lnTo>
                    <a:pt x="656463" y="251460"/>
                  </a:lnTo>
                  <a:lnTo>
                    <a:pt x="656335" y="250825"/>
                  </a:lnTo>
                  <a:lnTo>
                    <a:pt x="635380" y="216788"/>
                  </a:lnTo>
                  <a:lnTo>
                    <a:pt x="599947" y="185547"/>
                  </a:lnTo>
                  <a:lnTo>
                    <a:pt x="552195" y="156718"/>
                  </a:lnTo>
                  <a:lnTo>
                    <a:pt x="514476" y="138937"/>
                  </a:lnTo>
                  <a:lnTo>
                    <a:pt x="472185" y="122300"/>
                  </a:lnTo>
                  <a:lnTo>
                    <a:pt x="425957" y="106934"/>
                  </a:lnTo>
                  <a:lnTo>
                    <a:pt x="376427" y="92837"/>
                  </a:lnTo>
                  <a:lnTo>
                    <a:pt x="323595" y="80391"/>
                  </a:lnTo>
                  <a:lnTo>
                    <a:pt x="268350" y="69723"/>
                  </a:lnTo>
                  <a:lnTo>
                    <a:pt x="181737" y="57023"/>
                  </a:lnTo>
                  <a:lnTo>
                    <a:pt x="122046" y="51181"/>
                  </a:lnTo>
                  <a:lnTo>
                    <a:pt x="91693" y="49022"/>
                  </a:lnTo>
                  <a:lnTo>
                    <a:pt x="71713" y="48018"/>
                  </a:lnTo>
                  <a:close/>
                </a:path>
                <a:path w="1296035" h="504190">
                  <a:moveTo>
                    <a:pt x="103631" y="0"/>
                  </a:moveTo>
                  <a:lnTo>
                    <a:pt x="0" y="59182"/>
                  </a:lnTo>
                  <a:lnTo>
                    <a:pt x="102488" y="120269"/>
                  </a:lnTo>
                  <a:lnTo>
                    <a:pt x="110362" y="118237"/>
                  </a:lnTo>
                  <a:lnTo>
                    <a:pt x="114045" y="112141"/>
                  </a:lnTo>
                  <a:lnTo>
                    <a:pt x="117728" y="105918"/>
                  </a:lnTo>
                  <a:lnTo>
                    <a:pt x="115696" y="98044"/>
                  </a:lnTo>
                  <a:lnTo>
                    <a:pt x="75791" y="74208"/>
                  </a:lnTo>
                  <a:lnTo>
                    <a:pt x="60070" y="73406"/>
                  </a:lnTo>
                  <a:lnTo>
                    <a:pt x="29971" y="72389"/>
                  </a:lnTo>
                  <a:lnTo>
                    <a:pt x="25526" y="72389"/>
                  </a:lnTo>
                  <a:lnTo>
                    <a:pt x="25780" y="46482"/>
                  </a:lnTo>
                  <a:lnTo>
                    <a:pt x="74406" y="46482"/>
                  </a:lnTo>
                  <a:lnTo>
                    <a:pt x="116458" y="22479"/>
                  </a:lnTo>
                  <a:lnTo>
                    <a:pt x="118617" y="14605"/>
                  </a:lnTo>
                  <a:lnTo>
                    <a:pt x="111505" y="2159"/>
                  </a:lnTo>
                  <a:lnTo>
                    <a:pt x="103631" y="0"/>
                  </a:lnTo>
                  <a:close/>
                </a:path>
                <a:path w="1296035" h="504190">
                  <a:moveTo>
                    <a:pt x="30733" y="46482"/>
                  </a:moveTo>
                  <a:lnTo>
                    <a:pt x="25780" y="46482"/>
                  </a:lnTo>
                  <a:lnTo>
                    <a:pt x="25526" y="72389"/>
                  </a:lnTo>
                  <a:lnTo>
                    <a:pt x="29971" y="72389"/>
                  </a:lnTo>
                  <a:lnTo>
                    <a:pt x="60070" y="73406"/>
                  </a:lnTo>
                  <a:lnTo>
                    <a:pt x="75791" y="74208"/>
                  </a:lnTo>
                  <a:lnTo>
                    <a:pt x="69757" y="70612"/>
                  </a:lnTo>
                  <a:lnTo>
                    <a:pt x="32130" y="70612"/>
                  </a:lnTo>
                  <a:lnTo>
                    <a:pt x="32257" y="48260"/>
                  </a:lnTo>
                  <a:lnTo>
                    <a:pt x="71291" y="48260"/>
                  </a:lnTo>
                  <a:lnTo>
                    <a:pt x="71713" y="48018"/>
                  </a:lnTo>
                  <a:lnTo>
                    <a:pt x="61340" y="47498"/>
                  </a:lnTo>
                  <a:lnTo>
                    <a:pt x="30733" y="46482"/>
                  </a:lnTo>
                  <a:close/>
                </a:path>
                <a:path w="1296035" h="504190">
                  <a:moveTo>
                    <a:pt x="32257" y="48260"/>
                  </a:moveTo>
                  <a:lnTo>
                    <a:pt x="32130" y="70612"/>
                  </a:lnTo>
                  <a:lnTo>
                    <a:pt x="51351" y="59641"/>
                  </a:lnTo>
                  <a:lnTo>
                    <a:pt x="32257" y="48260"/>
                  </a:lnTo>
                  <a:close/>
                </a:path>
                <a:path w="1296035" h="504190">
                  <a:moveTo>
                    <a:pt x="51351" y="59641"/>
                  </a:moveTo>
                  <a:lnTo>
                    <a:pt x="32130" y="70612"/>
                  </a:lnTo>
                  <a:lnTo>
                    <a:pt x="69757" y="70612"/>
                  </a:lnTo>
                  <a:lnTo>
                    <a:pt x="51351" y="59641"/>
                  </a:lnTo>
                  <a:close/>
                </a:path>
                <a:path w="1296035" h="504190">
                  <a:moveTo>
                    <a:pt x="71291" y="48260"/>
                  </a:moveTo>
                  <a:lnTo>
                    <a:pt x="32257" y="48260"/>
                  </a:lnTo>
                  <a:lnTo>
                    <a:pt x="51351" y="59641"/>
                  </a:lnTo>
                  <a:lnTo>
                    <a:pt x="71291" y="48260"/>
                  </a:lnTo>
                  <a:close/>
                </a:path>
                <a:path w="1296035" h="504190">
                  <a:moveTo>
                    <a:pt x="74406" y="46482"/>
                  </a:moveTo>
                  <a:lnTo>
                    <a:pt x="30733" y="46482"/>
                  </a:lnTo>
                  <a:lnTo>
                    <a:pt x="61340" y="47498"/>
                  </a:lnTo>
                  <a:lnTo>
                    <a:pt x="71713" y="48018"/>
                  </a:lnTo>
                  <a:lnTo>
                    <a:pt x="74406" y="4648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18" name="object 11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22704" y="585190"/>
              <a:ext cx="1563623" cy="641629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1980438" y="608075"/>
              <a:ext cx="1369060" cy="504190"/>
            </a:xfrm>
            <a:custGeom>
              <a:avLst/>
              <a:gdLst/>
              <a:ahLst/>
              <a:cxnLst/>
              <a:rect l="l" t="t" r="r" b="b"/>
              <a:pathLst>
                <a:path w="1369060" h="504190">
                  <a:moveTo>
                    <a:pt x="102362" y="383413"/>
                  </a:moveTo>
                  <a:lnTo>
                    <a:pt x="0" y="444881"/>
                  </a:lnTo>
                  <a:lnTo>
                    <a:pt x="97536" y="500252"/>
                  </a:lnTo>
                  <a:lnTo>
                    <a:pt x="103759" y="503682"/>
                  </a:lnTo>
                  <a:lnTo>
                    <a:pt x="111632" y="501523"/>
                  </a:lnTo>
                  <a:lnTo>
                    <a:pt x="118744" y="489076"/>
                  </a:lnTo>
                  <a:lnTo>
                    <a:pt x="116459" y="481202"/>
                  </a:lnTo>
                  <a:lnTo>
                    <a:pt x="74696" y="457453"/>
                  </a:lnTo>
                  <a:lnTo>
                    <a:pt x="25781" y="457453"/>
                  </a:lnTo>
                  <a:lnTo>
                    <a:pt x="25526" y="431546"/>
                  </a:lnTo>
                  <a:lnTo>
                    <a:pt x="31750" y="431546"/>
                  </a:lnTo>
                  <a:lnTo>
                    <a:pt x="63500" y="430657"/>
                  </a:lnTo>
                  <a:lnTo>
                    <a:pt x="74844" y="430110"/>
                  </a:lnTo>
                  <a:lnTo>
                    <a:pt x="115569" y="405638"/>
                  </a:lnTo>
                  <a:lnTo>
                    <a:pt x="117601" y="397763"/>
                  </a:lnTo>
                  <a:lnTo>
                    <a:pt x="113918" y="391540"/>
                  </a:lnTo>
                  <a:lnTo>
                    <a:pt x="110236" y="385445"/>
                  </a:lnTo>
                  <a:lnTo>
                    <a:pt x="102362" y="383413"/>
                  </a:lnTo>
                  <a:close/>
                </a:path>
                <a:path w="1369060" h="504190">
                  <a:moveTo>
                    <a:pt x="74844" y="430110"/>
                  </a:moveTo>
                  <a:lnTo>
                    <a:pt x="63500" y="430657"/>
                  </a:lnTo>
                  <a:lnTo>
                    <a:pt x="31750" y="431546"/>
                  </a:lnTo>
                  <a:lnTo>
                    <a:pt x="25526" y="431546"/>
                  </a:lnTo>
                  <a:lnTo>
                    <a:pt x="25781" y="457453"/>
                  </a:lnTo>
                  <a:lnTo>
                    <a:pt x="64769" y="456564"/>
                  </a:lnTo>
                  <a:lnTo>
                    <a:pt x="72485" y="456197"/>
                  </a:lnTo>
                  <a:lnTo>
                    <a:pt x="71567" y="455675"/>
                  </a:lnTo>
                  <a:lnTo>
                    <a:pt x="32257" y="455675"/>
                  </a:lnTo>
                  <a:lnTo>
                    <a:pt x="32004" y="433197"/>
                  </a:lnTo>
                  <a:lnTo>
                    <a:pt x="69702" y="433197"/>
                  </a:lnTo>
                  <a:lnTo>
                    <a:pt x="74844" y="430110"/>
                  </a:lnTo>
                  <a:close/>
                </a:path>
                <a:path w="1369060" h="504190">
                  <a:moveTo>
                    <a:pt x="72485" y="456197"/>
                  </a:moveTo>
                  <a:lnTo>
                    <a:pt x="64769" y="456564"/>
                  </a:lnTo>
                  <a:lnTo>
                    <a:pt x="25781" y="457453"/>
                  </a:lnTo>
                  <a:lnTo>
                    <a:pt x="74696" y="457453"/>
                  </a:lnTo>
                  <a:lnTo>
                    <a:pt x="72485" y="456197"/>
                  </a:lnTo>
                  <a:close/>
                </a:path>
                <a:path w="1369060" h="504190">
                  <a:moveTo>
                    <a:pt x="668241" y="244329"/>
                  </a:moveTo>
                  <a:lnTo>
                    <a:pt x="641476" y="279653"/>
                  </a:lnTo>
                  <a:lnTo>
                    <a:pt x="603757" y="306704"/>
                  </a:lnTo>
                  <a:lnTo>
                    <a:pt x="552576" y="332866"/>
                  </a:lnTo>
                  <a:lnTo>
                    <a:pt x="511682" y="349503"/>
                  </a:lnTo>
                  <a:lnTo>
                    <a:pt x="466344" y="364998"/>
                  </a:lnTo>
                  <a:lnTo>
                    <a:pt x="416941" y="379349"/>
                  </a:lnTo>
                  <a:lnTo>
                    <a:pt x="363981" y="392302"/>
                  </a:lnTo>
                  <a:lnTo>
                    <a:pt x="307848" y="403733"/>
                  </a:lnTo>
                  <a:lnTo>
                    <a:pt x="249300" y="413385"/>
                  </a:lnTo>
                  <a:lnTo>
                    <a:pt x="188594" y="421259"/>
                  </a:lnTo>
                  <a:lnTo>
                    <a:pt x="126492" y="427100"/>
                  </a:lnTo>
                  <a:lnTo>
                    <a:pt x="74844" y="430110"/>
                  </a:lnTo>
                  <a:lnTo>
                    <a:pt x="51371" y="444201"/>
                  </a:lnTo>
                  <a:lnTo>
                    <a:pt x="72485" y="456197"/>
                  </a:lnTo>
                  <a:lnTo>
                    <a:pt x="96774" y="455040"/>
                  </a:lnTo>
                  <a:lnTo>
                    <a:pt x="128778" y="452882"/>
                  </a:lnTo>
                  <a:lnTo>
                    <a:pt x="191897" y="447039"/>
                  </a:lnTo>
                  <a:lnTo>
                    <a:pt x="253237" y="439038"/>
                  </a:lnTo>
                  <a:lnTo>
                    <a:pt x="312800" y="429133"/>
                  </a:lnTo>
                  <a:lnTo>
                    <a:pt x="369824" y="417575"/>
                  </a:lnTo>
                  <a:lnTo>
                    <a:pt x="423925" y="404368"/>
                  </a:lnTo>
                  <a:lnTo>
                    <a:pt x="474472" y="389636"/>
                  </a:lnTo>
                  <a:lnTo>
                    <a:pt x="521207" y="373634"/>
                  </a:lnTo>
                  <a:lnTo>
                    <a:pt x="563372" y="356362"/>
                  </a:lnTo>
                  <a:lnTo>
                    <a:pt x="600837" y="338074"/>
                  </a:lnTo>
                  <a:lnTo>
                    <a:pt x="647064" y="308610"/>
                  </a:lnTo>
                  <a:lnTo>
                    <a:pt x="679704" y="276351"/>
                  </a:lnTo>
                  <a:lnTo>
                    <a:pt x="692023" y="254635"/>
                  </a:lnTo>
                  <a:lnTo>
                    <a:pt x="692404" y="254000"/>
                  </a:lnTo>
                  <a:lnTo>
                    <a:pt x="692657" y="253364"/>
                  </a:lnTo>
                  <a:lnTo>
                    <a:pt x="692785" y="252729"/>
                  </a:lnTo>
                  <a:lnTo>
                    <a:pt x="694866" y="245490"/>
                  </a:lnTo>
                  <a:lnTo>
                    <a:pt x="667893" y="245490"/>
                  </a:lnTo>
                  <a:lnTo>
                    <a:pt x="668241" y="244329"/>
                  </a:lnTo>
                  <a:close/>
                </a:path>
                <a:path w="1369060" h="504190">
                  <a:moveTo>
                    <a:pt x="32004" y="433197"/>
                  </a:moveTo>
                  <a:lnTo>
                    <a:pt x="32257" y="455675"/>
                  </a:lnTo>
                  <a:lnTo>
                    <a:pt x="51371" y="444201"/>
                  </a:lnTo>
                  <a:lnTo>
                    <a:pt x="32004" y="433197"/>
                  </a:lnTo>
                  <a:close/>
                </a:path>
                <a:path w="1369060" h="504190">
                  <a:moveTo>
                    <a:pt x="51371" y="444201"/>
                  </a:moveTo>
                  <a:lnTo>
                    <a:pt x="32257" y="455675"/>
                  </a:lnTo>
                  <a:lnTo>
                    <a:pt x="71567" y="455675"/>
                  </a:lnTo>
                  <a:lnTo>
                    <a:pt x="51371" y="444201"/>
                  </a:lnTo>
                  <a:close/>
                </a:path>
                <a:path w="1369060" h="504190">
                  <a:moveTo>
                    <a:pt x="69702" y="433197"/>
                  </a:moveTo>
                  <a:lnTo>
                    <a:pt x="32004" y="433197"/>
                  </a:lnTo>
                  <a:lnTo>
                    <a:pt x="51371" y="444201"/>
                  </a:lnTo>
                  <a:lnTo>
                    <a:pt x="69702" y="433197"/>
                  </a:lnTo>
                  <a:close/>
                </a:path>
                <a:path w="1369060" h="504190">
                  <a:moveTo>
                    <a:pt x="668655" y="243459"/>
                  </a:moveTo>
                  <a:lnTo>
                    <a:pt x="668241" y="244329"/>
                  </a:lnTo>
                  <a:lnTo>
                    <a:pt x="667893" y="245490"/>
                  </a:lnTo>
                  <a:lnTo>
                    <a:pt x="668655" y="243459"/>
                  </a:lnTo>
                  <a:close/>
                </a:path>
                <a:path w="1369060" h="504190">
                  <a:moveTo>
                    <a:pt x="695450" y="243459"/>
                  </a:moveTo>
                  <a:lnTo>
                    <a:pt x="668655" y="243459"/>
                  </a:lnTo>
                  <a:lnTo>
                    <a:pt x="667893" y="245490"/>
                  </a:lnTo>
                  <a:lnTo>
                    <a:pt x="694866" y="245490"/>
                  </a:lnTo>
                  <a:lnTo>
                    <a:pt x="695450" y="243459"/>
                  </a:lnTo>
                  <a:close/>
                </a:path>
                <a:path w="1369060" h="504190">
                  <a:moveTo>
                    <a:pt x="670523" y="236722"/>
                  </a:moveTo>
                  <a:lnTo>
                    <a:pt x="668241" y="244329"/>
                  </a:lnTo>
                  <a:lnTo>
                    <a:pt x="668655" y="243459"/>
                  </a:lnTo>
                  <a:lnTo>
                    <a:pt x="695450" y="243459"/>
                  </a:lnTo>
                  <a:lnTo>
                    <a:pt x="695706" y="242570"/>
                  </a:lnTo>
                  <a:lnTo>
                    <a:pt x="695960" y="241808"/>
                  </a:lnTo>
                  <a:lnTo>
                    <a:pt x="696213" y="240157"/>
                  </a:lnTo>
                  <a:lnTo>
                    <a:pt x="696458" y="237744"/>
                  </a:lnTo>
                  <a:lnTo>
                    <a:pt x="670432" y="237744"/>
                  </a:lnTo>
                  <a:lnTo>
                    <a:pt x="670523" y="236722"/>
                  </a:lnTo>
                  <a:close/>
                </a:path>
                <a:path w="1369060" h="504190">
                  <a:moveTo>
                    <a:pt x="670941" y="235331"/>
                  </a:moveTo>
                  <a:lnTo>
                    <a:pt x="670523" y="236722"/>
                  </a:lnTo>
                  <a:lnTo>
                    <a:pt x="670432" y="237744"/>
                  </a:lnTo>
                  <a:lnTo>
                    <a:pt x="670941" y="235331"/>
                  </a:lnTo>
                  <a:close/>
                </a:path>
                <a:path w="1369060" h="504190">
                  <a:moveTo>
                    <a:pt x="696702" y="235331"/>
                  </a:moveTo>
                  <a:lnTo>
                    <a:pt x="670941" y="235331"/>
                  </a:lnTo>
                  <a:lnTo>
                    <a:pt x="670432" y="237744"/>
                  </a:lnTo>
                  <a:lnTo>
                    <a:pt x="696458" y="237744"/>
                  </a:lnTo>
                  <a:lnTo>
                    <a:pt x="696702" y="235331"/>
                  </a:lnTo>
                  <a:close/>
                </a:path>
                <a:path w="1369060" h="504190">
                  <a:moveTo>
                    <a:pt x="1368298" y="0"/>
                  </a:moveTo>
                  <a:lnTo>
                    <a:pt x="1303909" y="1270"/>
                  </a:lnTo>
                  <a:lnTo>
                    <a:pt x="1240028" y="4825"/>
                  </a:lnTo>
                  <a:lnTo>
                    <a:pt x="1177036" y="10668"/>
                  </a:lnTo>
                  <a:lnTo>
                    <a:pt x="1115568" y="18669"/>
                  </a:lnTo>
                  <a:lnTo>
                    <a:pt x="1055878" y="28575"/>
                  </a:lnTo>
                  <a:lnTo>
                    <a:pt x="971550" y="46482"/>
                  </a:lnTo>
                  <a:lnTo>
                    <a:pt x="919099" y="60578"/>
                  </a:lnTo>
                  <a:lnTo>
                    <a:pt x="870457" y="75946"/>
                  </a:lnTo>
                  <a:lnTo>
                    <a:pt x="825881" y="92583"/>
                  </a:lnTo>
                  <a:lnTo>
                    <a:pt x="786130" y="110109"/>
                  </a:lnTo>
                  <a:lnTo>
                    <a:pt x="751332" y="128904"/>
                  </a:lnTo>
                  <a:lnTo>
                    <a:pt x="709803" y="158876"/>
                  </a:lnTo>
                  <a:lnTo>
                    <a:pt x="682244" y="191515"/>
                  </a:lnTo>
                  <a:lnTo>
                    <a:pt x="676529" y="203073"/>
                  </a:lnTo>
                  <a:lnTo>
                    <a:pt x="676148" y="203708"/>
                  </a:lnTo>
                  <a:lnTo>
                    <a:pt x="675894" y="204343"/>
                  </a:lnTo>
                  <a:lnTo>
                    <a:pt x="675767" y="204977"/>
                  </a:lnTo>
                  <a:lnTo>
                    <a:pt x="672845" y="215011"/>
                  </a:lnTo>
                  <a:lnTo>
                    <a:pt x="672592" y="215773"/>
                  </a:lnTo>
                  <a:lnTo>
                    <a:pt x="672338" y="217550"/>
                  </a:lnTo>
                  <a:lnTo>
                    <a:pt x="671322" y="227711"/>
                  </a:lnTo>
                  <a:lnTo>
                    <a:pt x="670523" y="236722"/>
                  </a:lnTo>
                  <a:lnTo>
                    <a:pt x="670941" y="235331"/>
                  </a:lnTo>
                  <a:lnTo>
                    <a:pt x="696702" y="235331"/>
                  </a:lnTo>
                  <a:lnTo>
                    <a:pt x="697230" y="230124"/>
                  </a:lnTo>
                  <a:lnTo>
                    <a:pt x="697899" y="222376"/>
                  </a:lnTo>
                  <a:lnTo>
                    <a:pt x="697611" y="222376"/>
                  </a:lnTo>
                  <a:lnTo>
                    <a:pt x="698119" y="219837"/>
                  </a:lnTo>
                  <a:lnTo>
                    <a:pt x="698382" y="219837"/>
                  </a:lnTo>
                  <a:lnTo>
                    <a:pt x="700080" y="214249"/>
                  </a:lnTo>
                  <a:lnTo>
                    <a:pt x="699897" y="214249"/>
                  </a:lnTo>
                  <a:lnTo>
                    <a:pt x="700659" y="212344"/>
                  </a:lnTo>
                  <a:lnTo>
                    <a:pt x="703834" y="205739"/>
                  </a:lnTo>
                  <a:lnTo>
                    <a:pt x="709549" y="196976"/>
                  </a:lnTo>
                  <a:lnTo>
                    <a:pt x="737362" y="169672"/>
                  </a:lnTo>
                  <a:lnTo>
                    <a:pt x="779907" y="142494"/>
                  </a:lnTo>
                  <a:lnTo>
                    <a:pt x="815720" y="125095"/>
                  </a:lnTo>
                  <a:lnTo>
                    <a:pt x="856361" y="108458"/>
                  </a:lnTo>
                  <a:lnTo>
                    <a:pt x="901826" y="92837"/>
                  </a:lnTo>
                  <a:lnTo>
                    <a:pt x="951357" y="78486"/>
                  </a:lnTo>
                  <a:lnTo>
                    <a:pt x="1004316" y="65532"/>
                  </a:lnTo>
                  <a:lnTo>
                    <a:pt x="1060323" y="54101"/>
                  </a:lnTo>
                  <a:lnTo>
                    <a:pt x="1118870" y="44323"/>
                  </a:lnTo>
                  <a:lnTo>
                    <a:pt x="1179449" y="36575"/>
                  </a:lnTo>
                  <a:lnTo>
                    <a:pt x="1241679" y="30734"/>
                  </a:lnTo>
                  <a:lnTo>
                    <a:pt x="1304798" y="27177"/>
                  </a:lnTo>
                  <a:lnTo>
                    <a:pt x="1368552" y="25908"/>
                  </a:lnTo>
                  <a:lnTo>
                    <a:pt x="1368298" y="0"/>
                  </a:lnTo>
                  <a:close/>
                </a:path>
                <a:path w="1369060" h="504190">
                  <a:moveTo>
                    <a:pt x="698119" y="219837"/>
                  </a:moveTo>
                  <a:lnTo>
                    <a:pt x="697611" y="222376"/>
                  </a:lnTo>
                  <a:lnTo>
                    <a:pt x="698014" y="221049"/>
                  </a:lnTo>
                  <a:lnTo>
                    <a:pt x="698119" y="219837"/>
                  </a:lnTo>
                  <a:close/>
                </a:path>
                <a:path w="1369060" h="504190">
                  <a:moveTo>
                    <a:pt x="698014" y="221049"/>
                  </a:moveTo>
                  <a:lnTo>
                    <a:pt x="697611" y="222376"/>
                  </a:lnTo>
                  <a:lnTo>
                    <a:pt x="697899" y="222376"/>
                  </a:lnTo>
                  <a:lnTo>
                    <a:pt x="698014" y="221049"/>
                  </a:lnTo>
                  <a:close/>
                </a:path>
                <a:path w="1369060" h="504190">
                  <a:moveTo>
                    <a:pt x="698382" y="219837"/>
                  </a:moveTo>
                  <a:lnTo>
                    <a:pt x="698119" y="219837"/>
                  </a:lnTo>
                  <a:lnTo>
                    <a:pt x="698014" y="221049"/>
                  </a:lnTo>
                  <a:lnTo>
                    <a:pt x="698382" y="219837"/>
                  </a:lnTo>
                  <a:close/>
                </a:path>
                <a:path w="1369060" h="504190">
                  <a:moveTo>
                    <a:pt x="700659" y="212344"/>
                  </a:moveTo>
                  <a:lnTo>
                    <a:pt x="699897" y="214249"/>
                  </a:lnTo>
                  <a:lnTo>
                    <a:pt x="700430" y="213095"/>
                  </a:lnTo>
                  <a:lnTo>
                    <a:pt x="700659" y="212344"/>
                  </a:lnTo>
                  <a:close/>
                </a:path>
                <a:path w="1369060" h="504190">
                  <a:moveTo>
                    <a:pt x="700430" y="213095"/>
                  </a:moveTo>
                  <a:lnTo>
                    <a:pt x="699897" y="214249"/>
                  </a:lnTo>
                  <a:lnTo>
                    <a:pt x="700080" y="214249"/>
                  </a:lnTo>
                  <a:lnTo>
                    <a:pt x="700430" y="213095"/>
                  </a:lnTo>
                  <a:close/>
                </a:path>
                <a:path w="1369060" h="504190">
                  <a:moveTo>
                    <a:pt x="700778" y="212344"/>
                  </a:moveTo>
                  <a:lnTo>
                    <a:pt x="700430" y="213095"/>
                  </a:lnTo>
                  <a:lnTo>
                    <a:pt x="700778" y="21234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20" name="object 12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15340" y="1536192"/>
              <a:ext cx="568477" cy="1706879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914476" y="1558036"/>
              <a:ext cx="432434" cy="1511935"/>
            </a:xfrm>
            <a:custGeom>
              <a:avLst/>
              <a:gdLst/>
              <a:ahLst/>
              <a:cxnLst/>
              <a:rect l="l" t="t" r="r" b="b"/>
              <a:pathLst>
                <a:path w="432434" h="1511935">
                  <a:moveTo>
                    <a:pt x="14668" y="1392809"/>
                  </a:moveTo>
                  <a:lnTo>
                    <a:pt x="8432" y="1396238"/>
                  </a:lnTo>
                  <a:lnTo>
                    <a:pt x="2197" y="1399793"/>
                  </a:lnTo>
                  <a:lnTo>
                    <a:pt x="0" y="1407667"/>
                  </a:lnTo>
                  <a:lnTo>
                    <a:pt x="58597" y="1511680"/>
                  </a:lnTo>
                  <a:lnTo>
                    <a:pt x="73984" y="1486153"/>
                  </a:lnTo>
                  <a:lnTo>
                    <a:pt x="71932" y="1486153"/>
                  </a:lnTo>
                  <a:lnTo>
                    <a:pt x="46024" y="1485773"/>
                  </a:lnTo>
                  <a:lnTo>
                    <a:pt x="46682" y="1441323"/>
                  </a:lnTo>
                  <a:lnTo>
                    <a:pt x="46797" y="1437943"/>
                  </a:lnTo>
                  <a:lnTo>
                    <a:pt x="22567" y="1394967"/>
                  </a:lnTo>
                  <a:lnTo>
                    <a:pt x="14668" y="1392809"/>
                  </a:lnTo>
                  <a:close/>
                </a:path>
                <a:path w="432434" h="1511935">
                  <a:moveTo>
                    <a:pt x="46797" y="1437943"/>
                  </a:moveTo>
                  <a:lnTo>
                    <a:pt x="46682" y="1441323"/>
                  </a:lnTo>
                  <a:lnTo>
                    <a:pt x="46024" y="1485773"/>
                  </a:lnTo>
                  <a:lnTo>
                    <a:pt x="71932" y="1486153"/>
                  </a:lnTo>
                  <a:lnTo>
                    <a:pt x="72030" y="1479550"/>
                  </a:lnTo>
                  <a:lnTo>
                    <a:pt x="70256" y="1479550"/>
                  </a:lnTo>
                  <a:lnTo>
                    <a:pt x="47891" y="1479296"/>
                  </a:lnTo>
                  <a:lnTo>
                    <a:pt x="59375" y="1460250"/>
                  </a:lnTo>
                  <a:lnTo>
                    <a:pt x="46797" y="1437943"/>
                  </a:lnTo>
                  <a:close/>
                </a:path>
                <a:path w="432434" h="1511935">
                  <a:moveTo>
                    <a:pt x="106032" y="1394078"/>
                  </a:moveTo>
                  <a:lnTo>
                    <a:pt x="98069" y="1396111"/>
                  </a:lnTo>
                  <a:lnTo>
                    <a:pt x="72727" y="1438105"/>
                  </a:lnTo>
                  <a:lnTo>
                    <a:pt x="72593" y="1441323"/>
                  </a:lnTo>
                  <a:lnTo>
                    <a:pt x="71932" y="1486153"/>
                  </a:lnTo>
                  <a:lnTo>
                    <a:pt x="73984" y="1486153"/>
                  </a:lnTo>
                  <a:lnTo>
                    <a:pt x="120243" y="1409446"/>
                  </a:lnTo>
                  <a:lnTo>
                    <a:pt x="118275" y="1401444"/>
                  </a:lnTo>
                  <a:lnTo>
                    <a:pt x="106032" y="1394078"/>
                  </a:lnTo>
                  <a:close/>
                </a:path>
                <a:path w="432434" h="1511935">
                  <a:moveTo>
                    <a:pt x="59375" y="1460250"/>
                  </a:moveTo>
                  <a:lnTo>
                    <a:pt x="47891" y="1479296"/>
                  </a:lnTo>
                  <a:lnTo>
                    <a:pt x="70256" y="1479550"/>
                  </a:lnTo>
                  <a:lnTo>
                    <a:pt x="59375" y="1460250"/>
                  </a:lnTo>
                  <a:close/>
                </a:path>
                <a:path w="432434" h="1511935">
                  <a:moveTo>
                    <a:pt x="72727" y="1438105"/>
                  </a:moveTo>
                  <a:lnTo>
                    <a:pt x="59375" y="1460250"/>
                  </a:lnTo>
                  <a:lnTo>
                    <a:pt x="70256" y="1479550"/>
                  </a:lnTo>
                  <a:lnTo>
                    <a:pt x="72030" y="1479550"/>
                  </a:lnTo>
                  <a:lnTo>
                    <a:pt x="72593" y="1441323"/>
                  </a:lnTo>
                  <a:lnTo>
                    <a:pt x="72727" y="1438105"/>
                  </a:lnTo>
                  <a:close/>
                </a:path>
                <a:path w="432434" h="1511935">
                  <a:moveTo>
                    <a:pt x="244116" y="742129"/>
                  </a:moveTo>
                  <a:lnTo>
                    <a:pt x="228739" y="744219"/>
                  </a:lnTo>
                  <a:lnTo>
                    <a:pt x="227647" y="744347"/>
                  </a:lnTo>
                  <a:lnTo>
                    <a:pt x="226568" y="744601"/>
                  </a:lnTo>
                  <a:lnTo>
                    <a:pt x="225552" y="744981"/>
                  </a:lnTo>
                  <a:lnTo>
                    <a:pt x="217169" y="748284"/>
                  </a:lnTo>
                  <a:lnTo>
                    <a:pt x="216446" y="748538"/>
                  </a:lnTo>
                  <a:lnTo>
                    <a:pt x="187261" y="773556"/>
                  </a:lnTo>
                  <a:lnTo>
                    <a:pt x="161239" y="814704"/>
                  </a:lnTo>
                  <a:lnTo>
                    <a:pt x="145186" y="850011"/>
                  </a:lnTo>
                  <a:lnTo>
                    <a:pt x="130009" y="891159"/>
                  </a:lnTo>
                  <a:lnTo>
                    <a:pt x="115697" y="937640"/>
                  </a:lnTo>
                  <a:lnTo>
                    <a:pt x="102323" y="988949"/>
                  </a:lnTo>
                  <a:lnTo>
                    <a:pt x="90119" y="1044701"/>
                  </a:lnTo>
                  <a:lnTo>
                    <a:pt x="79082" y="1104264"/>
                  </a:lnTo>
                  <a:lnTo>
                    <a:pt x="69405" y="1167002"/>
                  </a:lnTo>
                  <a:lnTo>
                    <a:pt x="61252" y="1232662"/>
                  </a:lnTo>
                  <a:lnTo>
                    <a:pt x="54660" y="1300352"/>
                  </a:lnTo>
                  <a:lnTo>
                    <a:pt x="49682" y="1369694"/>
                  </a:lnTo>
                  <a:lnTo>
                    <a:pt x="46797" y="1437943"/>
                  </a:lnTo>
                  <a:lnTo>
                    <a:pt x="59375" y="1460250"/>
                  </a:lnTo>
                  <a:lnTo>
                    <a:pt x="72727" y="1438105"/>
                  </a:lnTo>
                  <a:lnTo>
                    <a:pt x="75514" y="1371600"/>
                  </a:lnTo>
                  <a:lnTo>
                    <a:pt x="80441" y="1302765"/>
                  </a:lnTo>
                  <a:lnTo>
                    <a:pt x="86994" y="1235583"/>
                  </a:lnTo>
                  <a:lnTo>
                    <a:pt x="95034" y="1170813"/>
                  </a:lnTo>
                  <a:lnTo>
                    <a:pt x="104597" y="1108710"/>
                  </a:lnTo>
                  <a:lnTo>
                    <a:pt x="115468" y="1050036"/>
                  </a:lnTo>
                  <a:lnTo>
                    <a:pt x="127457" y="995172"/>
                  </a:lnTo>
                  <a:lnTo>
                    <a:pt x="140563" y="944879"/>
                  </a:lnTo>
                  <a:lnTo>
                    <a:pt x="154444" y="899667"/>
                  </a:lnTo>
                  <a:lnTo>
                    <a:pt x="168986" y="860298"/>
                  </a:lnTo>
                  <a:lnTo>
                    <a:pt x="191592" y="813180"/>
                  </a:lnTo>
                  <a:lnTo>
                    <a:pt x="220652" y="776604"/>
                  </a:lnTo>
                  <a:lnTo>
                    <a:pt x="220433" y="776604"/>
                  </a:lnTo>
                  <a:lnTo>
                    <a:pt x="222097" y="775335"/>
                  </a:lnTo>
                  <a:lnTo>
                    <a:pt x="222429" y="775335"/>
                  </a:lnTo>
                  <a:lnTo>
                    <a:pt x="227019" y="772413"/>
                  </a:lnTo>
                  <a:lnTo>
                    <a:pt x="226733" y="772413"/>
                  </a:lnTo>
                  <a:lnTo>
                    <a:pt x="228815" y="771271"/>
                  </a:lnTo>
                  <a:lnTo>
                    <a:pt x="229634" y="771271"/>
                  </a:lnTo>
                  <a:lnTo>
                    <a:pt x="233180" y="769874"/>
                  </a:lnTo>
                  <a:lnTo>
                    <a:pt x="231927" y="769874"/>
                  </a:lnTo>
                  <a:lnTo>
                    <a:pt x="235115" y="769112"/>
                  </a:lnTo>
                  <a:lnTo>
                    <a:pt x="238385" y="769112"/>
                  </a:lnTo>
                  <a:lnTo>
                    <a:pt x="240537" y="768858"/>
                  </a:lnTo>
                  <a:lnTo>
                    <a:pt x="250024" y="767588"/>
                  </a:lnTo>
                  <a:lnTo>
                    <a:pt x="251015" y="767334"/>
                  </a:lnTo>
                  <a:lnTo>
                    <a:pt x="260337" y="763651"/>
                  </a:lnTo>
                  <a:lnTo>
                    <a:pt x="261099" y="763397"/>
                  </a:lnTo>
                  <a:lnTo>
                    <a:pt x="261835" y="763015"/>
                  </a:lnTo>
                  <a:lnTo>
                    <a:pt x="262534" y="762508"/>
                  </a:lnTo>
                  <a:lnTo>
                    <a:pt x="270916" y="757301"/>
                  </a:lnTo>
                  <a:lnTo>
                    <a:pt x="271500" y="756919"/>
                  </a:lnTo>
                  <a:lnTo>
                    <a:pt x="272580" y="756158"/>
                  </a:lnTo>
                  <a:lnTo>
                    <a:pt x="282079" y="747649"/>
                  </a:lnTo>
                  <a:lnTo>
                    <a:pt x="286506" y="742696"/>
                  </a:lnTo>
                  <a:lnTo>
                    <a:pt x="242620" y="742696"/>
                  </a:lnTo>
                  <a:lnTo>
                    <a:pt x="244116" y="742129"/>
                  </a:lnTo>
                  <a:close/>
                </a:path>
                <a:path w="432434" h="1511935">
                  <a:moveTo>
                    <a:pt x="222097" y="775335"/>
                  </a:moveTo>
                  <a:lnTo>
                    <a:pt x="220433" y="776604"/>
                  </a:lnTo>
                  <a:lnTo>
                    <a:pt x="221226" y="776100"/>
                  </a:lnTo>
                  <a:lnTo>
                    <a:pt x="222097" y="775335"/>
                  </a:lnTo>
                  <a:close/>
                </a:path>
                <a:path w="432434" h="1511935">
                  <a:moveTo>
                    <a:pt x="221226" y="776100"/>
                  </a:moveTo>
                  <a:lnTo>
                    <a:pt x="220433" y="776604"/>
                  </a:lnTo>
                  <a:lnTo>
                    <a:pt x="220652" y="776604"/>
                  </a:lnTo>
                  <a:lnTo>
                    <a:pt x="221226" y="776100"/>
                  </a:lnTo>
                  <a:close/>
                </a:path>
                <a:path w="432434" h="1511935">
                  <a:moveTo>
                    <a:pt x="222429" y="775335"/>
                  </a:moveTo>
                  <a:lnTo>
                    <a:pt x="222097" y="775335"/>
                  </a:lnTo>
                  <a:lnTo>
                    <a:pt x="221226" y="776100"/>
                  </a:lnTo>
                  <a:lnTo>
                    <a:pt x="222429" y="775335"/>
                  </a:lnTo>
                  <a:close/>
                </a:path>
                <a:path w="432434" h="1511935">
                  <a:moveTo>
                    <a:pt x="228815" y="771271"/>
                  </a:moveTo>
                  <a:lnTo>
                    <a:pt x="226733" y="772413"/>
                  </a:lnTo>
                  <a:lnTo>
                    <a:pt x="227485" y="772117"/>
                  </a:lnTo>
                  <a:lnTo>
                    <a:pt x="228815" y="771271"/>
                  </a:lnTo>
                  <a:close/>
                </a:path>
                <a:path w="432434" h="1511935">
                  <a:moveTo>
                    <a:pt x="227485" y="772117"/>
                  </a:moveTo>
                  <a:lnTo>
                    <a:pt x="226733" y="772413"/>
                  </a:lnTo>
                  <a:lnTo>
                    <a:pt x="227019" y="772413"/>
                  </a:lnTo>
                  <a:lnTo>
                    <a:pt x="227485" y="772117"/>
                  </a:lnTo>
                  <a:close/>
                </a:path>
                <a:path w="432434" h="1511935">
                  <a:moveTo>
                    <a:pt x="229634" y="771271"/>
                  </a:moveTo>
                  <a:lnTo>
                    <a:pt x="228815" y="771271"/>
                  </a:lnTo>
                  <a:lnTo>
                    <a:pt x="227485" y="772117"/>
                  </a:lnTo>
                  <a:lnTo>
                    <a:pt x="229634" y="771271"/>
                  </a:lnTo>
                  <a:close/>
                </a:path>
                <a:path w="432434" h="1511935">
                  <a:moveTo>
                    <a:pt x="235115" y="769112"/>
                  </a:moveTo>
                  <a:lnTo>
                    <a:pt x="231927" y="769874"/>
                  </a:lnTo>
                  <a:lnTo>
                    <a:pt x="233716" y="769662"/>
                  </a:lnTo>
                  <a:lnTo>
                    <a:pt x="235115" y="769112"/>
                  </a:lnTo>
                  <a:close/>
                </a:path>
                <a:path w="432434" h="1511935">
                  <a:moveTo>
                    <a:pt x="233716" y="769662"/>
                  </a:moveTo>
                  <a:lnTo>
                    <a:pt x="231927" y="769874"/>
                  </a:lnTo>
                  <a:lnTo>
                    <a:pt x="233180" y="769874"/>
                  </a:lnTo>
                  <a:lnTo>
                    <a:pt x="233716" y="769662"/>
                  </a:lnTo>
                  <a:close/>
                </a:path>
                <a:path w="432434" h="1511935">
                  <a:moveTo>
                    <a:pt x="238385" y="769112"/>
                  </a:moveTo>
                  <a:lnTo>
                    <a:pt x="235115" y="769112"/>
                  </a:lnTo>
                  <a:lnTo>
                    <a:pt x="233716" y="769662"/>
                  </a:lnTo>
                  <a:lnTo>
                    <a:pt x="238385" y="769112"/>
                  </a:lnTo>
                  <a:close/>
                </a:path>
                <a:path w="432434" h="1511935">
                  <a:moveTo>
                    <a:pt x="245554" y="741934"/>
                  </a:moveTo>
                  <a:lnTo>
                    <a:pt x="244116" y="742129"/>
                  </a:lnTo>
                  <a:lnTo>
                    <a:pt x="242620" y="742696"/>
                  </a:lnTo>
                  <a:lnTo>
                    <a:pt x="245554" y="741934"/>
                  </a:lnTo>
                  <a:close/>
                </a:path>
                <a:path w="432434" h="1511935">
                  <a:moveTo>
                    <a:pt x="287187" y="741934"/>
                  </a:moveTo>
                  <a:lnTo>
                    <a:pt x="245554" y="741934"/>
                  </a:lnTo>
                  <a:lnTo>
                    <a:pt x="242620" y="742696"/>
                  </a:lnTo>
                  <a:lnTo>
                    <a:pt x="286506" y="742696"/>
                  </a:lnTo>
                  <a:lnTo>
                    <a:pt x="287187" y="741934"/>
                  </a:lnTo>
                  <a:close/>
                </a:path>
                <a:path w="432434" h="1511935">
                  <a:moveTo>
                    <a:pt x="249563" y="740066"/>
                  </a:moveTo>
                  <a:lnTo>
                    <a:pt x="244116" y="742129"/>
                  </a:lnTo>
                  <a:lnTo>
                    <a:pt x="245554" y="741934"/>
                  </a:lnTo>
                  <a:lnTo>
                    <a:pt x="287187" y="741934"/>
                  </a:lnTo>
                  <a:lnTo>
                    <a:pt x="288436" y="740537"/>
                  </a:lnTo>
                  <a:lnTo>
                    <a:pt x="248805" y="740537"/>
                  </a:lnTo>
                  <a:lnTo>
                    <a:pt x="249563" y="740066"/>
                  </a:lnTo>
                  <a:close/>
                </a:path>
                <a:path w="432434" h="1511935">
                  <a:moveTo>
                    <a:pt x="251002" y="739521"/>
                  </a:moveTo>
                  <a:lnTo>
                    <a:pt x="249563" y="740066"/>
                  </a:lnTo>
                  <a:lnTo>
                    <a:pt x="248805" y="740537"/>
                  </a:lnTo>
                  <a:lnTo>
                    <a:pt x="251002" y="739521"/>
                  </a:lnTo>
                  <a:close/>
                </a:path>
                <a:path w="432434" h="1511935">
                  <a:moveTo>
                    <a:pt x="289344" y="739521"/>
                  </a:moveTo>
                  <a:lnTo>
                    <a:pt x="251002" y="739521"/>
                  </a:lnTo>
                  <a:lnTo>
                    <a:pt x="248805" y="740537"/>
                  </a:lnTo>
                  <a:lnTo>
                    <a:pt x="288436" y="740537"/>
                  </a:lnTo>
                  <a:lnTo>
                    <a:pt x="289344" y="739521"/>
                  </a:lnTo>
                  <a:close/>
                </a:path>
                <a:path w="432434" h="1511935">
                  <a:moveTo>
                    <a:pt x="256528" y="735739"/>
                  </a:moveTo>
                  <a:lnTo>
                    <a:pt x="249563" y="740066"/>
                  </a:lnTo>
                  <a:lnTo>
                    <a:pt x="251002" y="739521"/>
                  </a:lnTo>
                  <a:lnTo>
                    <a:pt x="289344" y="739521"/>
                  </a:lnTo>
                  <a:lnTo>
                    <a:pt x="291160" y="737488"/>
                  </a:lnTo>
                  <a:lnTo>
                    <a:pt x="291810" y="736600"/>
                  </a:lnTo>
                  <a:lnTo>
                    <a:pt x="255524" y="736600"/>
                  </a:lnTo>
                  <a:lnTo>
                    <a:pt x="256528" y="735739"/>
                  </a:lnTo>
                  <a:close/>
                </a:path>
                <a:path w="432434" h="1511935">
                  <a:moveTo>
                    <a:pt x="257187" y="735329"/>
                  </a:moveTo>
                  <a:lnTo>
                    <a:pt x="256528" y="735739"/>
                  </a:lnTo>
                  <a:lnTo>
                    <a:pt x="255524" y="736600"/>
                  </a:lnTo>
                  <a:lnTo>
                    <a:pt x="257187" y="735329"/>
                  </a:lnTo>
                  <a:close/>
                </a:path>
                <a:path w="432434" h="1511935">
                  <a:moveTo>
                    <a:pt x="292740" y="735329"/>
                  </a:moveTo>
                  <a:lnTo>
                    <a:pt x="257187" y="735329"/>
                  </a:lnTo>
                  <a:lnTo>
                    <a:pt x="255524" y="736600"/>
                  </a:lnTo>
                  <a:lnTo>
                    <a:pt x="291810" y="736600"/>
                  </a:lnTo>
                  <a:lnTo>
                    <a:pt x="292740" y="735329"/>
                  </a:lnTo>
                  <a:close/>
                </a:path>
                <a:path w="432434" h="1511935">
                  <a:moveTo>
                    <a:pt x="406069" y="0"/>
                  </a:moveTo>
                  <a:lnTo>
                    <a:pt x="405037" y="71247"/>
                  </a:lnTo>
                  <a:lnTo>
                    <a:pt x="402132" y="140715"/>
                  </a:lnTo>
                  <a:lnTo>
                    <a:pt x="397179" y="209296"/>
                  </a:lnTo>
                  <a:lnTo>
                    <a:pt x="390575" y="276478"/>
                  </a:lnTo>
                  <a:lnTo>
                    <a:pt x="382574" y="341249"/>
                  </a:lnTo>
                  <a:lnTo>
                    <a:pt x="373049" y="403351"/>
                  </a:lnTo>
                  <a:lnTo>
                    <a:pt x="362127" y="462025"/>
                  </a:lnTo>
                  <a:lnTo>
                    <a:pt x="350100" y="517016"/>
                  </a:lnTo>
                  <a:lnTo>
                    <a:pt x="336994" y="567181"/>
                  </a:lnTo>
                  <a:lnTo>
                    <a:pt x="323075" y="612521"/>
                  </a:lnTo>
                  <a:lnTo>
                    <a:pt x="308457" y="652144"/>
                  </a:lnTo>
                  <a:lnTo>
                    <a:pt x="285635" y="699515"/>
                  </a:lnTo>
                  <a:lnTo>
                    <a:pt x="262788" y="730376"/>
                  </a:lnTo>
                  <a:lnTo>
                    <a:pt x="256528" y="735739"/>
                  </a:lnTo>
                  <a:lnTo>
                    <a:pt x="257187" y="735329"/>
                  </a:lnTo>
                  <a:lnTo>
                    <a:pt x="292740" y="735329"/>
                  </a:lnTo>
                  <a:lnTo>
                    <a:pt x="299897" y="725551"/>
                  </a:lnTo>
                  <a:lnTo>
                    <a:pt x="324713" y="679830"/>
                  </a:lnTo>
                  <a:lnTo>
                    <a:pt x="340283" y="641730"/>
                  </a:lnTo>
                  <a:lnTo>
                    <a:pt x="355079" y="597788"/>
                  </a:lnTo>
                  <a:lnTo>
                    <a:pt x="368858" y="549021"/>
                  </a:lnTo>
                  <a:lnTo>
                    <a:pt x="381558" y="495300"/>
                  </a:lnTo>
                  <a:lnTo>
                    <a:pt x="393242" y="437768"/>
                  </a:lnTo>
                  <a:lnTo>
                    <a:pt x="403529" y="376427"/>
                  </a:lnTo>
                  <a:lnTo>
                    <a:pt x="412546" y="312165"/>
                  </a:lnTo>
                  <a:lnTo>
                    <a:pt x="422960" y="211200"/>
                  </a:lnTo>
                  <a:lnTo>
                    <a:pt x="427913" y="141731"/>
                  </a:lnTo>
                  <a:lnTo>
                    <a:pt x="430967" y="70865"/>
                  </a:lnTo>
                  <a:lnTo>
                    <a:pt x="431977" y="508"/>
                  </a:lnTo>
                  <a:lnTo>
                    <a:pt x="40606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22" name="object 12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17447" y="3983735"/>
              <a:ext cx="1217688" cy="1348739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960120" y="4005452"/>
              <a:ext cx="1078230" cy="1153160"/>
            </a:xfrm>
            <a:custGeom>
              <a:avLst/>
              <a:gdLst/>
              <a:ahLst/>
              <a:cxnLst/>
              <a:rect l="l" t="t" r="r" b="b"/>
              <a:pathLst>
                <a:path w="1078230" h="1153160">
                  <a:moveTo>
                    <a:pt x="972057" y="1036066"/>
                  </a:moveTo>
                  <a:lnTo>
                    <a:pt x="965962" y="1039876"/>
                  </a:lnTo>
                  <a:lnTo>
                    <a:pt x="959993" y="1043686"/>
                  </a:lnTo>
                  <a:lnTo>
                    <a:pt x="958088" y="1051560"/>
                  </a:lnTo>
                  <a:lnTo>
                    <a:pt x="1021080" y="1152906"/>
                  </a:lnTo>
                  <a:lnTo>
                    <a:pt x="1034874" y="1127633"/>
                  </a:lnTo>
                  <a:lnTo>
                    <a:pt x="1007363" y="1127633"/>
                  </a:lnTo>
                  <a:lnTo>
                    <a:pt x="1007363" y="1126871"/>
                  </a:lnTo>
                  <a:lnTo>
                    <a:pt x="1005332" y="1100582"/>
                  </a:lnTo>
                  <a:lnTo>
                    <a:pt x="1001903" y="1074420"/>
                  </a:lnTo>
                  <a:lnTo>
                    <a:pt x="1001542" y="1072468"/>
                  </a:lnTo>
                  <a:lnTo>
                    <a:pt x="980059" y="1037971"/>
                  </a:lnTo>
                  <a:lnTo>
                    <a:pt x="972057" y="1036066"/>
                  </a:lnTo>
                  <a:close/>
                </a:path>
                <a:path w="1078230" h="1153160">
                  <a:moveTo>
                    <a:pt x="1001542" y="1072468"/>
                  </a:moveTo>
                  <a:lnTo>
                    <a:pt x="1001903" y="1074420"/>
                  </a:lnTo>
                  <a:lnTo>
                    <a:pt x="1005332" y="1100582"/>
                  </a:lnTo>
                  <a:lnTo>
                    <a:pt x="1007363" y="1126871"/>
                  </a:lnTo>
                  <a:lnTo>
                    <a:pt x="1007363" y="1127633"/>
                  </a:lnTo>
                  <a:lnTo>
                    <a:pt x="1033272" y="1126871"/>
                  </a:lnTo>
                  <a:lnTo>
                    <a:pt x="1033272" y="1124839"/>
                  </a:lnTo>
                  <a:lnTo>
                    <a:pt x="1032974" y="1121029"/>
                  </a:lnTo>
                  <a:lnTo>
                    <a:pt x="1009015" y="1121029"/>
                  </a:lnTo>
                  <a:lnTo>
                    <a:pt x="1019635" y="1101542"/>
                  </a:lnTo>
                  <a:lnTo>
                    <a:pt x="1001542" y="1072468"/>
                  </a:lnTo>
                  <a:close/>
                </a:path>
                <a:path w="1078230" h="1153160">
                  <a:moveTo>
                    <a:pt x="1063371" y="1033526"/>
                  </a:moveTo>
                  <a:lnTo>
                    <a:pt x="1055497" y="1035812"/>
                  </a:lnTo>
                  <a:lnTo>
                    <a:pt x="1052068" y="1042035"/>
                  </a:lnTo>
                  <a:lnTo>
                    <a:pt x="1029267" y="1083868"/>
                  </a:lnTo>
                  <a:lnTo>
                    <a:pt x="1031113" y="1097153"/>
                  </a:lnTo>
                  <a:lnTo>
                    <a:pt x="1033272" y="1124839"/>
                  </a:lnTo>
                  <a:lnTo>
                    <a:pt x="1033272" y="1126871"/>
                  </a:lnTo>
                  <a:lnTo>
                    <a:pt x="1007363" y="1127633"/>
                  </a:lnTo>
                  <a:lnTo>
                    <a:pt x="1034874" y="1127633"/>
                  </a:lnTo>
                  <a:lnTo>
                    <a:pt x="1074801" y="1054481"/>
                  </a:lnTo>
                  <a:lnTo>
                    <a:pt x="1078230" y="1048258"/>
                  </a:lnTo>
                  <a:lnTo>
                    <a:pt x="1075944" y="1040384"/>
                  </a:lnTo>
                  <a:lnTo>
                    <a:pt x="1069721" y="1036955"/>
                  </a:lnTo>
                  <a:lnTo>
                    <a:pt x="1063371" y="1033526"/>
                  </a:lnTo>
                  <a:close/>
                </a:path>
                <a:path w="1078230" h="1153160">
                  <a:moveTo>
                    <a:pt x="1019635" y="1101542"/>
                  </a:moveTo>
                  <a:lnTo>
                    <a:pt x="1009015" y="1121029"/>
                  </a:lnTo>
                  <a:lnTo>
                    <a:pt x="1031367" y="1120394"/>
                  </a:lnTo>
                  <a:lnTo>
                    <a:pt x="1019635" y="1101542"/>
                  </a:lnTo>
                  <a:close/>
                </a:path>
                <a:path w="1078230" h="1153160">
                  <a:moveTo>
                    <a:pt x="1029267" y="1083868"/>
                  </a:moveTo>
                  <a:lnTo>
                    <a:pt x="1019635" y="1101542"/>
                  </a:lnTo>
                  <a:lnTo>
                    <a:pt x="1031367" y="1120394"/>
                  </a:lnTo>
                  <a:lnTo>
                    <a:pt x="1009015" y="1121029"/>
                  </a:lnTo>
                  <a:lnTo>
                    <a:pt x="1032974" y="1121029"/>
                  </a:lnTo>
                  <a:lnTo>
                    <a:pt x="1031113" y="1097153"/>
                  </a:lnTo>
                  <a:lnTo>
                    <a:pt x="1029267" y="1083868"/>
                  </a:lnTo>
                  <a:close/>
                </a:path>
                <a:path w="1078230" h="1153160">
                  <a:moveTo>
                    <a:pt x="25908" y="0"/>
                  </a:moveTo>
                  <a:lnTo>
                    <a:pt x="0" y="762"/>
                  </a:lnTo>
                  <a:lnTo>
                    <a:pt x="762" y="27813"/>
                  </a:lnTo>
                  <a:lnTo>
                    <a:pt x="2895" y="55245"/>
                  </a:lnTo>
                  <a:lnTo>
                    <a:pt x="11544" y="110109"/>
                  </a:lnTo>
                  <a:lnTo>
                    <a:pt x="25438" y="164084"/>
                  </a:lnTo>
                  <a:lnTo>
                    <a:pt x="44196" y="216535"/>
                  </a:lnTo>
                  <a:lnTo>
                    <a:pt x="67386" y="267335"/>
                  </a:lnTo>
                  <a:lnTo>
                    <a:pt x="94856" y="315976"/>
                  </a:lnTo>
                  <a:lnTo>
                    <a:pt x="126022" y="361950"/>
                  </a:lnTo>
                  <a:lnTo>
                    <a:pt x="160566" y="404876"/>
                  </a:lnTo>
                  <a:lnTo>
                    <a:pt x="198170" y="444373"/>
                  </a:lnTo>
                  <a:lnTo>
                    <a:pt x="238417" y="480187"/>
                  </a:lnTo>
                  <a:lnTo>
                    <a:pt x="280949" y="511556"/>
                  </a:lnTo>
                  <a:lnTo>
                    <a:pt x="325501" y="538353"/>
                  </a:lnTo>
                  <a:lnTo>
                    <a:pt x="371729" y="560070"/>
                  </a:lnTo>
                  <a:lnTo>
                    <a:pt x="419227" y="576072"/>
                  </a:lnTo>
                  <a:lnTo>
                    <a:pt x="467614" y="586105"/>
                  </a:lnTo>
                  <a:lnTo>
                    <a:pt x="540131" y="590423"/>
                  </a:lnTo>
                  <a:lnTo>
                    <a:pt x="562864" y="592836"/>
                  </a:lnTo>
                  <a:lnTo>
                    <a:pt x="607949" y="602234"/>
                  </a:lnTo>
                  <a:lnTo>
                    <a:pt x="652653" y="617220"/>
                  </a:lnTo>
                  <a:lnTo>
                    <a:pt x="696341" y="637794"/>
                  </a:lnTo>
                  <a:lnTo>
                    <a:pt x="738632" y="663194"/>
                  </a:lnTo>
                  <a:lnTo>
                    <a:pt x="779272" y="693293"/>
                  </a:lnTo>
                  <a:lnTo>
                    <a:pt x="817880" y="727456"/>
                  </a:lnTo>
                  <a:lnTo>
                    <a:pt x="853948" y="765429"/>
                  </a:lnTo>
                  <a:lnTo>
                    <a:pt x="887222" y="806831"/>
                  </a:lnTo>
                  <a:lnTo>
                    <a:pt x="917194" y="851027"/>
                  </a:lnTo>
                  <a:lnTo>
                    <a:pt x="943610" y="897763"/>
                  </a:lnTo>
                  <a:lnTo>
                    <a:pt x="965835" y="946404"/>
                  </a:lnTo>
                  <a:lnTo>
                    <a:pt x="983869" y="996823"/>
                  </a:lnTo>
                  <a:lnTo>
                    <a:pt x="997077" y="1048258"/>
                  </a:lnTo>
                  <a:lnTo>
                    <a:pt x="1001542" y="1072468"/>
                  </a:lnTo>
                  <a:lnTo>
                    <a:pt x="1019635" y="1101542"/>
                  </a:lnTo>
                  <a:lnTo>
                    <a:pt x="1029267" y="1083868"/>
                  </a:lnTo>
                  <a:lnTo>
                    <a:pt x="1027303" y="1069721"/>
                  </a:lnTo>
                  <a:lnTo>
                    <a:pt x="1022350" y="1042416"/>
                  </a:lnTo>
                  <a:lnTo>
                    <a:pt x="1008380" y="988568"/>
                  </a:lnTo>
                  <a:lnTo>
                    <a:pt x="989584" y="936117"/>
                  </a:lnTo>
                  <a:lnTo>
                    <a:pt x="966343" y="885317"/>
                  </a:lnTo>
                  <a:lnTo>
                    <a:pt x="938911" y="836803"/>
                  </a:lnTo>
                  <a:lnTo>
                    <a:pt x="907669" y="790956"/>
                  </a:lnTo>
                  <a:lnTo>
                    <a:pt x="873125" y="748030"/>
                  </a:lnTo>
                  <a:lnTo>
                    <a:pt x="835532" y="708533"/>
                  </a:lnTo>
                  <a:lnTo>
                    <a:pt x="795147" y="672846"/>
                  </a:lnTo>
                  <a:lnTo>
                    <a:pt x="752602" y="641350"/>
                  </a:lnTo>
                  <a:lnTo>
                    <a:pt x="707898" y="614553"/>
                  </a:lnTo>
                  <a:lnTo>
                    <a:pt x="661670" y="592963"/>
                  </a:lnTo>
                  <a:lnTo>
                    <a:pt x="614045" y="576961"/>
                  </a:lnTo>
                  <a:lnTo>
                    <a:pt x="565531" y="567055"/>
                  </a:lnTo>
                  <a:lnTo>
                    <a:pt x="494792" y="562864"/>
                  </a:lnTo>
                  <a:lnTo>
                    <a:pt x="472059" y="560578"/>
                  </a:lnTo>
                  <a:lnTo>
                    <a:pt x="426720" y="551307"/>
                  </a:lnTo>
                  <a:lnTo>
                    <a:pt x="382143" y="536321"/>
                  </a:lnTo>
                  <a:lnTo>
                    <a:pt x="338328" y="515874"/>
                  </a:lnTo>
                  <a:lnTo>
                    <a:pt x="295884" y="490474"/>
                  </a:lnTo>
                  <a:lnTo>
                    <a:pt x="255168" y="460375"/>
                  </a:lnTo>
                  <a:lnTo>
                    <a:pt x="216547" y="426212"/>
                  </a:lnTo>
                  <a:lnTo>
                    <a:pt x="180428" y="388239"/>
                  </a:lnTo>
                  <a:lnTo>
                    <a:pt x="147154" y="346964"/>
                  </a:lnTo>
                  <a:lnTo>
                    <a:pt x="117170" y="302768"/>
                  </a:lnTo>
                  <a:lnTo>
                    <a:pt x="90728" y="256159"/>
                  </a:lnTo>
                  <a:lnTo>
                    <a:pt x="68389" y="207264"/>
                  </a:lnTo>
                  <a:lnTo>
                    <a:pt x="50380" y="157099"/>
                  </a:lnTo>
                  <a:lnTo>
                    <a:pt x="37033" y="105537"/>
                  </a:lnTo>
                  <a:lnTo>
                    <a:pt x="28727" y="53340"/>
                  </a:lnTo>
                  <a:lnTo>
                    <a:pt x="26670" y="27051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092196" y="124967"/>
              <a:ext cx="4742815" cy="4125595"/>
            </a:xfrm>
            <a:custGeom>
              <a:avLst/>
              <a:gdLst/>
              <a:ahLst/>
              <a:cxnLst/>
              <a:rect l="l" t="t" r="r" b="b"/>
              <a:pathLst>
                <a:path w="4742815" h="4125595">
                  <a:moveTo>
                    <a:pt x="4251325" y="4062603"/>
                  </a:moveTo>
                  <a:lnTo>
                    <a:pt x="4267773" y="4031222"/>
                  </a:lnTo>
                  <a:lnTo>
                    <a:pt x="4282138" y="3991482"/>
                  </a:lnTo>
                  <a:lnTo>
                    <a:pt x="4303099" y="3940123"/>
                  </a:lnTo>
                  <a:lnTo>
                    <a:pt x="4339335" y="3873880"/>
                  </a:lnTo>
                  <a:lnTo>
                    <a:pt x="4348551" y="3858004"/>
                  </a:lnTo>
                  <a:lnTo>
                    <a:pt x="4357338" y="3841829"/>
                  </a:lnTo>
                  <a:lnTo>
                    <a:pt x="4391753" y="3794388"/>
                  </a:lnTo>
                  <a:lnTo>
                    <a:pt x="4423864" y="3763563"/>
                  </a:lnTo>
                  <a:lnTo>
                    <a:pt x="4439920" y="3748151"/>
                  </a:lnTo>
                  <a:lnTo>
                    <a:pt x="4446027" y="3735470"/>
                  </a:lnTo>
                  <a:lnTo>
                    <a:pt x="4452016" y="3722719"/>
                  </a:lnTo>
                  <a:lnTo>
                    <a:pt x="4458243" y="3710110"/>
                  </a:lnTo>
                  <a:lnTo>
                    <a:pt x="4465065" y="3697858"/>
                  </a:lnTo>
                  <a:lnTo>
                    <a:pt x="4477158" y="3678678"/>
                  </a:lnTo>
                  <a:lnTo>
                    <a:pt x="4489799" y="3659854"/>
                  </a:lnTo>
                  <a:lnTo>
                    <a:pt x="4502677" y="3641173"/>
                  </a:lnTo>
                  <a:lnTo>
                    <a:pt x="4515484" y="3622420"/>
                  </a:lnTo>
                  <a:lnTo>
                    <a:pt x="4534201" y="3594129"/>
                  </a:lnTo>
                  <a:lnTo>
                    <a:pt x="4543107" y="3581066"/>
                  </a:lnTo>
                  <a:lnTo>
                    <a:pt x="4553918" y="3566646"/>
                  </a:lnTo>
                  <a:lnTo>
                    <a:pt x="4578350" y="3534282"/>
                  </a:lnTo>
                  <a:lnTo>
                    <a:pt x="4587123" y="3507792"/>
                  </a:lnTo>
                  <a:lnTo>
                    <a:pt x="4590993" y="3495914"/>
                  </a:lnTo>
                  <a:lnTo>
                    <a:pt x="4591485" y="3494538"/>
                  </a:lnTo>
                  <a:lnTo>
                    <a:pt x="4590127" y="3499554"/>
                  </a:lnTo>
                  <a:lnTo>
                    <a:pt x="4588446" y="3506850"/>
                  </a:lnTo>
                  <a:lnTo>
                    <a:pt x="4587969" y="3512319"/>
                  </a:lnTo>
                  <a:lnTo>
                    <a:pt x="4590223" y="3511848"/>
                  </a:lnTo>
                  <a:lnTo>
                    <a:pt x="4596735" y="3501328"/>
                  </a:lnTo>
                  <a:lnTo>
                    <a:pt x="4609032" y="3476648"/>
                  </a:lnTo>
                  <a:lnTo>
                    <a:pt x="4628642" y="3433698"/>
                  </a:lnTo>
                  <a:lnTo>
                    <a:pt x="4642092" y="3401076"/>
                  </a:lnTo>
                  <a:lnTo>
                    <a:pt x="4646304" y="3385746"/>
                  </a:lnTo>
                  <a:lnTo>
                    <a:pt x="4644650" y="3381926"/>
                  </a:lnTo>
                  <a:lnTo>
                    <a:pt x="4640500" y="3383835"/>
                  </a:lnTo>
                  <a:lnTo>
                    <a:pt x="4637225" y="3385690"/>
                  </a:lnTo>
                  <a:lnTo>
                    <a:pt x="4638196" y="3381710"/>
                  </a:lnTo>
                  <a:lnTo>
                    <a:pt x="4666360" y="3333115"/>
                  </a:lnTo>
                  <a:lnTo>
                    <a:pt x="4697317" y="3285616"/>
                  </a:lnTo>
                  <a:lnTo>
                    <a:pt x="4716653" y="3257549"/>
                  </a:lnTo>
                  <a:lnTo>
                    <a:pt x="4727519" y="3225012"/>
                  </a:lnTo>
                  <a:lnTo>
                    <a:pt x="4735196" y="3200931"/>
                  </a:lnTo>
                  <a:lnTo>
                    <a:pt x="4740024" y="3182446"/>
                  </a:lnTo>
                  <a:lnTo>
                    <a:pt x="4742341" y="3166698"/>
                  </a:lnTo>
                  <a:lnTo>
                    <a:pt x="4742484" y="3150825"/>
                  </a:lnTo>
                  <a:lnTo>
                    <a:pt x="4740792" y="3131967"/>
                  </a:lnTo>
                  <a:lnTo>
                    <a:pt x="4737604" y="3107265"/>
                  </a:lnTo>
                  <a:lnTo>
                    <a:pt x="4733257" y="3073858"/>
                  </a:lnTo>
                  <a:lnTo>
                    <a:pt x="4728091" y="3028886"/>
                  </a:lnTo>
                  <a:lnTo>
                    <a:pt x="4722443" y="2969489"/>
                  </a:lnTo>
                  <a:lnTo>
                    <a:pt x="4716653" y="2892805"/>
                  </a:lnTo>
                  <a:lnTo>
                    <a:pt x="4714688" y="2880107"/>
                  </a:lnTo>
                  <a:lnTo>
                    <a:pt x="4711223" y="2867612"/>
                  </a:lnTo>
                  <a:lnTo>
                    <a:pt x="4707330" y="2855140"/>
                  </a:lnTo>
                  <a:lnTo>
                    <a:pt x="4704080" y="2842514"/>
                  </a:lnTo>
                  <a:lnTo>
                    <a:pt x="4700811" y="2823672"/>
                  </a:lnTo>
                  <a:lnTo>
                    <a:pt x="4698031" y="2804747"/>
                  </a:lnTo>
                  <a:lnTo>
                    <a:pt x="4695132" y="2785846"/>
                  </a:lnTo>
                  <a:lnTo>
                    <a:pt x="4691507" y="2767076"/>
                  </a:lnTo>
                  <a:lnTo>
                    <a:pt x="4688756" y="2757521"/>
                  </a:lnTo>
                  <a:lnTo>
                    <a:pt x="4685315" y="2748168"/>
                  </a:lnTo>
                  <a:lnTo>
                    <a:pt x="4681827" y="2738840"/>
                  </a:lnTo>
                  <a:lnTo>
                    <a:pt x="4678933" y="2729356"/>
                  </a:lnTo>
                  <a:lnTo>
                    <a:pt x="4675451" y="2713730"/>
                  </a:lnTo>
                  <a:lnTo>
                    <a:pt x="4672504" y="2697972"/>
                  </a:lnTo>
                  <a:lnTo>
                    <a:pt x="4669629" y="2682190"/>
                  </a:lnTo>
                  <a:lnTo>
                    <a:pt x="4666360" y="2666491"/>
                  </a:lnTo>
                  <a:lnTo>
                    <a:pt x="4654978" y="2615803"/>
                  </a:lnTo>
                  <a:lnTo>
                    <a:pt x="4641214" y="2565780"/>
                  </a:lnTo>
                  <a:lnTo>
                    <a:pt x="4634642" y="2547016"/>
                  </a:lnTo>
                  <a:lnTo>
                    <a:pt x="4631463" y="2537598"/>
                  </a:lnTo>
                  <a:lnTo>
                    <a:pt x="4628642" y="2528061"/>
                  </a:lnTo>
                  <a:lnTo>
                    <a:pt x="4622391" y="2502915"/>
                  </a:lnTo>
                  <a:lnTo>
                    <a:pt x="4616735" y="2477579"/>
                  </a:lnTo>
                  <a:lnTo>
                    <a:pt x="4610746" y="2452338"/>
                  </a:lnTo>
                  <a:lnTo>
                    <a:pt x="4603496" y="2427478"/>
                  </a:lnTo>
                  <a:lnTo>
                    <a:pt x="4600263" y="2418066"/>
                  </a:lnTo>
                  <a:lnTo>
                    <a:pt x="4596971" y="2408666"/>
                  </a:lnTo>
                  <a:lnTo>
                    <a:pt x="4593798" y="2399242"/>
                  </a:lnTo>
                  <a:lnTo>
                    <a:pt x="4590923" y="2389758"/>
                  </a:lnTo>
                  <a:lnTo>
                    <a:pt x="4586100" y="2370899"/>
                  </a:lnTo>
                  <a:lnTo>
                    <a:pt x="4580064" y="2346229"/>
                  </a:lnTo>
                  <a:lnTo>
                    <a:pt x="4573170" y="2321321"/>
                  </a:lnTo>
                  <a:lnTo>
                    <a:pt x="4565777" y="2301747"/>
                  </a:lnTo>
                  <a:lnTo>
                    <a:pt x="4549328" y="2273974"/>
                  </a:lnTo>
                  <a:lnTo>
                    <a:pt x="4538487" y="2261774"/>
                  </a:lnTo>
                  <a:lnTo>
                    <a:pt x="4528718" y="2247526"/>
                  </a:lnTo>
                  <a:lnTo>
                    <a:pt x="4515484" y="2213609"/>
                  </a:lnTo>
                  <a:lnTo>
                    <a:pt x="4509571" y="2188124"/>
                  </a:lnTo>
                  <a:lnTo>
                    <a:pt x="4505896" y="2161841"/>
                  </a:lnTo>
                  <a:lnTo>
                    <a:pt x="4500697" y="2136296"/>
                  </a:lnTo>
                  <a:lnTo>
                    <a:pt x="4490211" y="2113026"/>
                  </a:lnTo>
                  <a:lnTo>
                    <a:pt x="4477192" y="2094434"/>
                  </a:lnTo>
                  <a:lnTo>
                    <a:pt x="4463875" y="2076021"/>
                  </a:lnTo>
                  <a:lnTo>
                    <a:pt x="4451153" y="2057251"/>
                  </a:lnTo>
                  <a:lnTo>
                    <a:pt x="4439920" y="2037587"/>
                  </a:lnTo>
                  <a:lnTo>
                    <a:pt x="4425882" y="2009227"/>
                  </a:lnTo>
                  <a:lnTo>
                    <a:pt x="4410678" y="1979390"/>
                  </a:lnTo>
                  <a:lnTo>
                    <a:pt x="4377055" y="1924430"/>
                  </a:lnTo>
                  <a:lnTo>
                    <a:pt x="4349033" y="1895855"/>
                  </a:lnTo>
                  <a:lnTo>
                    <a:pt x="4339335" y="1886584"/>
                  </a:lnTo>
                  <a:lnTo>
                    <a:pt x="4330167" y="1857830"/>
                  </a:lnTo>
                  <a:lnTo>
                    <a:pt x="4327101" y="1849240"/>
                  </a:lnTo>
                  <a:lnTo>
                    <a:pt x="4323590" y="1847485"/>
                  </a:lnTo>
                  <a:lnTo>
                    <a:pt x="4313086" y="1839231"/>
                  </a:lnTo>
                  <a:lnTo>
                    <a:pt x="4289044" y="1811146"/>
                  </a:lnTo>
                  <a:lnTo>
                    <a:pt x="4275720" y="1792823"/>
                  </a:lnTo>
                  <a:lnTo>
                    <a:pt x="4263231" y="1773904"/>
                  </a:lnTo>
                  <a:lnTo>
                    <a:pt x="4251074" y="1754747"/>
                  </a:lnTo>
                  <a:lnTo>
                    <a:pt x="4238752" y="1735708"/>
                  </a:lnTo>
                  <a:lnTo>
                    <a:pt x="4232786" y="1726011"/>
                  </a:lnTo>
                  <a:lnTo>
                    <a:pt x="4227036" y="1716135"/>
                  </a:lnTo>
                  <a:lnTo>
                    <a:pt x="4220856" y="1706616"/>
                  </a:lnTo>
                  <a:lnTo>
                    <a:pt x="4213606" y="1697989"/>
                  </a:lnTo>
                  <a:lnTo>
                    <a:pt x="4190708" y="1676719"/>
                  </a:lnTo>
                  <a:lnTo>
                    <a:pt x="4167203" y="1655937"/>
                  </a:lnTo>
                  <a:lnTo>
                    <a:pt x="4144865" y="1634178"/>
                  </a:lnTo>
                  <a:lnTo>
                    <a:pt x="4104405" y="1578279"/>
                  </a:lnTo>
                  <a:lnTo>
                    <a:pt x="4078102" y="1538338"/>
                  </a:lnTo>
                  <a:lnTo>
                    <a:pt x="4026993" y="1492708"/>
                  </a:lnTo>
                  <a:lnTo>
                    <a:pt x="3999737" y="1458976"/>
                  </a:lnTo>
                  <a:lnTo>
                    <a:pt x="3975401" y="1426829"/>
                  </a:lnTo>
                  <a:lnTo>
                    <a:pt x="3962929" y="1411023"/>
                  </a:lnTo>
                  <a:lnTo>
                    <a:pt x="3949446" y="1396110"/>
                  </a:lnTo>
                  <a:lnTo>
                    <a:pt x="3940677" y="1389038"/>
                  </a:lnTo>
                  <a:lnTo>
                    <a:pt x="3930919" y="1383156"/>
                  </a:lnTo>
                  <a:lnTo>
                    <a:pt x="3920996" y="1377465"/>
                  </a:lnTo>
                  <a:lnTo>
                    <a:pt x="3911727" y="1370964"/>
                  </a:lnTo>
                  <a:lnTo>
                    <a:pt x="3882848" y="1343211"/>
                  </a:lnTo>
                  <a:lnTo>
                    <a:pt x="3856005" y="1307147"/>
                  </a:lnTo>
                  <a:lnTo>
                    <a:pt x="3847004" y="1294205"/>
                  </a:lnTo>
                  <a:lnTo>
                    <a:pt x="3836288" y="1282953"/>
                  </a:lnTo>
                  <a:lnTo>
                    <a:pt x="3827803" y="1277989"/>
                  </a:lnTo>
                  <a:lnTo>
                    <a:pt x="3818223" y="1275048"/>
                  </a:lnTo>
                  <a:lnTo>
                    <a:pt x="3808214" y="1272917"/>
                  </a:lnTo>
                  <a:lnTo>
                    <a:pt x="3798443" y="1270380"/>
                  </a:lnTo>
                  <a:lnTo>
                    <a:pt x="3789227" y="1260719"/>
                  </a:lnTo>
                  <a:lnTo>
                    <a:pt x="3780154" y="1250902"/>
                  </a:lnTo>
                  <a:lnTo>
                    <a:pt x="3770796" y="1241395"/>
                  </a:lnTo>
                  <a:lnTo>
                    <a:pt x="3738864" y="1216908"/>
                  </a:lnTo>
                  <a:lnTo>
                    <a:pt x="3693715" y="1187495"/>
                  </a:lnTo>
                  <a:lnTo>
                    <a:pt x="3685285" y="1182242"/>
                  </a:lnTo>
                  <a:lnTo>
                    <a:pt x="3670123" y="1159079"/>
                  </a:lnTo>
                  <a:lnTo>
                    <a:pt x="3644084" y="1126182"/>
                  </a:lnTo>
                  <a:lnTo>
                    <a:pt x="3613187" y="1100214"/>
                  </a:lnTo>
                  <a:lnTo>
                    <a:pt x="3603418" y="1094374"/>
                  </a:lnTo>
                  <a:lnTo>
                    <a:pt x="3593720" y="1088463"/>
                  </a:lnTo>
                  <a:lnTo>
                    <a:pt x="3584702" y="1081658"/>
                  </a:lnTo>
                  <a:lnTo>
                    <a:pt x="3565824" y="1062674"/>
                  </a:lnTo>
                  <a:lnTo>
                    <a:pt x="3548078" y="1042463"/>
                  </a:lnTo>
                  <a:lnTo>
                    <a:pt x="3529784" y="1022990"/>
                  </a:lnTo>
                  <a:lnTo>
                    <a:pt x="3509263" y="1006220"/>
                  </a:lnTo>
                  <a:lnTo>
                    <a:pt x="3433699" y="955928"/>
                  </a:lnTo>
                  <a:lnTo>
                    <a:pt x="3395979" y="930782"/>
                  </a:lnTo>
                  <a:lnTo>
                    <a:pt x="3390014" y="921085"/>
                  </a:lnTo>
                  <a:lnTo>
                    <a:pt x="3384264" y="911209"/>
                  </a:lnTo>
                  <a:lnTo>
                    <a:pt x="3378084" y="901690"/>
                  </a:lnTo>
                  <a:lnTo>
                    <a:pt x="3370833" y="893063"/>
                  </a:lnTo>
                  <a:lnTo>
                    <a:pt x="3343973" y="869130"/>
                  </a:lnTo>
                  <a:lnTo>
                    <a:pt x="3325876" y="857996"/>
                  </a:lnTo>
                  <a:lnTo>
                    <a:pt x="3308254" y="848647"/>
                  </a:lnTo>
                  <a:lnTo>
                    <a:pt x="3282823" y="830071"/>
                  </a:lnTo>
                  <a:lnTo>
                    <a:pt x="3253837" y="803247"/>
                  </a:lnTo>
                  <a:lnTo>
                    <a:pt x="3246389" y="793591"/>
                  </a:lnTo>
                  <a:lnTo>
                    <a:pt x="3238299" y="789602"/>
                  </a:lnTo>
                  <a:lnTo>
                    <a:pt x="3207385" y="779779"/>
                  </a:lnTo>
                  <a:lnTo>
                    <a:pt x="3198191" y="750516"/>
                  </a:lnTo>
                  <a:lnTo>
                    <a:pt x="3195434" y="742326"/>
                  </a:lnTo>
                  <a:lnTo>
                    <a:pt x="3156966" y="716914"/>
                  </a:lnTo>
                  <a:lnTo>
                    <a:pt x="3138154" y="691768"/>
                  </a:lnTo>
                  <a:lnTo>
                    <a:pt x="3129337" y="678660"/>
                  </a:lnTo>
                  <a:lnTo>
                    <a:pt x="3119247" y="666622"/>
                  </a:lnTo>
                  <a:lnTo>
                    <a:pt x="3107388" y="656407"/>
                  </a:lnTo>
                  <a:lnTo>
                    <a:pt x="3094482" y="647382"/>
                  </a:lnTo>
                  <a:lnTo>
                    <a:pt x="3081385" y="638548"/>
                  </a:lnTo>
                  <a:lnTo>
                    <a:pt x="3068955" y="628903"/>
                  </a:lnTo>
                  <a:lnTo>
                    <a:pt x="3056203" y="616527"/>
                  </a:lnTo>
                  <a:lnTo>
                    <a:pt x="3044094" y="603424"/>
                  </a:lnTo>
                  <a:lnTo>
                    <a:pt x="3031843" y="590488"/>
                  </a:lnTo>
                  <a:lnTo>
                    <a:pt x="3018663" y="578611"/>
                  </a:lnTo>
                  <a:lnTo>
                    <a:pt x="3000446" y="565128"/>
                  </a:lnTo>
                  <a:lnTo>
                    <a:pt x="2981515" y="552656"/>
                  </a:lnTo>
                  <a:lnTo>
                    <a:pt x="2962298" y="540589"/>
                  </a:lnTo>
                  <a:lnTo>
                    <a:pt x="2943225" y="528319"/>
                  </a:lnTo>
                  <a:lnTo>
                    <a:pt x="2934045" y="521513"/>
                  </a:lnTo>
                  <a:lnTo>
                    <a:pt x="2925032" y="514350"/>
                  </a:lnTo>
                  <a:lnTo>
                    <a:pt x="2915685" y="507853"/>
                  </a:lnTo>
                  <a:lnTo>
                    <a:pt x="2875125" y="492706"/>
                  </a:lnTo>
                  <a:lnTo>
                    <a:pt x="2811458" y="472596"/>
                  </a:lnTo>
                  <a:lnTo>
                    <a:pt x="2757753" y="461756"/>
                  </a:lnTo>
                  <a:lnTo>
                    <a:pt x="2713676" y="455755"/>
                  </a:lnTo>
                  <a:lnTo>
                    <a:pt x="2691638" y="452754"/>
                  </a:lnTo>
                  <a:lnTo>
                    <a:pt x="2540762" y="402462"/>
                  </a:lnTo>
                  <a:lnTo>
                    <a:pt x="2531100" y="399766"/>
                  </a:lnTo>
                  <a:lnTo>
                    <a:pt x="2521283" y="397367"/>
                  </a:lnTo>
                  <a:lnTo>
                    <a:pt x="2511776" y="394372"/>
                  </a:lnTo>
                  <a:lnTo>
                    <a:pt x="2503043" y="389889"/>
                  </a:lnTo>
                  <a:lnTo>
                    <a:pt x="2458142" y="358850"/>
                  </a:lnTo>
                  <a:lnTo>
                    <a:pt x="2438828" y="345122"/>
                  </a:lnTo>
                  <a:lnTo>
                    <a:pt x="2423300" y="338062"/>
                  </a:lnTo>
                  <a:lnTo>
                    <a:pt x="2389759" y="327024"/>
                  </a:lnTo>
                  <a:lnTo>
                    <a:pt x="2380650" y="317220"/>
                  </a:lnTo>
                  <a:lnTo>
                    <a:pt x="2371756" y="307165"/>
                  </a:lnTo>
                  <a:lnTo>
                    <a:pt x="2362434" y="297610"/>
                  </a:lnTo>
                  <a:lnTo>
                    <a:pt x="2352040" y="289305"/>
                  </a:lnTo>
                  <a:lnTo>
                    <a:pt x="2343199" y="284966"/>
                  </a:lnTo>
                  <a:lnTo>
                    <a:pt x="2333609" y="282209"/>
                  </a:lnTo>
                  <a:lnTo>
                    <a:pt x="2323804" y="279858"/>
                  </a:lnTo>
                  <a:lnTo>
                    <a:pt x="2314321" y="276732"/>
                  </a:lnTo>
                  <a:lnTo>
                    <a:pt x="2269124" y="254444"/>
                  </a:lnTo>
                  <a:lnTo>
                    <a:pt x="2226310" y="226440"/>
                  </a:lnTo>
                  <a:lnTo>
                    <a:pt x="2198288" y="197776"/>
                  </a:lnTo>
                  <a:lnTo>
                    <a:pt x="2188591" y="188722"/>
                  </a:lnTo>
                  <a:lnTo>
                    <a:pt x="2179391" y="182022"/>
                  </a:lnTo>
                  <a:lnTo>
                    <a:pt x="2169668" y="176085"/>
                  </a:lnTo>
                  <a:lnTo>
                    <a:pt x="2159944" y="170148"/>
                  </a:lnTo>
                  <a:lnTo>
                    <a:pt x="2150745" y="163449"/>
                  </a:lnTo>
                  <a:lnTo>
                    <a:pt x="2141315" y="154001"/>
                  </a:lnTo>
                  <a:lnTo>
                    <a:pt x="2132647" y="143589"/>
                  </a:lnTo>
                  <a:lnTo>
                    <a:pt x="2123598" y="133677"/>
                  </a:lnTo>
                  <a:lnTo>
                    <a:pt x="2113026" y="125729"/>
                  </a:lnTo>
                  <a:lnTo>
                    <a:pt x="2094595" y="118461"/>
                  </a:lnTo>
                  <a:lnTo>
                    <a:pt x="2074926" y="113871"/>
                  </a:lnTo>
                  <a:lnTo>
                    <a:pt x="2055447" y="108924"/>
                  </a:lnTo>
                  <a:lnTo>
                    <a:pt x="2037588" y="100583"/>
                  </a:lnTo>
                  <a:lnTo>
                    <a:pt x="2028336" y="93993"/>
                  </a:lnTo>
                  <a:lnTo>
                    <a:pt x="2019204" y="87201"/>
                  </a:lnTo>
                  <a:lnTo>
                    <a:pt x="2009834" y="80813"/>
                  </a:lnTo>
                  <a:lnTo>
                    <a:pt x="1999869" y="75437"/>
                  </a:lnTo>
                  <a:lnTo>
                    <a:pt x="1980938" y="69026"/>
                  </a:lnTo>
                  <a:lnTo>
                    <a:pt x="1961292" y="64341"/>
                  </a:lnTo>
                  <a:lnTo>
                    <a:pt x="1942076" y="58918"/>
                  </a:lnTo>
                  <a:lnTo>
                    <a:pt x="1924431" y="50291"/>
                  </a:lnTo>
                  <a:lnTo>
                    <a:pt x="1915126" y="43773"/>
                  </a:lnTo>
                  <a:lnTo>
                    <a:pt x="1905904" y="37099"/>
                  </a:lnTo>
                  <a:lnTo>
                    <a:pt x="1896516" y="30735"/>
                  </a:lnTo>
                  <a:lnTo>
                    <a:pt x="1856777" y="14466"/>
                  </a:lnTo>
                  <a:lnTo>
                    <a:pt x="1789289" y="3393"/>
                  </a:lnTo>
                  <a:lnTo>
                    <a:pt x="1760855" y="0"/>
                  </a:lnTo>
                  <a:lnTo>
                    <a:pt x="1270381" y="12573"/>
                  </a:lnTo>
                  <a:lnTo>
                    <a:pt x="1220048" y="13618"/>
                  </a:lnTo>
                  <a:lnTo>
                    <a:pt x="1169707" y="14395"/>
                  </a:lnTo>
                  <a:lnTo>
                    <a:pt x="1119362" y="14998"/>
                  </a:lnTo>
                  <a:lnTo>
                    <a:pt x="1069016" y="15525"/>
                  </a:lnTo>
                  <a:lnTo>
                    <a:pt x="1018673" y="16072"/>
                  </a:lnTo>
                  <a:lnTo>
                    <a:pt x="968338" y="16734"/>
                  </a:lnTo>
                  <a:lnTo>
                    <a:pt x="918015" y="17608"/>
                  </a:lnTo>
                  <a:lnTo>
                    <a:pt x="867706" y="18790"/>
                  </a:lnTo>
                  <a:lnTo>
                    <a:pt x="817418" y="20376"/>
                  </a:lnTo>
                  <a:lnTo>
                    <a:pt x="767152" y="22462"/>
                  </a:lnTo>
                  <a:lnTo>
                    <a:pt x="716915" y="25146"/>
                  </a:lnTo>
                  <a:lnTo>
                    <a:pt x="679195" y="37433"/>
                  </a:lnTo>
                  <a:lnTo>
                    <a:pt x="660693" y="45577"/>
                  </a:lnTo>
                  <a:lnTo>
                    <a:pt x="641477" y="50291"/>
                  </a:lnTo>
                  <a:lnTo>
                    <a:pt x="503174" y="62864"/>
                  </a:lnTo>
                  <a:lnTo>
                    <a:pt x="484741" y="76455"/>
                  </a:lnTo>
                  <a:lnTo>
                    <a:pt x="466677" y="90725"/>
                  </a:lnTo>
                  <a:lnTo>
                    <a:pt x="447970" y="103637"/>
                  </a:lnTo>
                  <a:lnTo>
                    <a:pt x="390010" y="125856"/>
                  </a:lnTo>
                  <a:lnTo>
                    <a:pt x="346818" y="139812"/>
                  </a:lnTo>
                  <a:lnTo>
                    <a:pt x="297495" y="144794"/>
                  </a:lnTo>
                  <a:lnTo>
                    <a:pt x="267964" y="145574"/>
                  </a:lnTo>
                  <a:lnTo>
                    <a:pt x="224717" y="147320"/>
                  </a:lnTo>
                  <a:lnTo>
                    <a:pt x="163449" y="150875"/>
                  </a:lnTo>
                  <a:lnTo>
                    <a:pt x="150716" y="188767"/>
                  </a:lnTo>
                  <a:lnTo>
                    <a:pt x="143147" y="210804"/>
                  </a:lnTo>
                  <a:lnTo>
                    <a:pt x="139445" y="221520"/>
                  </a:lnTo>
                  <a:lnTo>
                    <a:pt x="138312" y="225448"/>
                  </a:lnTo>
                  <a:lnTo>
                    <a:pt x="138448" y="227118"/>
                  </a:lnTo>
                  <a:lnTo>
                    <a:pt x="138556" y="231064"/>
                  </a:lnTo>
                  <a:lnTo>
                    <a:pt x="137338" y="241818"/>
                  </a:lnTo>
                  <a:lnTo>
                    <a:pt x="133495" y="263912"/>
                  </a:lnTo>
                  <a:lnTo>
                    <a:pt x="125730" y="301878"/>
                  </a:lnTo>
                  <a:lnTo>
                    <a:pt x="121443" y="327810"/>
                  </a:lnTo>
                  <a:lnTo>
                    <a:pt x="117633" y="354075"/>
                  </a:lnTo>
                  <a:lnTo>
                    <a:pt x="111585" y="379388"/>
                  </a:lnTo>
                  <a:lnTo>
                    <a:pt x="100584" y="402462"/>
                  </a:lnTo>
                  <a:lnTo>
                    <a:pt x="50292" y="477900"/>
                  </a:lnTo>
                  <a:lnTo>
                    <a:pt x="47291" y="487404"/>
                  </a:lnTo>
                  <a:lnTo>
                    <a:pt x="31611" y="528355"/>
                  </a:lnTo>
                  <a:lnTo>
                    <a:pt x="24860" y="540702"/>
                  </a:lnTo>
                  <a:lnTo>
                    <a:pt x="18252" y="553144"/>
                  </a:lnTo>
                  <a:lnTo>
                    <a:pt x="12573" y="566038"/>
                  </a:lnTo>
                  <a:lnTo>
                    <a:pt x="8626" y="578344"/>
                  </a:lnTo>
                  <a:lnTo>
                    <a:pt x="5572" y="590946"/>
                  </a:lnTo>
                  <a:lnTo>
                    <a:pt x="2875" y="603668"/>
                  </a:lnTo>
                  <a:lnTo>
                    <a:pt x="0" y="616330"/>
                  </a:lnTo>
                  <a:lnTo>
                    <a:pt x="13001" y="693721"/>
                  </a:lnTo>
                  <a:lnTo>
                    <a:pt x="24306" y="740364"/>
                  </a:lnTo>
                  <a:lnTo>
                    <a:pt x="50256" y="776690"/>
                  </a:lnTo>
                  <a:lnTo>
                    <a:pt x="62769" y="786209"/>
                  </a:lnTo>
                  <a:lnTo>
                    <a:pt x="75330" y="795656"/>
                  </a:lnTo>
                  <a:lnTo>
                    <a:pt x="88011" y="804926"/>
                  </a:lnTo>
                  <a:lnTo>
                    <a:pt x="97476" y="811248"/>
                  </a:lnTo>
                  <a:lnTo>
                    <a:pt x="107156" y="817213"/>
                  </a:lnTo>
                  <a:lnTo>
                    <a:pt x="116693" y="823321"/>
                  </a:lnTo>
                  <a:lnTo>
                    <a:pt x="125730" y="830071"/>
                  </a:lnTo>
                  <a:lnTo>
                    <a:pt x="154717" y="856970"/>
                  </a:lnTo>
                  <a:lnTo>
                    <a:pt x="162179" y="866663"/>
                  </a:lnTo>
                  <a:lnTo>
                    <a:pt x="170306" y="870666"/>
                  </a:lnTo>
                  <a:lnTo>
                    <a:pt x="201294" y="880490"/>
                  </a:lnTo>
                  <a:lnTo>
                    <a:pt x="225815" y="905315"/>
                  </a:lnTo>
                  <a:lnTo>
                    <a:pt x="253920" y="931830"/>
                  </a:lnTo>
                  <a:lnTo>
                    <a:pt x="284001" y="954678"/>
                  </a:lnTo>
                  <a:lnTo>
                    <a:pt x="314452" y="968501"/>
                  </a:lnTo>
                  <a:lnTo>
                    <a:pt x="364744" y="981074"/>
                  </a:lnTo>
                  <a:lnTo>
                    <a:pt x="383103" y="994665"/>
                  </a:lnTo>
                  <a:lnTo>
                    <a:pt x="419822" y="1021847"/>
                  </a:lnTo>
                  <a:lnTo>
                    <a:pt x="459422" y="1036796"/>
                  </a:lnTo>
                  <a:lnTo>
                    <a:pt x="468899" y="1039832"/>
                  </a:lnTo>
                  <a:lnTo>
                    <a:pt x="477901" y="1043939"/>
                  </a:lnTo>
                  <a:lnTo>
                    <a:pt x="496869" y="1056673"/>
                  </a:lnTo>
                  <a:lnTo>
                    <a:pt x="514873" y="1071038"/>
                  </a:lnTo>
                  <a:lnTo>
                    <a:pt x="533282" y="1084427"/>
                  </a:lnTo>
                  <a:lnTo>
                    <a:pt x="553466" y="1094231"/>
                  </a:lnTo>
                  <a:lnTo>
                    <a:pt x="562860" y="1097464"/>
                  </a:lnTo>
                  <a:lnTo>
                    <a:pt x="572230" y="1100756"/>
                  </a:lnTo>
                  <a:lnTo>
                    <a:pt x="581648" y="1103929"/>
                  </a:lnTo>
                  <a:lnTo>
                    <a:pt x="591184" y="1106804"/>
                  </a:lnTo>
                  <a:lnTo>
                    <a:pt x="603757" y="1110037"/>
                  </a:lnTo>
                  <a:lnTo>
                    <a:pt x="616426" y="1112853"/>
                  </a:lnTo>
                  <a:lnTo>
                    <a:pt x="629046" y="1115788"/>
                  </a:lnTo>
                  <a:lnTo>
                    <a:pt x="641477" y="1119377"/>
                  </a:lnTo>
                  <a:lnTo>
                    <a:pt x="657389" y="1125200"/>
                  </a:lnTo>
                  <a:lnTo>
                    <a:pt x="673052" y="1131665"/>
                  </a:lnTo>
                  <a:lnTo>
                    <a:pt x="688643" y="1138273"/>
                  </a:lnTo>
                  <a:lnTo>
                    <a:pt x="704342" y="1144523"/>
                  </a:lnTo>
                  <a:lnTo>
                    <a:pt x="742061" y="1157096"/>
                  </a:lnTo>
                  <a:lnTo>
                    <a:pt x="817467" y="1164336"/>
                  </a:lnTo>
                  <a:lnTo>
                    <a:pt x="855289" y="1166883"/>
                  </a:lnTo>
                  <a:lnTo>
                    <a:pt x="893064" y="1169669"/>
                  </a:lnTo>
                  <a:lnTo>
                    <a:pt x="933173" y="1183330"/>
                  </a:lnTo>
                  <a:lnTo>
                    <a:pt x="956041" y="1191194"/>
                  </a:lnTo>
                  <a:lnTo>
                    <a:pt x="970740" y="1195403"/>
                  </a:lnTo>
                  <a:lnTo>
                    <a:pt x="986338" y="1198099"/>
                  </a:lnTo>
                  <a:lnTo>
                    <a:pt x="1011906" y="1201422"/>
                  </a:lnTo>
                  <a:lnTo>
                    <a:pt x="1056513" y="1207515"/>
                  </a:lnTo>
                  <a:lnTo>
                    <a:pt x="1065924" y="1210748"/>
                  </a:lnTo>
                  <a:lnTo>
                    <a:pt x="1075324" y="1214040"/>
                  </a:lnTo>
                  <a:lnTo>
                    <a:pt x="1084748" y="1217213"/>
                  </a:lnTo>
                  <a:lnTo>
                    <a:pt x="1144668" y="1233501"/>
                  </a:lnTo>
                  <a:lnTo>
                    <a:pt x="1213014" y="1248896"/>
                  </a:lnTo>
                  <a:lnTo>
                    <a:pt x="1257808" y="1257807"/>
                  </a:lnTo>
                  <a:lnTo>
                    <a:pt x="1270238" y="1264433"/>
                  </a:lnTo>
                  <a:lnTo>
                    <a:pt x="1308100" y="1282953"/>
                  </a:lnTo>
                  <a:lnTo>
                    <a:pt x="1358392" y="1295526"/>
                  </a:lnTo>
                  <a:lnTo>
                    <a:pt x="1383752" y="1301099"/>
                  </a:lnTo>
                  <a:lnTo>
                    <a:pt x="1408683" y="1308099"/>
                  </a:lnTo>
                  <a:lnTo>
                    <a:pt x="1418220" y="1310993"/>
                  </a:lnTo>
                  <a:lnTo>
                    <a:pt x="1427829" y="1313719"/>
                  </a:lnTo>
                  <a:lnTo>
                    <a:pt x="1465310" y="1333245"/>
                  </a:lnTo>
                  <a:lnTo>
                    <a:pt x="1474460" y="1339996"/>
                  </a:lnTo>
                  <a:lnTo>
                    <a:pt x="1484121" y="1345818"/>
                  </a:lnTo>
                  <a:lnTo>
                    <a:pt x="1503233" y="1352980"/>
                  </a:lnTo>
                  <a:lnTo>
                    <a:pt x="1528905" y="1360249"/>
                  </a:lnTo>
                  <a:lnTo>
                    <a:pt x="1554220" y="1366589"/>
                  </a:lnTo>
                  <a:lnTo>
                    <a:pt x="1572259" y="1370964"/>
                  </a:lnTo>
                  <a:lnTo>
                    <a:pt x="1581511" y="1377572"/>
                  </a:lnTo>
                  <a:lnTo>
                    <a:pt x="1631999" y="1404594"/>
                  </a:lnTo>
                  <a:lnTo>
                    <a:pt x="1677040" y="1418845"/>
                  </a:lnTo>
                  <a:lnTo>
                    <a:pt x="1685417" y="1421256"/>
                  </a:lnTo>
                  <a:lnTo>
                    <a:pt x="1694578" y="1431008"/>
                  </a:lnTo>
                  <a:lnTo>
                    <a:pt x="1723136" y="1458976"/>
                  </a:lnTo>
                  <a:lnTo>
                    <a:pt x="1760855" y="1477817"/>
                  </a:lnTo>
                  <a:lnTo>
                    <a:pt x="1773428" y="1484121"/>
                  </a:lnTo>
                  <a:lnTo>
                    <a:pt x="1783125" y="1490033"/>
                  </a:lnTo>
                  <a:lnTo>
                    <a:pt x="1792525" y="1496361"/>
                  </a:lnTo>
                  <a:lnTo>
                    <a:pt x="1801806" y="1502856"/>
                  </a:lnTo>
                  <a:lnTo>
                    <a:pt x="1811146" y="1509267"/>
                  </a:lnTo>
                  <a:lnTo>
                    <a:pt x="1829699" y="1537446"/>
                  </a:lnTo>
                  <a:lnTo>
                    <a:pt x="1837527" y="1549792"/>
                  </a:lnTo>
                  <a:lnTo>
                    <a:pt x="1838467" y="1551322"/>
                  </a:lnTo>
                  <a:lnTo>
                    <a:pt x="1836356" y="1547050"/>
                  </a:lnTo>
                  <a:lnTo>
                    <a:pt x="1835031" y="1541992"/>
                  </a:lnTo>
                  <a:lnTo>
                    <a:pt x="1838328" y="1541164"/>
                  </a:lnTo>
                  <a:lnTo>
                    <a:pt x="1850085" y="1549582"/>
                  </a:lnTo>
                  <a:lnTo>
                    <a:pt x="1874139" y="1572259"/>
                  </a:lnTo>
                  <a:lnTo>
                    <a:pt x="1881068" y="1581153"/>
                  </a:lnTo>
                  <a:lnTo>
                    <a:pt x="1886711" y="1591119"/>
                  </a:lnTo>
                  <a:lnTo>
                    <a:pt x="1892355" y="1601085"/>
                  </a:lnTo>
                  <a:lnTo>
                    <a:pt x="1899284" y="1609978"/>
                  </a:lnTo>
                  <a:lnTo>
                    <a:pt x="1907946" y="1617176"/>
                  </a:lnTo>
                  <a:lnTo>
                    <a:pt x="1917525" y="1623266"/>
                  </a:lnTo>
                  <a:lnTo>
                    <a:pt x="1927413" y="1628999"/>
                  </a:lnTo>
                  <a:lnTo>
                    <a:pt x="1937004" y="1635124"/>
                  </a:lnTo>
                  <a:lnTo>
                    <a:pt x="1949684" y="1644394"/>
                  </a:lnTo>
                  <a:lnTo>
                    <a:pt x="1962245" y="1653841"/>
                  </a:lnTo>
                  <a:lnTo>
                    <a:pt x="1974758" y="1663360"/>
                  </a:lnTo>
                  <a:lnTo>
                    <a:pt x="1987295" y="1672843"/>
                  </a:lnTo>
                  <a:lnTo>
                    <a:pt x="2005811" y="1700985"/>
                  </a:lnTo>
                  <a:lnTo>
                    <a:pt x="2013620" y="1713313"/>
                  </a:lnTo>
                  <a:lnTo>
                    <a:pt x="2014553" y="1714835"/>
                  </a:lnTo>
                  <a:lnTo>
                    <a:pt x="2012442" y="1710563"/>
                  </a:lnTo>
                  <a:lnTo>
                    <a:pt x="2011115" y="1705504"/>
                  </a:lnTo>
                  <a:lnTo>
                    <a:pt x="2014406" y="1704669"/>
                  </a:lnTo>
                  <a:lnTo>
                    <a:pt x="2026144" y="1713067"/>
                  </a:lnTo>
                  <a:lnTo>
                    <a:pt x="2050161" y="1735708"/>
                  </a:lnTo>
                  <a:lnTo>
                    <a:pt x="2072802" y="1759725"/>
                  </a:lnTo>
                  <a:lnTo>
                    <a:pt x="2081200" y="1771463"/>
                  </a:lnTo>
                  <a:lnTo>
                    <a:pt x="2080365" y="1774754"/>
                  </a:lnTo>
                  <a:lnTo>
                    <a:pt x="2075307" y="1773427"/>
                  </a:lnTo>
                  <a:lnTo>
                    <a:pt x="2071034" y="1771316"/>
                  </a:lnTo>
                  <a:lnTo>
                    <a:pt x="2072556" y="1772249"/>
                  </a:lnTo>
                  <a:lnTo>
                    <a:pt x="2084884" y="1780058"/>
                  </a:lnTo>
                  <a:lnTo>
                    <a:pt x="2113026" y="1798573"/>
                  </a:lnTo>
                  <a:lnTo>
                    <a:pt x="2122241" y="1811325"/>
                  </a:lnTo>
                  <a:lnTo>
                    <a:pt x="2131314" y="1824196"/>
                  </a:lnTo>
                  <a:lnTo>
                    <a:pt x="2140672" y="1836828"/>
                  </a:lnTo>
                  <a:lnTo>
                    <a:pt x="2150745" y="1848865"/>
                  </a:lnTo>
                  <a:lnTo>
                    <a:pt x="2173053" y="1870745"/>
                  </a:lnTo>
                  <a:lnTo>
                    <a:pt x="2196623" y="1891506"/>
                  </a:lnTo>
                  <a:lnTo>
                    <a:pt x="2219289" y="1912981"/>
                  </a:lnTo>
                  <a:lnTo>
                    <a:pt x="2238883" y="1937003"/>
                  </a:lnTo>
                  <a:lnTo>
                    <a:pt x="2253992" y="1960185"/>
                  </a:lnTo>
                  <a:lnTo>
                    <a:pt x="2265934" y="1977294"/>
                  </a:lnTo>
                  <a:lnTo>
                    <a:pt x="2280066" y="1993118"/>
                  </a:lnTo>
                  <a:lnTo>
                    <a:pt x="2301748" y="2012441"/>
                  </a:lnTo>
                  <a:lnTo>
                    <a:pt x="2310892" y="2019085"/>
                  </a:lnTo>
                  <a:lnTo>
                    <a:pt x="2320607" y="2025014"/>
                  </a:lnTo>
                  <a:lnTo>
                    <a:pt x="2330322" y="2030944"/>
                  </a:lnTo>
                  <a:lnTo>
                    <a:pt x="2339467" y="2037587"/>
                  </a:lnTo>
                  <a:lnTo>
                    <a:pt x="2349271" y="2046642"/>
                  </a:lnTo>
                  <a:lnTo>
                    <a:pt x="2358469" y="2056304"/>
                  </a:lnTo>
                  <a:lnTo>
                    <a:pt x="2367595" y="2066037"/>
                  </a:lnTo>
                  <a:lnTo>
                    <a:pt x="2377186" y="2075306"/>
                  </a:lnTo>
                  <a:lnTo>
                    <a:pt x="2395938" y="2091166"/>
                  </a:lnTo>
                  <a:lnTo>
                    <a:pt x="2415095" y="2106548"/>
                  </a:lnTo>
                  <a:lnTo>
                    <a:pt x="2434157" y="2122027"/>
                  </a:lnTo>
                  <a:lnTo>
                    <a:pt x="2452624" y="2138171"/>
                  </a:lnTo>
                  <a:lnTo>
                    <a:pt x="2474396" y="2160585"/>
                  </a:lnTo>
                  <a:lnTo>
                    <a:pt x="2495169" y="2184130"/>
                  </a:lnTo>
                  <a:lnTo>
                    <a:pt x="2516703" y="2206698"/>
                  </a:lnTo>
                  <a:lnTo>
                    <a:pt x="2540762" y="2226182"/>
                  </a:lnTo>
                  <a:lnTo>
                    <a:pt x="2567872" y="2243990"/>
                  </a:lnTo>
                  <a:lnTo>
                    <a:pt x="2580005" y="2252630"/>
                  </a:lnTo>
                  <a:lnTo>
                    <a:pt x="2616200" y="2289174"/>
                  </a:lnTo>
                  <a:lnTo>
                    <a:pt x="2625220" y="2326458"/>
                  </a:lnTo>
                  <a:lnTo>
                    <a:pt x="2666492" y="2364612"/>
                  </a:lnTo>
                  <a:lnTo>
                    <a:pt x="2678398" y="2402808"/>
                  </a:lnTo>
                  <a:lnTo>
                    <a:pt x="2682994" y="2422477"/>
                  </a:lnTo>
                  <a:lnTo>
                    <a:pt x="2691638" y="2440051"/>
                  </a:lnTo>
                  <a:lnTo>
                    <a:pt x="2701121" y="2452588"/>
                  </a:lnTo>
                  <a:lnTo>
                    <a:pt x="2710640" y="2465101"/>
                  </a:lnTo>
                  <a:lnTo>
                    <a:pt x="2720087" y="2477662"/>
                  </a:lnTo>
                  <a:lnTo>
                    <a:pt x="2729357" y="2490342"/>
                  </a:lnTo>
                  <a:lnTo>
                    <a:pt x="2735625" y="2499808"/>
                  </a:lnTo>
                  <a:lnTo>
                    <a:pt x="2741596" y="2509488"/>
                  </a:lnTo>
                  <a:lnTo>
                    <a:pt x="2747734" y="2519025"/>
                  </a:lnTo>
                  <a:lnTo>
                    <a:pt x="2754503" y="2528061"/>
                  </a:lnTo>
                  <a:lnTo>
                    <a:pt x="2778005" y="2553209"/>
                  </a:lnTo>
                  <a:lnTo>
                    <a:pt x="2794793" y="2568082"/>
                  </a:lnTo>
                  <a:lnTo>
                    <a:pt x="2810295" y="2584979"/>
                  </a:lnTo>
                  <a:lnTo>
                    <a:pt x="2829941" y="2616199"/>
                  </a:lnTo>
                  <a:lnTo>
                    <a:pt x="2837247" y="2631416"/>
                  </a:lnTo>
                  <a:lnTo>
                    <a:pt x="2843244" y="2647251"/>
                  </a:lnTo>
                  <a:lnTo>
                    <a:pt x="2848907" y="2663277"/>
                  </a:lnTo>
                  <a:lnTo>
                    <a:pt x="2855214" y="2679065"/>
                  </a:lnTo>
                  <a:lnTo>
                    <a:pt x="2861304" y="2691727"/>
                  </a:lnTo>
                  <a:lnTo>
                    <a:pt x="2867834" y="2704163"/>
                  </a:lnTo>
                  <a:lnTo>
                    <a:pt x="2874341" y="2716623"/>
                  </a:lnTo>
                  <a:lnTo>
                    <a:pt x="2880360" y="2729356"/>
                  </a:lnTo>
                  <a:lnTo>
                    <a:pt x="2891634" y="2758233"/>
                  </a:lnTo>
                  <a:lnTo>
                    <a:pt x="2893198" y="2766518"/>
                  </a:lnTo>
                  <a:lnTo>
                    <a:pt x="2892896" y="2767908"/>
                  </a:lnTo>
                  <a:lnTo>
                    <a:pt x="2898574" y="2776101"/>
                  </a:lnTo>
                  <a:lnTo>
                    <a:pt x="2918079" y="2804794"/>
                  </a:lnTo>
                  <a:lnTo>
                    <a:pt x="2921347" y="2814189"/>
                  </a:lnTo>
                  <a:lnTo>
                    <a:pt x="2924698" y="2823559"/>
                  </a:lnTo>
                  <a:lnTo>
                    <a:pt x="2927883" y="2832977"/>
                  </a:lnTo>
                  <a:lnTo>
                    <a:pt x="2930652" y="2842514"/>
                  </a:lnTo>
                  <a:lnTo>
                    <a:pt x="2933866" y="2858283"/>
                  </a:lnTo>
                  <a:lnTo>
                    <a:pt x="2936367" y="2874184"/>
                  </a:lnTo>
                  <a:lnTo>
                    <a:pt x="2939153" y="2889966"/>
                  </a:lnTo>
                  <a:lnTo>
                    <a:pt x="2943225" y="2905379"/>
                  </a:lnTo>
                  <a:lnTo>
                    <a:pt x="2948689" y="2918364"/>
                  </a:lnTo>
                  <a:lnTo>
                    <a:pt x="2955417" y="2930778"/>
                  </a:lnTo>
                  <a:lnTo>
                    <a:pt x="2962334" y="2943097"/>
                  </a:lnTo>
                  <a:lnTo>
                    <a:pt x="2968371" y="2955797"/>
                  </a:lnTo>
                  <a:lnTo>
                    <a:pt x="2988992" y="3016138"/>
                  </a:lnTo>
                  <a:lnTo>
                    <a:pt x="3006090" y="3081528"/>
                  </a:lnTo>
                  <a:lnTo>
                    <a:pt x="3012567" y="3125533"/>
                  </a:lnTo>
                  <a:lnTo>
                    <a:pt x="3015412" y="3147571"/>
                  </a:lnTo>
                  <a:lnTo>
                    <a:pt x="3018663" y="3169539"/>
                  </a:lnTo>
                  <a:lnTo>
                    <a:pt x="3021538" y="3185308"/>
                  </a:lnTo>
                  <a:lnTo>
                    <a:pt x="3024711" y="3201019"/>
                  </a:lnTo>
                  <a:lnTo>
                    <a:pt x="3028003" y="3216705"/>
                  </a:lnTo>
                  <a:lnTo>
                    <a:pt x="3031236" y="3232404"/>
                  </a:lnTo>
                  <a:lnTo>
                    <a:pt x="3033718" y="3279697"/>
                  </a:lnTo>
                  <a:lnTo>
                    <a:pt x="3035760" y="3327003"/>
                  </a:lnTo>
                  <a:lnTo>
                    <a:pt x="3038683" y="3374189"/>
                  </a:lnTo>
                  <a:lnTo>
                    <a:pt x="3043809" y="3421126"/>
                  </a:lnTo>
                  <a:lnTo>
                    <a:pt x="3048452" y="3440396"/>
                  </a:lnTo>
                  <a:lnTo>
                    <a:pt x="3055429" y="3459083"/>
                  </a:lnTo>
                  <a:lnTo>
                    <a:pt x="3062882" y="3477650"/>
                  </a:lnTo>
                  <a:lnTo>
                    <a:pt x="3068955" y="3496563"/>
                  </a:lnTo>
                  <a:lnTo>
                    <a:pt x="3078252" y="3533825"/>
                  </a:lnTo>
                  <a:lnTo>
                    <a:pt x="3094101" y="3584575"/>
                  </a:lnTo>
                  <a:lnTo>
                    <a:pt x="3099292" y="3610213"/>
                  </a:lnTo>
                  <a:lnTo>
                    <a:pt x="3102119" y="3622919"/>
                  </a:lnTo>
                  <a:lnTo>
                    <a:pt x="3106674" y="3634993"/>
                  </a:lnTo>
                  <a:lnTo>
                    <a:pt x="3114978" y="3648227"/>
                  </a:lnTo>
                  <a:lnTo>
                    <a:pt x="3124914" y="3660473"/>
                  </a:lnTo>
                  <a:lnTo>
                    <a:pt x="3135159" y="3672552"/>
                  </a:lnTo>
                  <a:lnTo>
                    <a:pt x="3144393" y="3685285"/>
                  </a:lnTo>
                  <a:lnTo>
                    <a:pt x="3160414" y="3713932"/>
                  </a:lnTo>
                  <a:lnTo>
                    <a:pt x="3168173" y="3732148"/>
                  </a:lnTo>
                  <a:lnTo>
                    <a:pt x="3176647" y="3748936"/>
                  </a:lnTo>
                  <a:lnTo>
                    <a:pt x="3194812" y="3773296"/>
                  </a:lnTo>
                  <a:lnTo>
                    <a:pt x="3203866" y="3783048"/>
                  </a:lnTo>
                  <a:lnTo>
                    <a:pt x="3213623" y="3792156"/>
                  </a:lnTo>
                  <a:lnTo>
                    <a:pt x="3223404" y="3801264"/>
                  </a:lnTo>
                  <a:lnTo>
                    <a:pt x="3232531" y="3811015"/>
                  </a:lnTo>
                  <a:lnTo>
                    <a:pt x="3238924" y="3820445"/>
                  </a:lnTo>
                  <a:lnTo>
                    <a:pt x="3244437" y="3830542"/>
                  </a:lnTo>
                  <a:lnTo>
                    <a:pt x="3250283" y="3840305"/>
                  </a:lnTo>
                  <a:lnTo>
                    <a:pt x="3287895" y="3872237"/>
                  </a:lnTo>
                  <a:lnTo>
                    <a:pt x="3350045" y="3907670"/>
                  </a:lnTo>
                  <a:lnTo>
                    <a:pt x="3383406" y="3924173"/>
                  </a:lnTo>
                  <a:lnTo>
                    <a:pt x="3398766" y="3948892"/>
                  </a:lnTo>
                  <a:lnTo>
                    <a:pt x="3446272" y="3974591"/>
                  </a:lnTo>
                  <a:lnTo>
                    <a:pt x="3509152" y="3990546"/>
                  </a:lnTo>
                  <a:lnTo>
                    <a:pt x="3546982" y="3999737"/>
                  </a:lnTo>
                  <a:lnTo>
                    <a:pt x="3559413" y="4006363"/>
                  </a:lnTo>
                  <a:lnTo>
                    <a:pt x="3597275" y="4024883"/>
                  </a:lnTo>
                  <a:lnTo>
                    <a:pt x="3649614" y="4035790"/>
                  </a:lnTo>
                  <a:lnTo>
                    <a:pt x="3672337" y="4040189"/>
                  </a:lnTo>
                  <a:lnTo>
                    <a:pt x="3697858" y="4050029"/>
                  </a:lnTo>
                  <a:lnTo>
                    <a:pt x="3707538" y="4055941"/>
                  </a:lnTo>
                  <a:lnTo>
                    <a:pt x="3716623" y="4062841"/>
                  </a:lnTo>
                  <a:lnTo>
                    <a:pt x="3725755" y="4069621"/>
                  </a:lnTo>
                  <a:lnTo>
                    <a:pt x="3735578" y="4075176"/>
                  </a:lnTo>
                  <a:lnTo>
                    <a:pt x="3754062" y="4082480"/>
                  </a:lnTo>
                  <a:lnTo>
                    <a:pt x="3772963" y="4088653"/>
                  </a:lnTo>
                  <a:lnTo>
                    <a:pt x="3792031" y="4094374"/>
                  </a:lnTo>
                  <a:lnTo>
                    <a:pt x="3811015" y="4100321"/>
                  </a:lnTo>
                  <a:lnTo>
                    <a:pt x="3848861" y="4112894"/>
                  </a:lnTo>
                  <a:lnTo>
                    <a:pt x="3886580" y="4125467"/>
                  </a:lnTo>
                  <a:lnTo>
                    <a:pt x="3934382" y="4123209"/>
                  </a:lnTo>
                  <a:lnTo>
                    <a:pt x="3982208" y="4121206"/>
                  </a:lnTo>
                  <a:lnTo>
                    <a:pt x="4030022" y="4119076"/>
                  </a:lnTo>
                  <a:lnTo>
                    <a:pt x="4077788" y="4116433"/>
                  </a:lnTo>
                  <a:lnTo>
                    <a:pt x="4125468" y="4112894"/>
                  </a:lnTo>
                  <a:lnTo>
                    <a:pt x="4163687" y="4104965"/>
                  </a:lnTo>
                  <a:lnTo>
                    <a:pt x="4175886" y="4100321"/>
                  </a:lnTo>
                  <a:lnTo>
                    <a:pt x="4195514" y="4094696"/>
                  </a:lnTo>
                  <a:lnTo>
                    <a:pt x="4213748" y="4091130"/>
                  </a:lnTo>
                  <a:lnTo>
                    <a:pt x="4231911" y="4082730"/>
                  </a:lnTo>
                  <a:lnTo>
                    <a:pt x="4251325" y="4062603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25" name="object 12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8224" y="589788"/>
              <a:ext cx="2552700" cy="4012691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339852" y="641603"/>
              <a:ext cx="2414270" cy="3874135"/>
            </a:xfrm>
            <a:custGeom>
              <a:avLst/>
              <a:gdLst/>
              <a:ahLst/>
              <a:cxnLst/>
              <a:rect l="l" t="t" r="r" b="b"/>
              <a:pathLst>
                <a:path w="2414270" h="3874135">
                  <a:moveTo>
                    <a:pt x="641222" y="3811143"/>
                  </a:moveTo>
                  <a:lnTo>
                    <a:pt x="691976" y="3803380"/>
                  </a:lnTo>
                  <a:lnTo>
                    <a:pt x="729932" y="3795373"/>
                  </a:lnTo>
                  <a:lnTo>
                    <a:pt x="767372" y="3767566"/>
                  </a:lnTo>
                  <a:lnTo>
                    <a:pt x="772750" y="3757332"/>
                  </a:lnTo>
                  <a:lnTo>
                    <a:pt x="779526" y="3748278"/>
                  </a:lnTo>
                  <a:lnTo>
                    <a:pt x="807806" y="3723076"/>
                  </a:lnTo>
                  <a:lnTo>
                    <a:pt x="827708" y="3711448"/>
                  </a:lnTo>
                  <a:lnTo>
                    <a:pt x="848664" y="3702486"/>
                  </a:lnTo>
                  <a:lnTo>
                    <a:pt x="880110" y="3685286"/>
                  </a:lnTo>
                  <a:lnTo>
                    <a:pt x="895440" y="3674016"/>
                  </a:lnTo>
                  <a:lnTo>
                    <a:pt x="921296" y="3654377"/>
                  </a:lnTo>
                  <a:lnTo>
                    <a:pt x="948561" y="3634476"/>
                  </a:lnTo>
                  <a:lnTo>
                    <a:pt x="968120" y="3622421"/>
                  </a:lnTo>
                  <a:lnTo>
                    <a:pt x="980318" y="3618206"/>
                  </a:lnTo>
                  <a:lnTo>
                    <a:pt x="992933" y="3615182"/>
                  </a:lnTo>
                  <a:lnTo>
                    <a:pt x="1005714" y="3612634"/>
                  </a:lnTo>
                  <a:lnTo>
                    <a:pt x="1018413" y="3609848"/>
                  </a:lnTo>
                  <a:lnTo>
                    <a:pt x="1050280" y="3585554"/>
                  </a:lnTo>
                  <a:lnTo>
                    <a:pt x="1065776" y="3573254"/>
                  </a:lnTo>
                  <a:lnTo>
                    <a:pt x="1070330" y="3569523"/>
                  </a:lnTo>
                  <a:lnTo>
                    <a:pt x="1069371" y="3570938"/>
                  </a:lnTo>
                  <a:lnTo>
                    <a:pt x="1068329" y="3574073"/>
                  </a:lnTo>
                  <a:lnTo>
                    <a:pt x="1072634" y="3575504"/>
                  </a:lnTo>
                  <a:lnTo>
                    <a:pt x="1087713" y="3571806"/>
                  </a:lnTo>
                  <a:lnTo>
                    <a:pt x="1149271" y="3545735"/>
                  </a:lnTo>
                  <a:lnTo>
                    <a:pt x="1207008" y="3521837"/>
                  </a:lnTo>
                  <a:lnTo>
                    <a:pt x="1226403" y="3509906"/>
                  </a:lnTo>
                  <a:lnTo>
                    <a:pt x="1246155" y="3498405"/>
                  </a:lnTo>
                  <a:lnTo>
                    <a:pt x="1282445" y="3471545"/>
                  </a:lnTo>
                  <a:lnTo>
                    <a:pt x="1309967" y="3443898"/>
                  </a:lnTo>
                  <a:lnTo>
                    <a:pt x="1336791" y="3416555"/>
                  </a:lnTo>
                  <a:lnTo>
                    <a:pt x="1335173" y="3418346"/>
                  </a:lnTo>
                  <a:lnTo>
                    <a:pt x="1332286" y="3421775"/>
                  </a:lnTo>
                  <a:lnTo>
                    <a:pt x="1330536" y="3424554"/>
                  </a:lnTo>
                  <a:lnTo>
                    <a:pt x="1332329" y="3424395"/>
                  </a:lnTo>
                  <a:lnTo>
                    <a:pt x="1383030" y="3383407"/>
                  </a:lnTo>
                  <a:lnTo>
                    <a:pt x="1401794" y="3364499"/>
                  </a:lnTo>
                  <a:lnTo>
                    <a:pt x="1410962" y="3354778"/>
                  </a:lnTo>
                  <a:lnTo>
                    <a:pt x="1420748" y="3345688"/>
                  </a:lnTo>
                  <a:lnTo>
                    <a:pt x="1429946" y="3339115"/>
                  </a:lnTo>
                  <a:lnTo>
                    <a:pt x="1439751" y="3333305"/>
                  </a:lnTo>
                  <a:lnTo>
                    <a:pt x="1449484" y="3327400"/>
                  </a:lnTo>
                  <a:lnTo>
                    <a:pt x="1458467" y="3320542"/>
                  </a:lnTo>
                  <a:lnTo>
                    <a:pt x="1480381" y="3298342"/>
                  </a:lnTo>
                  <a:lnTo>
                    <a:pt x="1501092" y="3274774"/>
                  </a:lnTo>
                  <a:lnTo>
                    <a:pt x="1522493" y="3252087"/>
                  </a:lnTo>
                  <a:lnTo>
                    <a:pt x="1546479" y="3232531"/>
                  </a:lnTo>
                  <a:lnTo>
                    <a:pt x="1659636" y="3157093"/>
                  </a:lnTo>
                  <a:lnTo>
                    <a:pt x="1697355" y="3131947"/>
                  </a:lnTo>
                  <a:lnTo>
                    <a:pt x="1703962" y="3122677"/>
                  </a:lnTo>
                  <a:lnTo>
                    <a:pt x="1710785" y="3113516"/>
                  </a:lnTo>
                  <a:lnTo>
                    <a:pt x="1717178" y="3104139"/>
                  </a:lnTo>
                  <a:lnTo>
                    <a:pt x="1734323" y="3063829"/>
                  </a:lnTo>
                  <a:lnTo>
                    <a:pt x="1752397" y="3000126"/>
                  </a:lnTo>
                  <a:lnTo>
                    <a:pt x="1762408" y="2923887"/>
                  </a:lnTo>
                  <a:lnTo>
                    <a:pt x="1765048" y="2867467"/>
                  </a:lnTo>
                  <a:lnTo>
                    <a:pt x="1769107" y="2805616"/>
                  </a:lnTo>
                  <a:lnTo>
                    <a:pt x="1775557" y="2744838"/>
                  </a:lnTo>
                  <a:lnTo>
                    <a:pt x="1785366" y="2691638"/>
                  </a:lnTo>
                  <a:lnTo>
                    <a:pt x="1797224" y="2653728"/>
                  </a:lnTo>
                  <a:lnTo>
                    <a:pt x="1803957" y="2634988"/>
                  </a:lnTo>
                  <a:lnTo>
                    <a:pt x="1810512" y="2616200"/>
                  </a:lnTo>
                  <a:lnTo>
                    <a:pt x="1816525" y="2566951"/>
                  </a:lnTo>
                  <a:lnTo>
                    <a:pt x="1819781" y="2538368"/>
                  </a:lnTo>
                  <a:lnTo>
                    <a:pt x="1821247" y="2524460"/>
                  </a:lnTo>
                  <a:lnTo>
                    <a:pt x="1821894" y="2519235"/>
                  </a:lnTo>
                  <a:lnTo>
                    <a:pt x="1822689" y="2516700"/>
                  </a:lnTo>
                  <a:lnTo>
                    <a:pt x="1824603" y="2510865"/>
                  </a:lnTo>
                  <a:lnTo>
                    <a:pt x="1828602" y="2495737"/>
                  </a:lnTo>
                  <a:lnTo>
                    <a:pt x="1835658" y="2465324"/>
                  </a:lnTo>
                  <a:lnTo>
                    <a:pt x="1838747" y="2449534"/>
                  </a:lnTo>
                  <a:lnTo>
                    <a:pt x="1841420" y="2433685"/>
                  </a:lnTo>
                  <a:lnTo>
                    <a:pt x="1844355" y="2417907"/>
                  </a:lnTo>
                  <a:lnTo>
                    <a:pt x="1848231" y="2402332"/>
                  </a:lnTo>
                  <a:lnTo>
                    <a:pt x="1853981" y="2386455"/>
                  </a:lnTo>
                  <a:lnTo>
                    <a:pt x="1860804" y="2370947"/>
                  </a:lnTo>
                  <a:lnTo>
                    <a:pt x="1867626" y="2355415"/>
                  </a:lnTo>
                  <a:lnTo>
                    <a:pt x="1873377" y="2339467"/>
                  </a:lnTo>
                  <a:lnTo>
                    <a:pt x="1884223" y="2300321"/>
                  </a:lnTo>
                  <a:lnTo>
                    <a:pt x="1887652" y="2282088"/>
                  </a:lnTo>
                  <a:lnTo>
                    <a:pt x="1887023" y="2276815"/>
                  </a:lnTo>
                  <a:lnTo>
                    <a:pt x="1885693" y="2276552"/>
                  </a:lnTo>
                  <a:lnTo>
                    <a:pt x="1887023" y="2273347"/>
                  </a:lnTo>
                  <a:lnTo>
                    <a:pt x="1894370" y="2259250"/>
                  </a:lnTo>
                  <a:lnTo>
                    <a:pt x="1911096" y="2226310"/>
                  </a:lnTo>
                  <a:lnTo>
                    <a:pt x="1913774" y="2210450"/>
                  </a:lnTo>
                  <a:lnTo>
                    <a:pt x="1916144" y="2194496"/>
                  </a:lnTo>
                  <a:lnTo>
                    <a:pt x="1919132" y="2178732"/>
                  </a:lnTo>
                  <a:lnTo>
                    <a:pt x="1923669" y="2163445"/>
                  </a:lnTo>
                  <a:lnTo>
                    <a:pt x="1928901" y="2153443"/>
                  </a:lnTo>
                  <a:lnTo>
                    <a:pt x="1935718" y="2144299"/>
                  </a:lnTo>
                  <a:lnTo>
                    <a:pt x="1942796" y="2135298"/>
                  </a:lnTo>
                  <a:lnTo>
                    <a:pt x="1948815" y="2125726"/>
                  </a:lnTo>
                  <a:lnTo>
                    <a:pt x="1952565" y="2116490"/>
                  </a:lnTo>
                  <a:lnTo>
                    <a:pt x="1955387" y="2106898"/>
                  </a:lnTo>
                  <a:lnTo>
                    <a:pt x="1958066" y="2097258"/>
                  </a:lnTo>
                  <a:lnTo>
                    <a:pt x="1961388" y="2087880"/>
                  </a:lnTo>
                  <a:lnTo>
                    <a:pt x="1967353" y="2075199"/>
                  </a:lnTo>
                  <a:lnTo>
                    <a:pt x="1973865" y="2062734"/>
                  </a:lnTo>
                  <a:lnTo>
                    <a:pt x="1980426" y="2050268"/>
                  </a:lnTo>
                  <a:lnTo>
                    <a:pt x="1986534" y="2037588"/>
                  </a:lnTo>
                  <a:lnTo>
                    <a:pt x="1992641" y="2021782"/>
                  </a:lnTo>
                  <a:lnTo>
                    <a:pt x="1998059" y="2005631"/>
                  </a:lnTo>
                  <a:lnTo>
                    <a:pt x="2004000" y="1989742"/>
                  </a:lnTo>
                  <a:lnTo>
                    <a:pt x="2011680" y="1974723"/>
                  </a:lnTo>
                  <a:lnTo>
                    <a:pt x="2032154" y="1943884"/>
                  </a:lnTo>
                  <a:lnTo>
                    <a:pt x="2043362" y="1930896"/>
                  </a:lnTo>
                  <a:lnTo>
                    <a:pt x="2048135" y="1929891"/>
                  </a:lnTo>
                  <a:lnTo>
                    <a:pt x="2049303" y="1935003"/>
                  </a:lnTo>
                  <a:lnTo>
                    <a:pt x="2049698" y="1940366"/>
                  </a:lnTo>
                  <a:lnTo>
                    <a:pt x="2052149" y="1940111"/>
                  </a:lnTo>
                  <a:lnTo>
                    <a:pt x="2059488" y="1928373"/>
                  </a:lnTo>
                  <a:lnTo>
                    <a:pt x="2074545" y="1899285"/>
                  </a:lnTo>
                  <a:lnTo>
                    <a:pt x="2078116" y="1890033"/>
                  </a:lnTo>
                  <a:lnTo>
                    <a:pt x="2080641" y="1880330"/>
                  </a:lnTo>
                  <a:lnTo>
                    <a:pt x="2083260" y="1870674"/>
                  </a:lnTo>
                  <a:lnTo>
                    <a:pt x="2087118" y="1861566"/>
                  </a:lnTo>
                  <a:lnTo>
                    <a:pt x="2097137" y="1846526"/>
                  </a:lnTo>
                  <a:lnTo>
                    <a:pt x="2120122" y="1812020"/>
                  </a:lnTo>
                  <a:lnTo>
                    <a:pt x="2145464" y="1773965"/>
                  </a:lnTo>
                  <a:lnTo>
                    <a:pt x="2162556" y="1748282"/>
                  </a:lnTo>
                  <a:lnTo>
                    <a:pt x="2169074" y="1738995"/>
                  </a:lnTo>
                  <a:lnTo>
                    <a:pt x="2175748" y="1729803"/>
                  </a:lnTo>
                  <a:lnTo>
                    <a:pt x="2182112" y="1720421"/>
                  </a:lnTo>
                  <a:lnTo>
                    <a:pt x="2187702" y="1710563"/>
                  </a:lnTo>
                  <a:lnTo>
                    <a:pt x="2204346" y="1676076"/>
                  </a:lnTo>
                  <a:lnTo>
                    <a:pt x="2212467" y="1660890"/>
                  </a:lnTo>
                  <a:lnTo>
                    <a:pt x="2223920" y="1648537"/>
                  </a:lnTo>
                  <a:lnTo>
                    <a:pt x="2250567" y="1622552"/>
                  </a:lnTo>
                  <a:lnTo>
                    <a:pt x="2253781" y="1613140"/>
                  </a:lnTo>
                  <a:lnTo>
                    <a:pt x="2265872" y="1572063"/>
                  </a:lnTo>
                  <a:lnTo>
                    <a:pt x="2267950" y="1559067"/>
                  </a:lnTo>
                  <a:lnTo>
                    <a:pt x="2270765" y="1546381"/>
                  </a:lnTo>
                  <a:lnTo>
                    <a:pt x="2275713" y="1534541"/>
                  </a:lnTo>
                  <a:lnTo>
                    <a:pt x="2283535" y="1523878"/>
                  </a:lnTo>
                  <a:lnTo>
                    <a:pt x="2293143" y="1514586"/>
                  </a:lnTo>
                  <a:lnTo>
                    <a:pt x="2303466" y="1505840"/>
                  </a:lnTo>
                  <a:lnTo>
                    <a:pt x="2313432" y="1496822"/>
                  </a:lnTo>
                  <a:lnTo>
                    <a:pt x="2321147" y="1434893"/>
                  </a:lnTo>
                  <a:lnTo>
                    <a:pt x="2338578" y="1370965"/>
                  </a:lnTo>
                  <a:lnTo>
                    <a:pt x="2357205" y="1342550"/>
                  </a:lnTo>
                  <a:lnTo>
                    <a:pt x="2363724" y="1333246"/>
                  </a:lnTo>
                  <a:lnTo>
                    <a:pt x="2369653" y="1307992"/>
                  </a:lnTo>
                  <a:lnTo>
                    <a:pt x="2375344" y="1282668"/>
                  </a:lnTo>
                  <a:lnTo>
                    <a:pt x="2381511" y="1257486"/>
                  </a:lnTo>
                  <a:lnTo>
                    <a:pt x="2388870" y="1232662"/>
                  </a:lnTo>
                  <a:lnTo>
                    <a:pt x="2398192" y="1204962"/>
                  </a:lnTo>
                  <a:lnTo>
                    <a:pt x="2402300" y="1192037"/>
                  </a:lnTo>
                  <a:lnTo>
                    <a:pt x="2405979" y="1177422"/>
                  </a:lnTo>
                  <a:lnTo>
                    <a:pt x="2414016" y="1144651"/>
                  </a:lnTo>
                  <a:lnTo>
                    <a:pt x="2411985" y="1094324"/>
                  </a:lnTo>
                  <a:lnTo>
                    <a:pt x="2410063" y="1043995"/>
                  </a:lnTo>
                  <a:lnTo>
                    <a:pt x="2408211" y="993663"/>
                  </a:lnTo>
                  <a:lnTo>
                    <a:pt x="2406396" y="943332"/>
                  </a:lnTo>
                  <a:lnTo>
                    <a:pt x="2404580" y="893002"/>
                  </a:lnTo>
                  <a:lnTo>
                    <a:pt x="2402728" y="842676"/>
                  </a:lnTo>
                  <a:lnTo>
                    <a:pt x="2400806" y="792355"/>
                  </a:lnTo>
                  <a:lnTo>
                    <a:pt x="2398776" y="742042"/>
                  </a:lnTo>
                  <a:lnTo>
                    <a:pt x="2396603" y="691737"/>
                  </a:lnTo>
                  <a:lnTo>
                    <a:pt x="2394251" y="641442"/>
                  </a:lnTo>
                  <a:lnTo>
                    <a:pt x="2391685" y="591160"/>
                  </a:lnTo>
                  <a:lnTo>
                    <a:pt x="2388870" y="540893"/>
                  </a:lnTo>
                  <a:lnTo>
                    <a:pt x="2379708" y="512550"/>
                  </a:lnTo>
                  <a:lnTo>
                    <a:pt x="2376297" y="503174"/>
                  </a:lnTo>
                  <a:lnTo>
                    <a:pt x="2373118" y="490599"/>
                  </a:lnTo>
                  <a:lnTo>
                    <a:pt x="2370296" y="477916"/>
                  </a:lnTo>
                  <a:lnTo>
                    <a:pt x="2367331" y="465258"/>
                  </a:lnTo>
                  <a:lnTo>
                    <a:pt x="2363724" y="452755"/>
                  </a:lnTo>
                  <a:lnTo>
                    <a:pt x="2357794" y="436949"/>
                  </a:lnTo>
                  <a:lnTo>
                    <a:pt x="2351151" y="421370"/>
                  </a:lnTo>
                  <a:lnTo>
                    <a:pt x="2344507" y="405766"/>
                  </a:lnTo>
                  <a:lnTo>
                    <a:pt x="2338578" y="389890"/>
                  </a:lnTo>
                  <a:lnTo>
                    <a:pt x="2334041" y="372673"/>
                  </a:lnTo>
                  <a:lnTo>
                    <a:pt x="2327814" y="346837"/>
                  </a:lnTo>
                  <a:lnTo>
                    <a:pt x="2320682" y="320524"/>
                  </a:lnTo>
                  <a:lnTo>
                    <a:pt x="2296715" y="273962"/>
                  </a:lnTo>
                  <a:lnTo>
                    <a:pt x="2267902" y="229330"/>
                  </a:lnTo>
                  <a:lnTo>
                    <a:pt x="2233564" y="183221"/>
                  </a:lnTo>
                  <a:lnTo>
                    <a:pt x="2200275" y="150875"/>
                  </a:lnTo>
                  <a:lnTo>
                    <a:pt x="2172039" y="141499"/>
                  </a:lnTo>
                  <a:lnTo>
                    <a:pt x="2162556" y="138303"/>
                  </a:lnTo>
                  <a:lnTo>
                    <a:pt x="2124390" y="120282"/>
                  </a:lnTo>
                  <a:lnTo>
                    <a:pt x="2069687" y="81391"/>
                  </a:lnTo>
                  <a:lnTo>
                    <a:pt x="2046005" y="63740"/>
                  </a:lnTo>
                  <a:lnTo>
                    <a:pt x="2024253" y="50292"/>
                  </a:lnTo>
                  <a:lnTo>
                    <a:pt x="2015091" y="46541"/>
                  </a:lnTo>
                  <a:lnTo>
                    <a:pt x="2005536" y="43719"/>
                  </a:lnTo>
                  <a:lnTo>
                    <a:pt x="1995910" y="41040"/>
                  </a:lnTo>
                  <a:lnTo>
                    <a:pt x="1986534" y="37719"/>
                  </a:lnTo>
                  <a:lnTo>
                    <a:pt x="1953346" y="22480"/>
                  </a:lnTo>
                  <a:lnTo>
                    <a:pt x="1939515" y="14703"/>
                  </a:lnTo>
                  <a:lnTo>
                    <a:pt x="1934194" y="11477"/>
                  </a:lnTo>
                  <a:lnTo>
                    <a:pt x="1926533" y="9891"/>
                  </a:lnTo>
                  <a:lnTo>
                    <a:pt x="1905686" y="7036"/>
                  </a:lnTo>
                  <a:lnTo>
                    <a:pt x="1860804" y="0"/>
                  </a:lnTo>
                  <a:lnTo>
                    <a:pt x="1181861" y="12573"/>
                  </a:lnTo>
                  <a:lnTo>
                    <a:pt x="1148393" y="17430"/>
                  </a:lnTo>
                  <a:lnTo>
                    <a:pt x="1110805" y="27622"/>
                  </a:lnTo>
                  <a:lnTo>
                    <a:pt x="1074169" y="39719"/>
                  </a:lnTo>
                  <a:lnTo>
                    <a:pt x="1043559" y="50292"/>
                  </a:lnTo>
                  <a:lnTo>
                    <a:pt x="1005839" y="62865"/>
                  </a:lnTo>
                  <a:lnTo>
                    <a:pt x="976183" y="108840"/>
                  </a:lnTo>
                  <a:lnTo>
                    <a:pt x="928548" y="127196"/>
                  </a:lnTo>
                  <a:lnTo>
                    <a:pt x="903752" y="159180"/>
                  </a:lnTo>
                  <a:lnTo>
                    <a:pt x="873564" y="210296"/>
                  </a:lnTo>
                  <a:lnTo>
                    <a:pt x="855930" y="249205"/>
                  </a:lnTo>
                  <a:lnTo>
                    <a:pt x="840956" y="289306"/>
                  </a:lnTo>
                  <a:lnTo>
                    <a:pt x="829817" y="327025"/>
                  </a:lnTo>
                  <a:lnTo>
                    <a:pt x="817244" y="377317"/>
                  </a:lnTo>
                  <a:lnTo>
                    <a:pt x="814071" y="405608"/>
                  </a:lnTo>
                  <a:lnTo>
                    <a:pt x="810877" y="433911"/>
                  </a:lnTo>
                  <a:lnTo>
                    <a:pt x="807724" y="462238"/>
                  </a:lnTo>
                  <a:lnTo>
                    <a:pt x="804672" y="490600"/>
                  </a:lnTo>
                  <a:lnTo>
                    <a:pt x="801630" y="521997"/>
                  </a:lnTo>
                  <a:lnTo>
                    <a:pt x="798818" y="553466"/>
                  </a:lnTo>
                  <a:lnTo>
                    <a:pt x="795790" y="584934"/>
                  </a:lnTo>
                  <a:lnTo>
                    <a:pt x="792098" y="616331"/>
                  </a:lnTo>
                  <a:lnTo>
                    <a:pt x="789482" y="632136"/>
                  </a:lnTo>
                  <a:lnTo>
                    <a:pt x="786188" y="647811"/>
                  </a:lnTo>
                  <a:lnTo>
                    <a:pt x="782706" y="663461"/>
                  </a:lnTo>
                  <a:lnTo>
                    <a:pt x="779526" y="679196"/>
                  </a:lnTo>
                  <a:lnTo>
                    <a:pt x="776580" y="698144"/>
                  </a:lnTo>
                  <a:lnTo>
                    <a:pt x="774044" y="717153"/>
                  </a:lnTo>
                  <a:lnTo>
                    <a:pt x="771105" y="736042"/>
                  </a:lnTo>
                  <a:lnTo>
                    <a:pt x="756842" y="786729"/>
                  </a:lnTo>
                  <a:lnTo>
                    <a:pt x="733736" y="830107"/>
                  </a:lnTo>
                  <a:lnTo>
                    <a:pt x="716660" y="855345"/>
                  </a:lnTo>
                  <a:lnTo>
                    <a:pt x="709310" y="893180"/>
                  </a:lnTo>
                  <a:lnTo>
                    <a:pt x="705950" y="910971"/>
                  </a:lnTo>
                  <a:lnTo>
                    <a:pt x="703907" y="918686"/>
                  </a:lnTo>
                  <a:lnTo>
                    <a:pt x="700506" y="926295"/>
                  </a:lnTo>
                  <a:lnTo>
                    <a:pt x="693076" y="943768"/>
                  </a:lnTo>
                  <a:lnTo>
                    <a:pt x="678941" y="981075"/>
                  </a:lnTo>
                  <a:lnTo>
                    <a:pt x="672859" y="1000041"/>
                  </a:lnTo>
                  <a:lnTo>
                    <a:pt x="667416" y="1019270"/>
                  </a:lnTo>
                  <a:lnTo>
                    <a:pt x="661450" y="1038260"/>
                  </a:lnTo>
                  <a:lnTo>
                    <a:pt x="653795" y="1056513"/>
                  </a:lnTo>
                  <a:lnTo>
                    <a:pt x="637885" y="1088252"/>
                  </a:lnTo>
                  <a:lnTo>
                    <a:pt x="629887" y="1104093"/>
                  </a:lnTo>
                  <a:lnTo>
                    <a:pt x="627518" y="1108799"/>
                  </a:lnTo>
                  <a:lnTo>
                    <a:pt x="628491" y="1107129"/>
                  </a:lnTo>
                  <a:lnTo>
                    <a:pt x="630521" y="1103846"/>
                  </a:lnTo>
                  <a:lnTo>
                    <a:pt x="631322" y="1103709"/>
                  </a:lnTo>
                  <a:lnTo>
                    <a:pt x="628610" y="1111482"/>
                  </a:lnTo>
                  <a:lnTo>
                    <a:pt x="620099" y="1131924"/>
                  </a:lnTo>
                  <a:lnTo>
                    <a:pt x="603504" y="1169797"/>
                  </a:lnTo>
                  <a:lnTo>
                    <a:pt x="597344" y="1182441"/>
                  </a:lnTo>
                  <a:lnTo>
                    <a:pt x="590688" y="1194847"/>
                  </a:lnTo>
                  <a:lnTo>
                    <a:pt x="584153" y="1207301"/>
                  </a:lnTo>
                  <a:lnTo>
                    <a:pt x="578357" y="1220089"/>
                  </a:lnTo>
                  <a:lnTo>
                    <a:pt x="563379" y="1263004"/>
                  </a:lnTo>
                  <a:lnTo>
                    <a:pt x="558330" y="1284279"/>
                  </a:lnTo>
                  <a:lnTo>
                    <a:pt x="554484" y="1294155"/>
                  </a:lnTo>
                  <a:lnTo>
                    <a:pt x="543114" y="1302872"/>
                  </a:lnTo>
                  <a:lnTo>
                    <a:pt x="515492" y="1320673"/>
                  </a:lnTo>
                  <a:lnTo>
                    <a:pt x="512517" y="1330174"/>
                  </a:lnTo>
                  <a:lnTo>
                    <a:pt x="493677" y="1377394"/>
                  </a:lnTo>
                  <a:lnTo>
                    <a:pt x="483693" y="1396015"/>
                  </a:lnTo>
                  <a:lnTo>
                    <a:pt x="473893" y="1414684"/>
                  </a:lnTo>
                  <a:lnTo>
                    <a:pt x="465200" y="1433830"/>
                  </a:lnTo>
                  <a:lnTo>
                    <a:pt x="461198" y="1446172"/>
                  </a:lnTo>
                  <a:lnTo>
                    <a:pt x="458290" y="1458849"/>
                  </a:lnTo>
                  <a:lnTo>
                    <a:pt x="455694" y="1471620"/>
                  </a:lnTo>
                  <a:lnTo>
                    <a:pt x="452628" y="1484249"/>
                  </a:lnTo>
                  <a:lnTo>
                    <a:pt x="440054" y="1521968"/>
                  </a:lnTo>
                  <a:lnTo>
                    <a:pt x="427358" y="1553305"/>
                  </a:lnTo>
                  <a:lnTo>
                    <a:pt x="420927" y="1568973"/>
                  </a:lnTo>
                  <a:lnTo>
                    <a:pt x="414909" y="1584833"/>
                  </a:lnTo>
                  <a:lnTo>
                    <a:pt x="405450" y="1613122"/>
                  </a:lnTo>
                  <a:lnTo>
                    <a:pt x="396573" y="1641602"/>
                  </a:lnTo>
                  <a:lnTo>
                    <a:pt x="387434" y="1669986"/>
                  </a:lnTo>
                  <a:lnTo>
                    <a:pt x="377190" y="1697990"/>
                  </a:lnTo>
                  <a:lnTo>
                    <a:pt x="370728" y="1713652"/>
                  </a:lnTo>
                  <a:lnTo>
                    <a:pt x="364150" y="1729279"/>
                  </a:lnTo>
                  <a:lnTo>
                    <a:pt x="357805" y="1744978"/>
                  </a:lnTo>
                  <a:lnTo>
                    <a:pt x="352043" y="1760855"/>
                  </a:lnTo>
                  <a:lnTo>
                    <a:pt x="343942" y="1791253"/>
                  </a:lnTo>
                  <a:lnTo>
                    <a:pt x="336080" y="1826021"/>
                  </a:lnTo>
                  <a:lnTo>
                    <a:pt x="326769" y="1859670"/>
                  </a:lnTo>
                  <a:lnTo>
                    <a:pt x="314324" y="1886712"/>
                  </a:lnTo>
                  <a:lnTo>
                    <a:pt x="307809" y="1895998"/>
                  </a:lnTo>
                  <a:lnTo>
                    <a:pt x="301142" y="1905190"/>
                  </a:lnTo>
                  <a:lnTo>
                    <a:pt x="294779" y="1914572"/>
                  </a:lnTo>
                  <a:lnTo>
                    <a:pt x="289179" y="1924431"/>
                  </a:lnTo>
                  <a:lnTo>
                    <a:pt x="285446" y="1933592"/>
                  </a:lnTo>
                  <a:lnTo>
                    <a:pt x="282625" y="1943147"/>
                  </a:lnTo>
                  <a:lnTo>
                    <a:pt x="279938" y="1952773"/>
                  </a:lnTo>
                  <a:lnTo>
                    <a:pt x="276605" y="1962150"/>
                  </a:lnTo>
                  <a:lnTo>
                    <a:pt x="270742" y="1974937"/>
                  </a:lnTo>
                  <a:lnTo>
                    <a:pt x="264409" y="1987486"/>
                  </a:lnTo>
                  <a:lnTo>
                    <a:pt x="257887" y="1999940"/>
                  </a:lnTo>
                  <a:lnTo>
                    <a:pt x="251460" y="2012442"/>
                  </a:lnTo>
                  <a:lnTo>
                    <a:pt x="245532" y="2060211"/>
                  </a:lnTo>
                  <a:lnTo>
                    <a:pt x="239149" y="2112993"/>
                  </a:lnTo>
                  <a:lnTo>
                    <a:pt x="226313" y="2176018"/>
                  </a:lnTo>
                  <a:lnTo>
                    <a:pt x="220246" y="2220071"/>
                  </a:lnTo>
                  <a:lnTo>
                    <a:pt x="217323" y="2242115"/>
                  </a:lnTo>
                  <a:lnTo>
                    <a:pt x="213741" y="2264029"/>
                  </a:lnTo>
                  <a:lnTo>
                    <a:pt x="207925" y="2292425"/>
                  </a:lnTo>
                  <a:lnTo>
                    <a:pt x="201482" y="2320702"/>
                  </a:lnTo>
                  <a:lnTo>
                    <a:pt x="194881" y="2348932"/>
                  </a:lnTo>
                  <a:lnTo>
                    <a:pt x="188594" y="2377186"/>
                  </a:lnTo>
                  <a:lnTo>
                    <a:pt x="181797" y="2411888"/>
                  </a:lnTo>
                  <a:lnTo>
                    <a:pt x="172478" y="2459831"/>
                  </a:lnTo>
                  <a:lnTo>
                    <a:pt x="161788" y="2510488"/>
                  </a:lnTo>
                  <a:lnTo>
                    <a:pt x="150876" y="2553335"/>
                  </a:lnTo>
                  <a:lnTo>
                    <a:pt x="135445" y="2600579"/>
                  </a:lnTo>
                  <a:lnTo>
                    <a:pt x="125729" y="2628773"/>
                  </a:lnTo>
                  <a:lnTo>
                    <a:pt x="122752" y="2657097"/>
                  </a:lnTo>
                  <a:lnTo>
                    <a:pt x="116798" y="2713747"/>
                  </a:lnTo>
                  <a:lnTo>
                    <a:pt x="108767" y="2766756"/>
                  </a:lnTo>
                  <a:lnTo>
                    <a:pt x="94729" y="2829601"/>
                  </a:lnTo>
                  <a:lnTo>
                    <a:pt x="81929" y="2874121"/>
                  </a:lnTo>
                  <a:lnTo>
                    <a:pt x="78658" y="2883521"/>
                  </a:lnTo>
                  <a:lnTo>
                    <a:pt x="75438" y="2892933"/>
                  </a:lnTo>
                  <a:lnTo>
                    <a:pt x="72555" y="2918114"/>
                  </a:lnTo>
                  <a:lnTo>
                    <a:pt x="69846" y="2943320"/>
                  </a:lnTo>
                  <a:lnTo>
                    <a:pt x="66790" y="2968478"/>
                  </a:lnTo>
                  <a:lnTo>
                    <a:pt x="62864" y="2993517"/>
                  </a:lnTo>
                  <a:lnTo>
                    <a:pt x="60232" y="3003107"/>
                  </a:lnTo>
                  <a:lnTo>
                    <a:pt x="56578" y="3012424"/>
                  </a:lnTo>
                  <a:lnTo>
                    <a:pt x="52924" y="3021716"/>
                  </a:lnTo>
                  <a:lnTo>
                    <a:pt x="50291" y="3031236"/>
                  </a:lnTo>
                  <a:lnTo>
                    <a:pt x="46405" y="3056294"/>
                  </a:lnTo>
                  <a:lnTo>
                    <a:pt x="43414" y="3081496"/>
                  </a:lnTo>
                  <a:lnTo>
                    <a:pt x="40719" y="3106745"/>
                  </a:lnTo>
                  <a:lnTo>
                    <a:pt x="37718" y="3131947"/>
                  </a:lnTo>
                  <a:lnTo>
                    <a:pt x="34620" y="3153931"/>
                  </a:lnTo>
                  <a:lnTo>
                    <a:pt x="31342" y="3175904"/>
                  </a:lnTo>
                  <a:lnTo>
                    <a:pt x="28108" y="3197901"/>
                  </a:lnTo>
                  <a:lnTo>
                    <a:pt x="19680" y="3264088"/>
                  </a:lnTo>
                  <a:lnTo>
                    <a:pt x="13268" y="3317946"/>
                  </a:lnTo>
                  <a:lnTo>
                    <a:pt x="11274" y="3337734"/>
                  </a:lnTo>
                  <a:lnTo>
                    <a:pt x="11331" y="3339277"/>
                  </a:lnTo>
                  <a:lnTo>
                    <a:pt x="11768" y="3337612"/>
                  </a:lnTo>
                  <a:lnTo>
                    <a:pt x="12344" y="3334511"/>
                  </a:lnTo>
                  <a:lnTo>
                    <a:pt x="12818" y="3331743"/>
                  </a:lnTo>
                  <a:lnTo>
                    <a:pt x="12948" y="3331078"/>
                  </a:lnTo>
                  <a:lnTo>
                    <a:pt x="12493" y="3334286"/>
                  </a:lnTo>
                  <a:lnTo>
                    <a:pt x="11212" y="3343137"/>
                  </a:lnTo>
                  <a:lnTo>
                    <a:pt x="8864" y="3359402"/>
                  </a:lnTo>
                  <a:lnTo>
                    <a:pt x="5207" y="3384851"/>
                  </a:lnTo>
                  <a:lnTo>
                    <a:pt x="0" y="3421253"/>
                  </a:lnTo>
                  <a:lnTo>
                    <a:pt x="4761" y="3478953"/>
                  </a:lnTo>
                  <a:lnTo>
                    <a:pt x="7184" y="3518637"/>
                  </a:lnTo>
                  <a:lnTo>
                    <a:pt x="7774" y="3556859"/>
                  </a:lnTo>
                  <a:lnTo>
                    <a:pt x="37718" y="3597275"/>
                  </a:lnTo>
                  <a:lnTo>
                    <a:pt x="43472" y="3616467"/>
                  </a:lnTo>
                  <a:lnTo>
                    <a:pt x="46059" y="3626117"/>
                  </a:lnTo>
                  <a:lnTo>
                    <a:pt x="50291" y="3634994"/>
                  </a:lnTo>
                  <a:lnTo>
                    <a:pt x="68808" y="3658211"/>
                  </a:lnTo>
                  <a:lnTo>
                    <a:pt x="85296" y="3671093"/>
                  </a:lnTo>
                  <a:lnTo>
                    <a:pt x="103141" y="3681642"/>
                  </a:lnTo>
                  <a:lnTo>
                    <a:pt x="125729" y="3697859"/>
                  </a:lnTo>
                  <a:lnTo>
                    <a:pt x="135354" y="3707129"/>
                  </a:lnTo>
                  <a:lnTo>
                    <a:pt x="144289" y="3717163"/>
                  </a:lnTo>
                  <a:lnTo>
                    <a:pt x="153374" y="3727005"/>
                  </a:lnTo>
                  <a:lnTo>
                    <a:pt x="163449" y="3735704"/>
                  </a:lnTo>
                  <a:lnTo>
                    <a:pt x="186067" y="3749581"/>
                  </a:lnTo>
                  <a:lnTo>
                    <a:pt x="206697" y="3758422"/>
                  </a:lnTo>
                  <a:lnTo>
                    <a:pt x="227705" y="3765333"/>
                  </a:lnTo>
                  <a:lnTo>
                    <a:pt x="251460" y="3773424"/>
                  </a:lnTo>
                  <a:lnTo>
                    <a:pt x="298955" y="3791461"/>
                  </a:lnTo>
                  <a:lnTo>
                    <a:pt x="333184" y="3811143"/>
                  </a:lnTo>
                  <a:lnTo>
                    <a:pt x="342349" y="3817893"/>
                  </a:lnTo>
                  <a:lnTo>
                    <a:pt x="352043" y="3823716"/>
                  </a:lnTo>
                  <a:lnTo>
                    <a:pt x="361270" y="3827359"/>
                  </a:lnTo>
                  <a:lnTo>
                    <a:pt x="370903" y="3830002"/>
                  </a:lnTo>
                  <a:lnTo>
                    <a:pt x="380536" y="3832645"/>
                  </a:lnTo>
                  <a:lnTo>
                    <a:pt x="389763" y="3836289"/>
                  </a:lnTo>
                  <a:lnTo>
                    <a:pt x="419661" y="3852074"/>
                  </a:lnTo>
                  <a:lnTo>
                    <a:pt x="430766" y="3859562"/>
                  </a:lnTo>
                  <a:lnTo>
                    <a:pt x="430529" y="3861651"/>
                  </a:lnTo>
                  <a:lnTo>
                    <a:pt x="426402" y="3861241"/>
                  </a:lnTo>
                  <a:lnTo>
                    <a:pt x="425838" y="3861231"/>
                  </a:lnTo>
                  <a:lnTo>
                    <a:pt x="436286" y="3864520"/>
                  </a:lnTo>
                  <a:lnTo>
                    <a:pt x="465200" y="3874008"/>
                  </a:lnTo>
                  <a:lnTo>
                    <a:pt x="493779" y="3872097"/>
                  </a:lnTo>
                  <a:lnTo>
                    <a:pt x="550936" y="3868275"/>
                  </a:lnTo>
                  <a:lnTo>
                    <a:pt x="586475" y="3854469"/>
                  </a:lnTo>
                  <a:lnTo>
                    <a:pt x="596165" y="3832252"/>
                  </a:lnTo>
                  <a:lnTo>
                    <a:pt x="603504" y="3823716"/>
                  </a:lnTo>
                  <a:lnTo>
                    <a:pt x="648958" y="3799856"/>
                  </a:lnTo>
                  <a:lnTo>
                    <a:pt x="669788" y="3796119"/>
                  </a:lnTo>
                  <a:lnTo>
                    <a:pt x="676692" y="3799283"/>
                  </a:lnTo>
                  <a:lnTo>
                    <a:pt x="680368" y="3796125"/>
                  </a:lnTo>
                  <a:lnTo>
                    <a:pt x="691514" y="3773424"/>
                  </a:lnTo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  <p:pic>
          <p:nvPicPr>
            <p:cNvPr id="127" name="object 12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797808" y="4945379"/>
              <a:ext cx="588276" cy="107138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51147" y="4969764"/>
              <a:ext cx="486155" cy="979932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3851147" y="4969764"/>
              <a:ext cx="486409" cy="980440"/>
            </a:xfrm>
            <a:custGeom>
              <a:avLst/>
              <a:gdLst/>
              <a:ahLst/>
              <a:cxnLst/>
              <a:rect l="l" t="t" r="r" b="b"/>
              <a:pathLst>
                <a:path w="486410" h="980439">
                  <a:moveTo>
                    <a:pt x="0" y="736854"/>
                  </a:moveTo>
                  <a:lnTo>
                    <a:pt x="121538" y="736854"/>
                  </a:lnTo>
                  <a:lnTo>
                    <a:pt x="121538" y="0"/>
                  </a:lnTo>
                  <a:lnTo>
                    <a:pt x="364616" y="0"/>
                  </a:lnTo>
                  <a:lnTo>
                    <a:pt x="364616" y="736854"/>
                  </a:lnTo>
                  <a:lnTo>
                    <a:pt x="486155" y="736854"/>
                  </a:lnTo>
                  <a:lnTo>
                    <a:pt x="243077" y="979932"/>
                  </a:lnTo>
                  <a:lnTo>
                    <a:pt x="0" y="73685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31" name="object 13">
            <a:extLst>
              <a:ext uri="{FF2B5EF4-FFF2-40B4-BE49-F238E27FC236}">
                <a16:creationId xmlns:a16="http://schemas.microsoft.com/office/drawing/2014/main" id="{EEAF868F-6A06-6B20-645C-0561029B8E6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2" name="object 14">
            <a:extLst>
              <a:ext uri="{FF2B5EF4-FFF2-40B4-BE49-F238E27FC236}">
                <a16:creationId xmlns:a16="http://schemas.microsoft.com/office/drawing/2014/main" id="{85ABCC80-AC9C-ADFB-8390-9B65FA6ED6F3}"/>
              </a:ext>
            </a:extLst>
          </p:cNvPr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11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90" y="130175"/>
            <a:ext cx="4610100" cy="304800"/>
          </a:xfrm>
          <a:custGeom>
            <a:avLst/>
            <a:gdLst/>
            <a:ahLst/>
            <a:cxnLst/>
            <a:rect l="l" t="t" r="r" b="b"/>
            <a:pathLst>
              <a:path w="9144000" h="836930">
                <a:moveTo>
                  <a:pt x="0" y="836676"/>
                </a:moveTo>
                <a:lnTo>
                  <a:pt x="9144000" y="836676"/>
                </a:lnTo>
                <a:lnTo>
                  <a:pt x="9144000" y="0"/>
                </a:lnTo>
                <a:lnTo>
                  <a:pt x="0" y="0"/>
                </a:lnTo>
                <a:lnTo>
                  <a:pt x="0" y="8366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219" y="87198"/>
            <a:ext cx="1715662" cy="347777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2218" b="1" spc="-3" dirty="0">
                <a:solidFill>
                  <a:schemeClr val="accent1"/>
                </a:solidFill>
                <a:latin typeface="Calibri"/>
                <a:cs typeface="Calibri"/>
              </a:rPr>
              <a:t>Cha</a:t>
            </a:r>
            <a:r>
              <a:rPr sz="2218" b="1" spc="-55" dirty="0">
                <a:solidFill>
                  <a:schemeClr val="accent1"/>
                </a:solidFill>
                <a:latin typeface="Calibri"/>
                <a:cs typeface="Calibri"/>
              </a:rPr>
              <a:t>r</a:t>
            </a:r>
            <a:r>
              <a:rPr sz="2218" b="1" dirty="0">
                <a:solidFill>
                  <a:schemeClr val="accent1"/>
                </a:solidFill>
                <a:latin typeface="Calibri"/>
                <a:cs typeface="Calibri"/>
              </a:rPr>
              <a:t>ac</a:t>
            </a:r>
            <a:r>
              <a:rPr sz="2218" b="1" spc="-25" dirty="0">
                <a:solidFill>
                  <a:schemeClr val="accent1"/>
                </a:solidFill>
                <a:latin typeface="Calibri"/>
                <a:cs typeface="Calibri"/>
              </a:rPr>
              <a:t>t</a:t>
            </a:r>
            <a:r>
              <a:rPr sz="2218" b="1" spc="-3" dirty="0">
                <a:solidFill>
                  <a:schemeClr val="accent1"/>
                </a:solidFill>
                <a:latin typeface="Calibri"/>
                <a:cs typeface="Calibri"/>
              </a:rPr>
              <a:t>eri</a:t>
            </a:r>
            <a:r>
              <a:rPr sz="2218" b="1" spc="-30" dirty="0">
                <a:solidFill>
                  <a:schemeClr val="accent1"/>
                </a:solidFill>
                <a:latin typeface="Calibri"/>
                <a:cs typeface="Calibri"/>
              </a:rPr>
              <a:t>s</a:t>
            </a:r>
            <a:r>
              <a:rPr sz="2218" b="1" dirty="0">
                <a:solidFill>
                  <a:schemeClr val="accent1"/>
                </a:solidFill>
                <a:latin typeface="Calibri"/>
                <a:cs typeface="Calibri"/>
              </a:rPr>
              <a:t>tics</a:t>
            </a:r>
            <a:endParaRPr sz="2218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57" y="534459"/>
            <a:ext cx="3817419" cy="254998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6403">
              <a:spcBef>
                <a:spcPts val="53"/>
              </a:spcBef>
              <a:tabLst>
                <a:tab pos="2221319" algn="l"/>
              </a:tabLst>
            </a:pPr>
            <a:r>
              <a:rPr sz="1613" b="1" spc="-18" dirty="0">
                <a:solidFill>
                  <a:srgbClr val="FF0000"/>
                </a:solidFill>
                <a:latin typeface="Calibri"/>
                <a:cs typeface="Calibri"/>
              </a:rPr>
              <a:t>Technical</a:t>
            </a:r>
            <a:r>
              <a:rPr sz="1613" b="1" spc="-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FF0000"/>
                </a:solidFill>
                <a:latin typeface="Calibri"/>
                <a:cs typeface="Calibri"/>
              </a:rPr>
              <a:t>Problems	</a:t>
            </a:r>
            <a:r>
              <a:rPr sz="1613" b="1" spc="-5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1613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FF0000"/>
                </a:solidFill>
                <a:latin typeface="Calibri"/>
                <a:cs typeface="Calibri"/>
              </a:rPr>
              <a:t>Problems</a:t>
            </a:r>
            <a:endParaRPr sz="1613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0644" y="801921"/>
            <a:ext cx="2257668" cy="2148806"/>
          </a:xfrm>
          <a:prstGeom prst="rect">
            <a:avLst/>
          </a:prstGeom>
        </p:spPr>
        <p:txBody>
          <a:bodyPr vert="horz" wrap="square" lIns="0" tIns="40018" rIns="0" bIns="0" rtlCol="0">
            <a:spAutoFit/>
          </a:bodyPr>
          <a:lstStyle/>
          <a:p>
            <a:pPr marL="179294" indent="-172890">
              <a:spcBef>
                <a:spcPts val="315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3" dirty="0">
                <a:latin typeface="Calibri"/>
                <a:cs typeface="Calibri"/>
              </a:rPr>
              <a:t>No </a:t>
            </a:r>
            <a:r>
              <a:rPr sz="1100" spc="-5" dirty="0">
                <a:latin typeface="Calibri"/>
                <a:cs typeface="Calibri"/>
              </a:rPr>
              <a:t>definitive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problem</a:t>
            </a:r>
            <a:r>
              <a:rPr sz="1100" spc="-8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boundary</a:t>
            </a:r>
            <a:endParaRPr sz="1100" dirty="0">
              <a:latin typeface="Calibri"/>
              <a:cs typeface="Calibri"/>
            </a:endParaRPr>
          </a:p>
          <a:p>
            <a:pPr marL="179294" indent="-172890">
              <a:spcBef>
                <a:spcPts val="265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5" dirty="0">
                <a:latin typeface="Calibri"/>
                <a:cs typeface="Calibri"/>
              </a:rPr>
              <a:t>Relatively</a:t>
            </a:r>
            <a:r>
              <a:rPr sz="1100" spc="-3" dirty="0">
                <a:latin typeface="Calibri"/>
                <a:cs typeface="Calibri"/>
              </a:rPr>
              <a:t> unique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or</a:t>
            </a:r>
            <a:r>
              <a:rPr sz="1100" spc="-13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unprecedented</a:t>
            </a:r>
            <a:endParaRPr sz="1100" dirty="0">
              <a:latin typeface="Calibri"/>
              <a:cs typeface="Calibri"/>
            </a:endParaRPr>
          </a:p>
          <a:p>
            <a:pPr marL="179294" marR="317926" indent="-172890">
              <a:spcBef>
                <a:spcPts val="267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5" dirty="0">
                <a:latin typeface="Calibri"/>
                <a:cs typeface="Calibri"/>
              </a:rPr>
              <a:t>Unstable and/or unpredictable </a:t>
            </a:r>
            <a:r>
              <a:rPr sz="1100" spc="-244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problem</a:t>
            </a:r>
            <a:r>
              <a:rPr sz="1100" spc="-3" dirty="0">
                <a:latin typeface="Calibri"/>
                <a:cs typeface="Calibri"/>
              </a:rPr>
              <a:t> </a:t>
            </a:r>
            <a:r>
              <a:rPr sz="1100" spc="-8" dirty="0">
                <a:latin typeface="Calibri"/>
                <a:cs typeface="Calibri"/>
              </a:rPr>
              <a:t>parameters</a:t>
            </a:r>
            <a:endParaRPr sz="1100" dirty="0">
              <a:latin typeface="Calibri"/>
              <a:cs typeface="Calibri"/>
            </a:endParaRPr>
          </a:p>
          <a:p>
            <a:pPr marL="179294" marR="360828" indent="-172890">
              <a:spcBef>
                <a:spcPts val="267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3" dirty="0">
                <a:latin typeface="Calibri"/>
                <a:cs typeface="Calibri"/>
              </a:rPr>
              <a:t>No bounded set </a:t>
            </a:r>
            <a:r>
              <a:rPr sz="1100" dirty="0">
                <a:latin typeface="Calibri"/>
                <a:cs typeface="Calibri"/>
              </a:rPr>
              <a:t>of </a:t>
            </a:r>
            <a:r>
              <a:rPr sz="1100" spc="-5" dirty="0">
                <a:latin typeface="Calibri"/>
                <a:cs typeface="Calibri"/>
              </a:rPr>
              <a:t>alternative </a:t>
            </a:r>
            <a:r>
              <a:rPr sz="1100" spc="-244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solutions</a:t>
            </a:r>
            <a:endParaRPr sz="1100" dirty="0">
              <a:latin typeface="Calibri"/>
              <a:cs typeface="Calibri"/>
            </a:endParaRPr>
          </a:p>
          <a:p>
            <a:pPr marL="179294" marR="25934" indent="-172890">
              <a:spcBef>
                <a:spcPts val="267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3" dirty="0">
                <a:latin typeface="Calibri"/>
                <a:cs typeface="Calibri"/>
              </a:rPr>
              <a:t>Multiple </a:t>
            </a:r>
            <a:r>
              <a:rPr sz="1100" spc="-8" dirty="0">
                <a:latin typeface="Calibri"/>
                <a:cs typeface="Calibri"/>
              </a:rPr>
              <a:t>stakeholders </a:t>
            </a:r>
            <a:r>
              <a:rPr sz="1100" spc="-3" dirty="0">
                <a:latin typeface="Calibri"/>
                <a:cs typeface="Calibri"/>
              </a:rPr>
              <a:t>with </a:t>
            </a:r>
            <a:r>
              <a:rPr sz="1100" spc="-10" dirty="0">
                <a:latin typeface="Calibri"/>
                <a:cs typeface="Calibri"/>
              </a:rPr>
              <a:t>different </a:t>
            </a:r>
            <a:r>
              <a:rPr sz="1100" spc="-244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views</a:t>
            </a:r>
            <a:r>
              <a:rPr sz="1100" dirty="0">
                <a:latin typeface="Calibri"/>
                <a:cs typeface="Calibri"/>
              </a:rPr>
              <a:t> or </a:t>
            </a:r>
            <a:r>
              <a:rPr sz="1100" spc="-8" dirty="0">
                <a:latin typeface="Calibri"/>
                <a:cs typeface="Calibri"/>
              </a:rPr>
              <a:t>interest</a:t>
            </a:r>
            <a:endParaRPr sz="1100" dirty="0">
              <a:latin typeface="Calibri"/>
              <a:cs typeface="Calibri"/>
            </a:endParaRPr>
          </a:p>
          <a:p>
            <a:pPr marL="179294" marR="2561" indent="-172890">
              <a:spcBef>
                <a:spcPts val="267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3" dirty="0">
                <a:latin typeface="Calibri"/>
                <a:cs typeface="Calibri"/>
              </a:rPr>
              <a:t>No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single</a:t>
            </a:r>
            <a:r>
              <a:rPr sz="1100" spc="3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optimal</a:t>
            </a:r>
            <a:r>
              <a:rPr sz="1100" spc="3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and/or</a:t>
            </a:r>
            <a:r>
              <a:rPr sz="1100" spc="-8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objectively </a:t>
            </a:r>
            <a:r>
              <a:rPr sz="1100" spc="-242" dirty="0">
                <a:latin typeface="Calibri"/>
                <a:cs typeface="Calibri"/>
              </a:rPr>
              <a:t> </a:t>
            </a:r>
            <a:r>
              <a:rPr sz="1100" spc="-8" dirty="0">
                <a:latin typeface="Calibri"/>
                <a:cs typeface="Calibri"/>
              </a:rPr>
              <a:t>testable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solution</a:t>
            </a:r>
            <a:endParaRPr sz="1100" dirty="0">
              <a:latin typeface="Calibri"/>
              <a:cs typeface="Calibri"/>
            </a:endParaRPr>
          </a:p>
          <a:p>
            <a:pPr marL="179294" indent="-172890">
              <a:spcBef>
                <a:spcPts val="265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100" spc="-3" dirty="0">
                <a:latin typeface="Calibri"/>
                <a:cs typeface="Calibri"/>
              </a:rPr>
              <a:t>No clear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stopping point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57" y="801729"/>
            <a:ext cx="2112002" cy="2109042"/>
          </a:xfrm>
          <a:prstGeom prst="rect">
            <a:avLst/>
          </a:prstGeom>
        </p:spPr>
        <p:txBody>
          <a:bodyPr vert="horz" wrap="square" lIns="0" tIns="23371" rIns="0" bIns="0" rtlCol="0">
            <a:spAutoFit/>
          </a:bodyPr>
          <a:lstStyle/>
          <a:p>
            <a:pPr marL="179294" indent="-173210">
              <a:spcBef>
                <a:spcPts val="18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5" dirty="0">
                <a:latin typeface="Calibri"/>
                <a:cs typeface="Calibri"/>
              </a:rPr>
              <a:t>Isolatable boundable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8" dirty="0">
                <a:latin typeface="Calibri"/>
                <a:cs typeface="Calibri"/>
              </a:rPr>
              <a:t>problem</a:t>
            </a:r>
            <a:endParaRPr sz="1100" dirty="0">
              <a:latin typeface="Calibri"/>
              <a:cs typeface="Calibri"/>
            </a:endParaRPr>
          </a:p>
          <a:p>
            <a:pPr marL="179294" indent="-173210">
              <a:spcBef>
                <a:spcPts val="131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5" dirty="0">
                <a:latin typeface="Calibri"/>
                <a:cs typeface="Calibri"/>
              </a:rPr>
              <a:t>Universally</a:t>
            </a:r>
            <a:r>
              <a:rPr sz="1100" spc="-18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similar</a:t>
            </a:r>
            <a:r>
              <a:rPr sz="1100" spc="-8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type</a:t>
            </a:r>
            <a:endParaRPr sz="1100" dirty="0">
              <a:latin typeface="Calibri"/>
              <a:cs typeface="Calibri"/>
            </a:endParaRPr>
          </a:p>
          <a:p>
            <a:pPr marL="179294" marR="476088" indent="-173210">
              <a:lnSpc>
                <a:spcPts val="1200"/>
              </a:lnSpc>
              <a:spcBef>
                <a:spcPts val="285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5" dirty="0">
                <a:latin typeface="Calibri"/>
                <a:cs typeface="Calibri"/>
              </a:rPr>
              <a:t>Stable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and/or</a:t>
            </a:r>
            <a:r>
              <a:rPr sz="1100" spc="-18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predictable </a:t>
            </a:r>
            <a:r>
              <a:rPr sz="1100" spc="-244" dirty="0">
                <a:latin typeface="Calibri"/>
                <a:cs typeface="Calibri"/>
              </a:rPr>
              <a:t> </a:t>
            </a:r>
            <a:r>
              <a:rPr sz="1100" spc="-8" dirty="0">
                <a:latin typeface="Calibri"/>
                <a:cs typeface="Calibri"/>
              </a:rPr>
              <a:t>problem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parameters</a:t>
            </a:r>
            <a:endParaRPr sz="1100" dirty="0">
              <a:latin typeface="Calibri"/>
              <a:cs typeface="Calibri"/>
            </a:endParaRPr>
          </a:p>
          <a:p>
            <a:pPr marL="179294" indent="-173210">
              <a:lnSpc>
                <a:spcPts val="1266"/>
              </a:lnSpc>
              <a:spcBef>
                <a:spcPts val="113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5" dirty="0">
                <a:latin typeface="Calibri"/>
                <a:cs typeface="Calibri"/>
              </a:rPr>
              <a:t>Limited</a:t>
            </a:r>
            <a:r>
              <a:rPr sz="1100" spc="-3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set</a:t>
            </a:r>
            <a:r>
              <a:rPr sz="1100" spc="-3" dirty="0">
                <a:latin typeface="Calibri"/>
                <a:cs typeface="Calibri"/>
              </a:rPr>
              <a:t> of</a:t>
            </a:r>
            <a:r>
              <a:rPr sz="1100" spc="-8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alternative</a:t>
            </a:r>
            <a:endParaRPr sz="1100" dirty="0">
              <a:latin typeface="Calibri"/>
              <a:cs typeface="Calibri"/>
            </a:endParaRPr>
          </a:p>
          <a:p>
            <a:pPr marL="179294">
              <a:lnSpc>
                <a:spcPts val="1266"/>
              </a:lnSpc>
            </a:pPr>
            <a:r>
              <a:rPr sz="1100" spc="-3" dirty="0">
                <a:latin typeface="Calibri"/>
                <a:cs typeface="Calibri"/>
              </a:rPr>
              <a:t>solutions</a:t>
            </a:r>
            <a:endParaRPr sz="1100" dirty="0">
              <a:latin typeface="Calibri"/>
              <a:cs typeface="Calibri"/>
            </a:endParaRPr>
          </a:p>
          <a:p>
            <a:pPr marL="179294" marR="275344" indent="-173210">
              <a:lnSpc>
                <a:spcPts val="1200"/>
              </a:lnSpc>
              <a:spcBef>
                <a:spcPts val="282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8" dirty="0">
                <a:latin typeface="Calibri"/>
                <a:cs typeface="Calibri"/>
              </a:rPr>
              <a:t>Involve </a:t>
            </a:r>
            <a:r>
              <a:rPr sz="1100" spc="-15" dirty="0">
                <a:latin typeface="Calibri"/>
                <a:cs typeface="Calibri"/>
              </a:rPr>
              <a:t>few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or</a:t>
            </a:r>
            <a:r>
              <a:rPr sz="1100" spc="-5" dirty="0">
                <a:latin typeface="Calibri"/>
                <a:cs typeface="Calibri"/>
              </a:rPr>
              <a:t> homogeneous </a:t>
            </a:r>
            <a:r>
              <a:rPr sz="1100" spc="-24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stakeholders</a:t>
            </a:r>
            <a:endParaRPr sz="1100" dirty="0">
              <a:latin typeface="Calibri"/>
              <a:cs typeface="Calibri"/>
            </a:endParaRPr>
          </a:p>
          <a:p>
            <a:pPr marL="179294" marR="382600" indent="-173210">
              <a:lnSpc>
                <a:spcPts val="1200"/>
              </a:lnSpc>
              <a:spcBef>
                <a:spcPts val="262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5" dirty="0">
                <a:latin typeface="Calibri"/>
                <a:cs typeface="Calibri"/>
              </a:rPr>
              <a:t>Single optimal</a:t>
            </a:r>
            <a:r>
              <a:rPr sz="1100" spc="3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8" dirty="0">
                <a:latin typeface="Calibri"/>
                <a:cs typeface="Calibri"/>
              </a:rPr>
              <a:t>testable </a:t>
            </a:r>
            <a:r>
              <a:rPr sz="1100" spc="-242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solutions</a:t>
            </a:r>
            <a:endParaRPr sz="1100" dirty="0">
              <a:latin typeface="Calibri"/>
              <a:cs typeface="Calibri"/>
            </a:endParaRPr>
          </a:p>
          <a:p>
            <a:pPr marL="179294" marR="218354" indent="-173210">
              <a:lnSpc>
                <a:spcPts val="1200"/>
              </a:lnSpc>
              <a:spcBef>
                <a:spcPts val="262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100" spc="-5" dirty="0">
                <a:latin typeface="Calibri"/>
                <a:cs typeface="Calibri"/>
              </a:rPr>
              <a:t>Single optimal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solution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8" dirty="0">
                <a:latin typeface="Calibri"/>
                <a:cs typeface="Calibri"/>
              </a:rPr>
              <a:t>can</a:t>
            </a:r>
            <a:r>
              <a:rPr sz="1100" spc="-3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be </a:t>
            </a:r>
            <a:r>
              <a:rPr sz="1100" spc="-244" dirty="0">
                <a:latin typeface="Calibri"/>
                <a:cs typeface="Calibri"/>
              </a:rPr>
              <a:t> </a:t>
            </a:r>
            <a:r>
              <a:rPr sz="1100" spc="-3" dirty="0">
                <a:latin typeface="Calibri"/>
                <a:cs typeface="Calibri"/>
              </a:rPr>
              <a:t>clearly</a:t>
            </a:r>
            <a:r>
              <a:rPr sz="1100" spc="-5" dirty="0">
                <a:latin typeface="Calibri"/>
                <a:cs typeface="Calibri"/>
              </a:rPr>
              <a:t> recognised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F3FE1127-A5B2-27E9-7EEC-A113143AA63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A87321F9-185B-EF81-9ECE-05783C7872DB}"/>
              </a:ext>
            </a:extLst>
          </p:cNvPr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12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58" y="1105694"/>
            <a:ext cx="1965695" cy="1416325"/>
            <a:chOff x="324611" y="2189963"/>
            <a:chExt cx="3898900" cy="2809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0" y="2189963"/>
              <a:ext cx="3599703" cy="28087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611" y="2458211"/>
              <a:ext cx="3898391" cy="23972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867" y="2205228"/>
              <a:ext cx="3528060" cy="2737485"/>
            </a:xfrm>
            <a:custGeom>
              <a:avLst/>
              <a:gdLst/>
              <a:ahLst/>
              <a:cxnLst/>
              <a:rect l="l" t="t" r="r" b="b"/>
              <a:pathLst>
                <a:path w="3528060" h="2737485">
                  <a:moveTo>
                    <a:pt x="3528059" y="0"/>
                  </a:moveTo>
                  <a:lnTo>
                    <a:pt x="0" y="0"/>
                  </a:lnTo>
                  <a:lnTo>
                    <a:pt x="0" y="2737104"/>
                  </a:lnTo>
                  <a:lnTo>
                    <a:pt x="3528059" y="2737104"/>
                  </a:lnTo>
                  <a:lnTo>
                    <a:pt x="352805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5884" y="1113389"/>
            <a:ext cx="1762079" cy="1188157"/>
          </a:xfrm>
          <a:prstGeom prst="rect">
            <a:avLst/>
          </a:prstGeom>
          <a:ln w="9144">
            <a:noFill/>
          </a:ln>
        </p:spPr>
        <p:txBody>
          <a:bodyPr vert="horz" wrap="square" lIns="0" tIns="1281" rIns="0" bIns="0" rtlCol="0">
            <a:spAutoFit/>
          </a:bodyPr>
          <a:lstStyle/>
          <a:p>
            <a:pPr>
              <a:spcBef>
                <a:spcPts val="10"/>
              </a:spcBef>
            </a:pPr>
            <a:endParaRPr sz="1261">
              <a:latin typeface="Times New Roman"/>
              <a:cs typeface="Times New Roman"/>
            </a:endParaRPr>
          </a:p>
          <a:p>
            <a:pPr marL="72038" marR="67875" algn="ctr"/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Scie</a:t>
            </a:r>
            <a:r>
              <a:rPr sz="1613" b="1" spc="-13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tifi</a:t>
            </a:r>
            <a:r>
              <a:rPr sz="1613" b="1" spc="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613" b="1" spc="-139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echn</a:t>
            </a:r>
            <a:r>
              <a:rPr sz="1613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13" b="1" spc="-13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13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l  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endParaRPr sz="1613">
              <a:latin typeface="Calibri"/>
              <a:cs typeface="Calibri"/>
            </a:endParaRPr>
          </a:p>
          <a:p>
            <a:pPr marL="237884" marR="235323" algn="ctr">
              <a:spcBef>
                <a:spcPts val="3"/>
              </a:spcBef>
            </a:pPr>
            <a:r>
              <a:rPr sz="1613" b="1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613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combine</a:t>
            </a:r>
            <a:r>
              <a:rPr sz="1613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1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613" b="1" spc="-35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8" dirty="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endParaRPr sz="1613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76274" y="1105694"/>
            <a:ext cx="1852044" cy="1416325"/>
            <a:chOff x="5109964" y="2189963"/>
            <a:chExt cx="3673475" cy="28092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9964" y="2189963"/>
              <a:ext cx="3672855" cy="28087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8071" y="2205228"/>
              <a:ext cx="3601720" cy="2737485"/>
            </a:xfrm>
            <a:custGeom>
              <a:avLst/>
              <a:gdLst/>
              <a:ahLst/>
              <a:cxnLst/>
              <a:rect l="l" t="t" r="r" b="b"/>
              <a:pathLst>
                <a:path w="3601720" h="2737485">
                  <a:moveTo>
                    <a:pt x="3601212" y="0"/>
                  </a:moveTo>
                  <a:lnTo>
                    <a:pt x="0" y="0"/>
                  </a:lnTo>
                  <a:lnTo>
                    <a:pt x="0" y="2737104"/>
                  </a:lnTo>
                  <a:lnTo>
                    <a:pt x="3601212" y="2737104"/>
                  </a:lnTo>
                  <a:lnTo>
                    <a:pt x="36012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148071" y="2205228"/>
              <a:ext cx="3601720" cy="2737485"/>
            </a:xfrm>
            <a:custGeom>
              <a:avLst/>
              <a:gdLst/>
              <a:ahLst/>
              <a:cxnLst/>
              <a:rect l="l" t="t" r="r" b="b"/>
              <a:pathLst>
                <a:path w="3601720" h="2737485">
                  <a:moveTo>
                    <a:pt x="0" y="2737104"/>
                  </a:moveTo>
                  <a:lnTo>
                    <a:pt x="3601212" y="2737104"/>
                  </a:lnTo>
                  <a:lnTo>
                    <a:pt x="3601212" y="0"/>
                  </a:lnTo>
                  <a:lnTo>
                    <a:pt x="0" y="0"/>
                  </a:lnTo>
                  <a:lnTo>
                    <a:pt x="0" y="27371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650" y="1538159"/>
            <a:ext cx="1520693" cy="503207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613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13" b="1" spc="-5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1613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613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90795" y="1751114"/>
            <a:ext cx="648615" cy="296775"/>
            <a:chOff x="3948684" y="3470135"/>
            <a:chExt cx="1286510" cy="58864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8684" y="3470135"/>
              <a:ext cx="1286256" cy="5882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995928" y="3500628"/>
              <a:ext cx="1195070" cy="486409"/>
            </a:xfrm>
            <a:custGeom>
              <a:avLst/>
              <a:gdLst/>
              <a:ahLst/>
              <a:cxnLst/>
              <a:rect l="l" t="t" r="r" b="b"/>
              <a:pathLst>
                <a:path w="1195070" h="486410">
                  <a:moveTo>
                    <a:pt x="951738" y="0"/>
                  </a:moveTo>
                  <a:lnTo>
                    <a:pt x="951738" y="121539"/>
                  </a:lnTo>
                  <a:lnTo>
                    <a:pt x="0" y="121539"/>
                  </a:lnTo>
                  <a:lnTo>
                    <a:pt x="0" y="364617"/>
                  </a:lnTo>
                  <a:lnTo>
                    <a:pt x="951738" y="364617"/>
                  </a:lnTo>
                  <a:lnTo>
                    <a:pt x="951738" y="486156"/>
                  </a:lnTo>
                  <a:lnTo>
                    <a:pt x="1194816" y="243078"/>
                  </a:lnTo>
                  <a:lnTo>
                    <a:pt x="95173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5928" y="3500628"/>
              <a:ext cx="1195070" cy="486409"/>
            </a:xfrm>
            <a:custGeom>
              <a:avLst/>
              <a:gdLst/>
              <a:ahLst/>
              <a:cxnLst/>
              <a:rect l="l" t="t" r="r" b="b"/>
              <a:pathLst>
                <a:path w="1195070" h="486410">
                  <a:moveTo>
                    <a:pt x="0" y="121539"/>
                  </a:moveTo>
                  <a:lnTo>
                    <a:pt x="951738" y="121539"/>
                  </a:lnTo>
                  <a:lnTo>
                    <a:pt x="951738" y="0"/>
                  </a:lnTo>
                  <a:lnTo>
                    <a:pt x="1194816" y="243078"/>
                  </a:lnTo>
                  <a:lnTo>
                    <a:pt x="951738" y="486156"/>
                  </a:lnTo>
                  <a:lnTo>
                    <a:pt x="951738" y="364617"/>
                  </a:lnTo>
                  <a:lnTo>
                    <a:pt x="0" y="364617"/>
                  </a:lnTo>
                  <a:lnTo>
                    <a:pt x="0" y="12153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1C89572A-9E32-215F-A600-4FC0299BEF0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5609E89A-4538-68E8-18C3-480447B66551}"/>
              </a:ext>
            </a:extLst>
          </p:cNvPr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13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Knowledge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Profile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06" y="650289"/>
            <a:ext cx="4330781" cy="25384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14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Knowledge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Profile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15</a:t>
            </a:fld>
            <a:endParaRPr sz="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193074"/>
              </p:ext>
            </p:extLst>
          </p:nvPr>
        </p:nvGraphicFramePr>
        <p:xfrm>
          <a:off x="259638" y="793089"/>
          <a:ext cx="4084320" cy="2251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465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K1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systematic,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theory-based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understanding</a:t>
                      </a:r>
                      <a:r>
                        <a:rPr sz="800" spc="1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natural</a:t>
                      </a:r>
                      <a:r>
                        <a:rPr sz="800" spc="13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sciences</a:t>
                      </a:r>
                      <a:r>
                        <a:rPr sz="800" spc="14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applicable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algn="just">
                        <a:lnSpc>
                          <a:spcPts val="955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discipline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K2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Conceptually</a:t>
                      </a:r>
                      <a:r>
                        <a:rPr sz="800" spc="1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based</a:t>
                      </a:r>
                      <a:r>
                        <a:rPr sz="800" spc="1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mathematics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800" spc="1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numerical</a:t>
                      </a:r>
                      <a:r>
                        <a:rPr sz="800" spc="1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analysis,</a:t>
                      </a:r>
                      <a:r>
                        <a:rPr sz="800" spc="1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statistics</a:t>
                      </a:r>
                      <a:r>
                        <a:rPr sz="800" spc="1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1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formal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945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aspects</a:t>
                      </a:r>
                      <a:r>
                        <a:rPr sz="800" spc="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computer</a:t>
                      </a:r>
                      <a:r>
                        <a:rPr sz="800" spc="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information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science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800" spc="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support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r>
                        <a:rPr sz="800" spc="1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modeling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applicable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discipline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K3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systematic,</a:t>
                      </a:r>
                      <a:r>
                        <a:rPr sz="8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theory-based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formulation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10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fundamentals</a:t>
                      </a:r>
                      <a:r>
                        <a:rPr sz="800" spc="10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required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algn="just">
                        <a:lnSpc>
                          <a:spcPts val="955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discipline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K4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specialist</a:t>
                      </a:r>
                      <a:r>
                        <a:rPr sz="800" spc="4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4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provides</a:t>
                      </a:r>
                      <a:r>
                        <a:rPr sz="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theoretical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frameworks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bodies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310" algn="just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accepted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practice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areas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discipline;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much </a:t>
                      </a:r>
                      <a:r>
                        <a:rPr sz="800" spc="-1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forefront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discipline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60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K5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supports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7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design</a:t>
                      </a:r>
                      <a:r>
                        <a:rPr sz="800" spc="7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practice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area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393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K6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35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5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practice</a:t>
                      </a:r>
                      <a:r>
                        <a:rPr sz="800" spc="5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(technology)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practice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areas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engi-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  <a:p>
                      <a:pPr marL="75565" algn="just">
                        <a:lnSpc>
                          <a:spcPts val="955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neering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discipline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101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K7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7310" algn="just">
                        <a:lnSpc>
                          <a:spcPts val="950"/>
                        </a:lnSpc>
                        <a:spcBef>
                          <a:spcPts val="475"/>
                        </a:spcBef>
                      </a:pPr>
                      <a:r>
                        <a:rPr sz="800" spc="-2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Comprehension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role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society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identified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engi-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neering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practice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discipline: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ethics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engineer’s professional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respon-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sibility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public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safety;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impacts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activity;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economic,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social,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cultural,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environmental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sustainability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3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260"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K8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just">
                        <a:lnSpc>
                          <a:spcPts val="840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Engagement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selected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research</a:t>
                      </a:r>
                      <a:r>
                        <a:rPr sz="800" spc="80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literature</a:t>
                      </a:r>
                      <a:r>
                        <a:rPr sz="800" spc="75" dirty="0">
                          <a:solidFill>
                            <a:srgbClr val="BC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discipline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709" y="653023"/>
            <a:ext cx="2598526" cy="26296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16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17</a:t>
            </a:fld>
            <a:endParaRPr sz="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31123"/>
              </p:ext>
            </p:extLst>
          </p:nvPr>
        </p:nvGraphicFramePr>
        <p:xfrm>
          <a:off x="151714" y="869289"/>
          <a:ext cx="4264025" cy="2124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0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Attribute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Complex</a:t>
                      </a:r>
                      <a:r>
                        <a:rPr sz="8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Engineering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Problems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characteristic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P1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some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all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P2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P7: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Depth</a:t>
                      </a:r>
                      <a:r>
                        <a:rPr sz="800" spc="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quired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P1:</a:t>
                      </a:r>
                      <a:r>
                        <a:rPr sz="800" b="1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Cannot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resolved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without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in-depth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31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level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one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more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K3,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K4,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K5,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K6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K8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which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allows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fundamentals-based,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first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principles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analytical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approach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conflicting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lang="en-US" sz="800" spc="-15" dirty="0">
                          <a:latin typeface="Microsoft Sans Serif"/>
                          <a:cs typeface="Microsoft Sans Serif"/>
                        </a:rPr>
                        <a:t>q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uirements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P2:</a:t>
                      </a:r>
                      <a:r>
                        <a:rPr sz="800" b="1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wide-ranging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conflicting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technical,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other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Depth   of  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r>
                        <a:rPr sz="800" spc="4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lang="en-US" sz="800" spc="-15" dirty="0">
                          <a:latin typeface="Microsoft Sans Serif"/>
                          <a:cs typeface="Microsoft Sans Serif"/>
                        </a:rPr>
                        <a:t>q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uired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P3:</a:t>
                      </a:r>
                      <a:r>
                        <a:rPr sz="8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obvious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solution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require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abstract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thinking,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orig-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inality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formulate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suitable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models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60"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Familiarity</a:t>
                      </a:r>
                      <a:r>
                        <a:rPr sz="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P4:</a:t>
                      </a:r>
                      <a:r>
                        <a:rPr sz="800" b="1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infrequently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encountered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  <a:tabLst>
                          <a:tab pos="498475" algn="l"/>
                          <a:tab pos="713105" algn="l"/>
                        </a:tabLst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Extent	of</a:t>
                      </a:r>
                      <a:endParaRPr lang="en-US" sz="800" spc="5" dirty="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835"/>
                        </a:lnSpc>
                        <a:tabLst>
                          <a:tab pos="498475" algn="l"/>
                          <a:tab pos="713105" algn="l"/>
                        </a:tabLst>
                      </a:pPr>
                      <a:r>
                        <a:rPr lang="en-US" sz="800" spc="-15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pplicable</a:t>
                      </a:r>
                      <a:r>
                        <a:rPr lang="en-US" sz="800" spc="0" baseline="0" dirty="0">
                          <a:latin typeface="Microsoft Sans Serif"/>
                          <a:cs typeface="Microsoft Sans Serif"/>
                        </a:rPr>
                        <a:t> c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odes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P5:</a:t>
                      </a:r>
                      <a:r>
                        <a:rPr sz="800" b="1" spc="2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Are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outside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problems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encompassed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by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standards</a:t>
                      </a:r>
                      <a:r>
                        <a:rPr sz="8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codes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practice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professional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Extent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stakeholder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volvement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ing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requirements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P6:</a:t>
                      </a:r>
                      <a:r>
                        <a:rPr sz="800" b="1" spc="3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diverse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groups</a:t>
                      </a:r>
                      <a:r>
                        <a:rPr sz="800" spc="1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stakeholders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widely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varying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needs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Interdependence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P7:</a:t>
                      </a:r>
                      <a:r>
                        <a:rPr sz="800" b="1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Are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high-level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problems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including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many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component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parts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sub-problems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603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15847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319504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62316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210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141918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93747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432926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966" y="2597416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2736596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3014941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717498"/>
            <a:ext cx="4072254" cy="238823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0" dirty="0">
                <a:latin typeface="Tahoma"/>
                <a:cs typeface="Tahoma"/>
              </a:rPr>
              <a:t>P1: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In–Depth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Required</a:t>
            </a:r>
            <a:endParaRPr sz="1100">
              <a:latin typeface="Tahoma"/>
              <a:cs typeface="Tahoma"/>
            </a:endParaRPr>
          </a:p>
          <a:p>
            <a:pPr marL="289560" marR="487680">
              <a:lnSpc>
                <a:spcPct val="100000"/>
              </a:lnSpc>
              <a:spcBef>
                <a:spcPts val="175"/>
              </a:spcBef>
            </a:pPr>
            <a:r>
              <a:rPr sz="1000" spc="-50" dirty="0">
                <a:latin typeface="Tahoma"/>
                <a:cs typeface="Tahoma"/>
              </a:rPr>
              <a:t>knowledge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gained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courses/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learning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activities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beyond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introductory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instructional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level</a:t>
            </a:r>
            <a:endParaRPr sz="1000">
              <a:latin typeface="Tahoma"/>
              <a:cs typeface="Tahoma"/>
            </a:endParaRPr>
          </a:p>
          <a:p>
            <a:pPr marL="289560" marR="48895">
              <a:lnSpc>
                <a:spcPts val="1200"/>
              </a:lnSpc>
              <a:spcBef>
                <a:spcPts val="35"/>
              </a:spcBef>
            </a:pPr>
            <a:r>
              <a:rPr sz="1000" spc="-15" dirty="0">
                <a:latin typeface="Tahoma"/>
                <a:cs typeface="Tahoma"/>
              </a:rPr>
              <a:t>first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Principles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fundamental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concepts/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assumptions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which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theory,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method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based.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10" dirty="0">
                <a:latin typeface="Tahoma"/>
                <a:cs typeface="Tahoma"/>
              </a:rPr>
              <a:t>Apply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standard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formulae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theoretical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models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mixed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exposure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Tahoma"/>
                <a:cs typeface="Tahoma"/>
              </a:rPr>
              <a:t>to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similar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problems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0" dirty="0">
                <a:latin typeface="Tahoma"/>
                <a:cs typeface="Tahoma"/>
              </a:rPr>
              <a:t>P2: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endParaRPr sz="1100">
              <a:latin typeface="Tahoma"/>
              <a:cs typeface="Tahoma"/>
            </a:endParaRPr>
          </a:p>
          <a:p>
            <a:pPr marL="289560" marR="915035">
              <a:lnSpc>
                <a:spcPct val="95500"/>
              </a:lnSpc>
              <a:spcBef>
                <a:spcPts val="229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placed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problem?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conflicting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demands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developing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design?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How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were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identified?</a:t>
            </a:r>
            <a:endParaRPr sz="10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195"/>
              </a:spcBef>
            </a:pPr>
            <a:r>
              <a:rPr sz="900" spc="-20" dirty="0">
                <a:latin typeface="Microsoft Sans Serif"/>
                <a:cs typeface="Microsoft Sans Serif"/>
              </a:rPr>
              <a:t>they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may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have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been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part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of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the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brief,</a:t>
            </a:r>
            <a:endParaRPr sz="900">
              <a:latin typeface="Microsoft Sans Serif"/>
              <a:cs typeface="Microsoft Sans Serif"/>
            </a:endParaRPr>
          </a:p>
          <a:p>
            <a:pPr marL="566420" marR="52705">
              <a:lnSpc>
                <a:spcPct val="101499"/>
              </a:lnSpc>
            </a:pPr>
            <a:r>
              <a:rPr sz="900" spc="-20" dirty="0">
                <a:latin typeface="Microsoft Sans Serif"/>
                <a:cs typeface="Microsoft Sans Serif"/>
              </a:rPr>
              <a:t>they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may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have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only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0" dirty="0">
                <a:latin typeface="Microsoft Sans Serif"/>
                <a:cs typeface="Microsoft Sans Serif"/>
              </a:rPr>
              <a:t>become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apparent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0" dirty="0">
                <a:latin typeface="Microsoft Sans Serif"/>
                <a:cs typeface="Microsoft Sans Serif"/>
              </a:rPr>
              <a:t>once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they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started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addressing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the </a:t>
            </a:r>
            <a:r>
              <a:rPr sz="900" spc="-22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problem,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or</a:t>
            </a:r>
            <a:endParaRPr sz="900">
              <a:latin typeface="Microsoft Sans Serif"/>
              <a:cs typeface="Microsoft Sans Serif"/>
            </a:endParaRPr>
          </a:p>
          <a:p>
            <a:pPr marL="566420">
              <a:lnSpc>
                <a:spcPct val="100000"/>
              </a:lnSpc>
              <a:spcBef>
                <a:spcPts val="15"/>
              </a:spcBef>
            </a:pPr>
            <a:r>
              <a:rPr sz="900" spc="-15" dirty="0">
                <a:latin typeface="Microsoft Sans Serif"/>
                <a:cs typeface="Microsoft Sans Serif"/>
              </a:rPr>
              <a:t>the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brief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may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have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implied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or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only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referenced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20" dirty="0">
                <a:latin typeface="Microsoft Sans Serif"/>
                <a:cs typeface="Microsoft Sans Serif"/>
              </a:rPr>
              <a:t>to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them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loosely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18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132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121143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7297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24800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03212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36106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550884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702712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822794"/>
            <a:ext cx="4079240" cy="21253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0" dirty="0">
                <a:latin typeface="Tahoma"/>
                <a:cs typeface="Tahoma"/>
              </a:rPr>
              <a:t>P3: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Depth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required</a:t>
            </a:r>
            <a:endParaRPr sz="1100">
              <a:latin typeface="Tahoma"/>
              <a:cs typeface="Tahoma"/>
            </a:endParaRPr>
          </a:p>
          <a:p>
            <a:pPr marL="289560" marR="4699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guidance/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given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develop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solution/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design?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might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multiple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Tahoma"/>
                <a:cs typeface="Tahoma"/>
              </a:rPr>
              <a:t>Students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been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given </a:t>
            </a:r>
            <a:r>
              <a:rPr sz="1000" spc="-40" dirty="0">
                <a:latin typeface="Tahoma"/>
                <a:cs typeface="Tahoma"/>
              </a:rPr>
              <a:t>clear </a:t>
            </a:r>
            <a:r>
              <a:rPr sz="1000" spc="-45" dirty="0">
                <a:latin typeface="Tahoma"/>
                <a:cs typeface="Tahoma"/>
              </a:rPr>
              <a:t>boundaries and </a:t>
            </a:r>
            <a:r>
              <a:rPr sz="1000" spc="-30" dirty="0">
                <a:latin typeface="Tahoma"/>
                <a:cs typeface="Tahoma"/>
              </a:rPr>
              <a:t>specific details of 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do,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define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all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boundaries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themselves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Arial"/>
                <a:cs typeface="Arial"/>
              </a:rPr>
              <a:t>limited 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information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decide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how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should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carried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out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0"/>
              </a:lnSpc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been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one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regularly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encountered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20" dirty="0">
                <a:latin typeface="Tahoma"/>
                <a:cs typeface="Tahoma"/>
              </a:rPr>
              <a:t>but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slight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BC1919"/>
                </a:solidFill>
                <a:latin typeface="Tahoma"/>
                <a:cs typeface="Tahoma"/>
              </a:rPr>
              <a:t>case-specific</a:t>
            </a:r>
            <a:r>
              <a:rPr sz="1000" spc="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BC1919"/>
                </a:solidFill>
                <a:latin typeface="Tahoma"/>
                <a:cs typeface="Tahoma"/>
              </a:rPr>
              <a:t>variations</a:t>
            </a:r>
            <a:r>
              <a:rPr sz="1000" spc="-30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0" dirty="0">
                <a:latin typeface="Tahoma"/>
                <a:cs typeface="Tahoma"/>
              </a:rPr>
              <a:t>P4: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Familiarity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issues</a:t>
            </a:r>
            <a:endParaRPr sz="1100">
              <a:latin typeface="Tahoma"/>
              <a:cs typeface="Tahoma"/>
            </a:endParaRPr>
          </a:p>
          <a:p>
            <a:pPr marL="289560" marR="431165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New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 </a:t>
            </a:r>
            <a:r>
              <a:rPr sz="1000" spc="-40" dirty="0">
                <a:latin typeface="Tahoma"/>
                <a:cs typeface="Tahoma"/>
              </a:rPr>
              <a:t>previously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only</a:t>
            </a:r>
            <a:r>
              <a:rPr sz="1000" spc="254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rarely</a:t>
            </a:r>
            <a:r>
              <a:rPr sz="1000" spc="229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encountered.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Familiar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many)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unique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made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resolution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difficulty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level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increased.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19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044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07199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10856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2387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05244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204275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356116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659773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969133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3145878"/>
            <a:ext cx="52590" cy="5259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536202"/>
            <a:ext cx="4047490" cy="28549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spc="-20" dirty="0">
                <a:latin typeface="Tahoma"/>
                <a:cs typeface="Tahoma"/>
              </a:rPr>
              <a:t>P5: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Applicable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Codes</a:t>
            </a:r>
            <a:endParaRPr sz="1100" dirty="0">
              <a:latin typeface="Tahoma"/>
              <a:cs typeface="Tahoma"/>
            </a:endParaRPr>
          </a:p>
          <a:p>
            <a:pPr marL="289560" marR="136525">
              <a:lnSpc>
                <a:spcPct val="100000"/>
              </a:lnSpc>
              <a:spcBef>
                <a:spcPts val="70"/>
              </a:spcBef>
            </a:pPr>
            <a:r>
              <a:rPr sz="1000" spc="-20" dirty="0">
                <a:latin typeface="Tahoma"/>
                <a:cs typeface="Tahoma"/>
              </a:rPr>
              <a:t>Applying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skill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address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were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clearly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prescribed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standards,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codes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practices.</a:t>
            </a:r>
            <a:endParaRPr sz="1000" dirty="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0"/>
              </a:spcBef>
            </a:pPr>
            <a:r>
              <a:rPr sz="1000" spc="-25" dirty="0">
                <a:latin typeface="Tahoma"/>
                <a:cs typeface="Tahoma"/>
              </a:rPr>
              <a:t>Having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develop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own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criteria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(in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manner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consistent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good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practice)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because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was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ill-defined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5" dirty="0">
                <a:latin typeface="Tahoma"/>
                <a:cs typeface="Tahoma"/>
              </a:rPr>
              <a:t> it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fall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specific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standards,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codes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codified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practices.</a:t>
            </a:r>
            <a:endParaRPr sz="1000" dirty="0">
              <a:latin typeface="Tahoma"/>
              <a:cs typeface="Tahoma"/>
            </a:endParaRPr>
          </a:p>
          <a:p>
            <a:pPr marL="12700" marR="443865">
              <a:lnSpc>
                <a:spcPts val="1200"/>
              </a:lnSpc>
              <a:spcBef>
                <a:spcPts val="130"/>
              </a:spcBef>
            </a:pPr>
            <a:r>
              <a:rPr sz="1100" spc="-20" dirty="0">
                <a:latin typeface="Tahoma"/>
                <a:cs typeface="Tahoma"/>
              </a:rPr>
              <a:t>P6: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stakeholder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involvement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level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45"/>
              </a:spcBef>
            </a:pPr>
            <a:r>
              <a:rPr sz="1000" spc="-20" dirty="0">
                <a:latin typeface="Tahoma"/>
                <a:cs typeface="Tahoma"/>
              </a:rPr>
              <a:t>Who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your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stakeholders?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their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interests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 dirty="0">
              <a:latin typeface="Tahoma"/>
              <a:cs typeface="Tahoma"/>
            </a:endParaRPr>
          </a:p>
          <a:p>
            <a:pPr marL="289560" marR="186690">
              <a:lnSpc>
                <a:spcPts val="1200"/>
              </a:lnSpc>
              <a:spcBef>
                <a:spcPts val="40"/>
              </a:spcBef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extent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these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interests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conflicted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and/or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placed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40" dirty="0">
                <a:latin typeface="Tahoma"/>
                <a:cs typeface="Tahoma"/>
              </a:rPr>
              <a:t>How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you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manage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your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stakeholders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conflicts,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meet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their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reach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satisfactory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compromises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spc="-20" dirty="0">
                <a:latin typeface="Tahoma"/>
                <a:cs typeface="Tahoma"/>
              </a:rPr>
              <a:t>P7: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Interdependence</a:t>
            </a:r>
            <a:endParaRPr sz="1100" dirty="0">
              <a:latin typeface="Tahoma"/>
              <a:cs typeface="Tahoma"/>
            </a:endParaRPr>
          </a:p>
          <a:p>
            <a:pPr marL="289560" marR="196215">
              <a:lnSpc>
                <a:spcPct val="100000"/>
              </a:lnSpc>
              <a:spcBef>
                <a:spcPts val="70"/>
              </a:spcBef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able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broken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down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into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smaller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components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sub-problems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20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An</a:t>
            </a:r>
            <a:r>
              <a:rPr sz="1400" spc="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544" y="520435"/>
            <a:ext cx="9683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15" dirty="0">
                <a:solidFill>
                  <a:srgbClr val="3333B2"/>
                </a:solidFill>
                <a:latin typeface="Tahoma"/>
                <a:cs typeface="Tahoma"/>
              </a:rPr>
              <a:t>Gait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</a:rPr>
              <a:t> Recognition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544" y="789202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15570">
              <a:lnSpc>
                <a:spcPct val="102600"/>
              </a:lnSpc>
              <a:spcBef>
                <a:spcPts val="55"/>
              </a:spcBef>
            </a:pPr>
            <a:r>
              <a:rPr sz="1100" spc="-40" dirty="0">
                <a:latin typeface="Tahoma"/>
                <a:cs typeface="Tahoma"/>
              </a:rPr>
              <a:t>Identifying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people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without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face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recognition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very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important.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Gait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 </a:t>
            </a:r>
            <a:r>
              <a:rPr sz="1100" spc="-50" dirty="0">
                <a:latin typeface="Tahoma"/>
                <a:cs typeface="Tahoma"/>
              </a:rPr>
              <a:t> unique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trait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helps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human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recognition.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Design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real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time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gait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recognition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system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use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cheap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cameras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minimal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power.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1604001"/>
            <a:ext cx="4330995" cy="179945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21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849" y="434975"/>
            <a:ext cx="1249987" cy="344697"/>
          </a:xfrm>
          <a:prstGeom prst="rect">
            <a:avLst/>
          </a:prstGeom>
        </p:spPr>
        <p:txBody>
          <a:bodyPr vert="horz" wrap="square" lIns="0" tIns="6083" rIns="0" bIns="0" rtlCol="0">
            <a:spAutoFit/>
          </a:bodyPr>
          <a:lstStyle/>
          <a:p>
            <a:pPr marL="6403">
              <a:spcBef>
                <a:spcPts val="48"/>
              </a:spcBef>
            </a:pP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Asp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200" spc="-5" dirty="0">
                <a:solidFill>
                  <a:srgbClr val="0000FF"/>
                </a:solidFill>
                <a:latin typeface="Calibri"/>
                <a:cs typeface="Calibri"/>
              </a:rPr>
              <a:t>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203" y="964253"/>
            <a:ext cx="1303634" cy="1934119"/>
          </a:xfrm>
          <a:prstGeom prst="rect">
            <a:avLst/>
          </a:prstGeom>
        </p:spPr>
        <p:txBody>
          <a:bodyPr vert="horz" wrap="square" lIns="0" tIns="30734" rIns="0" bIns="0" rtlCol="0">
            <a:spAutoFit/>
          </a:bodyPr>
          <a:lstStyle/>
          <a:p>
            <a:pPr marL="179294" indent="-173210">
              <a:spcBef>
                <a:spcPts val="242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8" dirty="0">
                <a:latin typeface="Calibri"/>
                <a:cs typeface="Calibri"/>
              </a:rPr>
              <a:t>Economics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3" dirty="0">
                <a:latin typeface="Calibri"/>
                <a:cs typeface="Calibri"/>
              </a:rPr>
              <a:t>Social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8" dirty="0">
                <a:latin typeface="Calibri"/>
                <a:cs typeface="Calibri"/>
              </a:rPr>
              <a:t>Environment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5" dirty="0">
                <a:latin typeface="Calibri"/>
                <a:cs typeface="Calibri"/>
              </a:rPr>
              <a:t>Ethics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dirty="0">
                <a:latin typeface="Calibri"/>
                <a:cs typeface="Calibri"/>
              </a:rPr>
              <a:t>Mana</a:t>
            </a:r>
            <a:r>
              <a:rPr sz="1400" spc="-15" dirty="0">
                <a:latin typeface="Calibri"/>
                <a:cs typeface="Calibri"/>
              </a:rPr>
              <a:t>g</a:t>
            </a:r>
            <a:r>
              <a:rPr sz="1400" dirty="0">
                <a:latin typeface="Calibri"/>
                <a:cs typeface="Calibri"/>
              </a:rPr>
              <a:t>eme</a:t>
            </a:r>
            <a:r>
              <a:rPr sz="1400" spc="-15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</a:t>
            </a: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15" dirty="0">
                <a:latin typeface="Calibri"/>
                <a:cs typeface="Calibri"/>
              </a:rPr>
              <a:t>Technology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5" dirty="0">
                <a:latin typeface="Calibri"/>
                <a:cs typeface="Calibri"/>
              </a:rPr>
              <a:t>Analysis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10" dirty="0">
                <a:latin typeface="Calibri"/>
                <a:cs typeface="Calibri"/>
              </a:rPr>
              <a:t>Evaluation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C294B05F-1E74-62DC-6CE4-1CDBDC6ABE1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63F0110C-216B-F77A-1FDC-845DCB6EEB55}"/>
              </a:ext>
            </a:extLst>
          </p:cNvPr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22</a:t>
            </a:fld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076" name="Picture 4" descr="Berkunjung ke Jepang (Bag. 2): Ke JAIST Merajut Kolaborasi | Catatanku">
            <a:extLst>
              <a:ext uri="{FF2B5EF4-FFF2-40B4-BE49-F238E27FC236}">
                <a16:creationId xmlns:a16="http://schemas.microsoft.com/office/drawing/2014/main" id="{2A8FC958-9470-229A-C4AE-15662B8B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278" y="1007387"/>
            <a:ext cx="2476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960" y="519519"/>
            <a:ext cx="1271290" cy="344697"/>
          </a:xfrm>
          <a:prstGeom prst="rect">
            <a:avLst/>
          </a:prstGeom>
        </p:spPr>
        <p:txBody>
          <a:bodyPr vert="horz" wrap="square" lIns="0" tIns="6083" rIns="0" bIns="0" rtlCol="0">
            <a:spAutoFit/>
          </a:bodyPr>
          <a:lstStyle/>
          <a:p>
            <a:pPr marL="6403">
              <a:spcBef>
                <a:spcPts val="48"/>
              </a:spcBef>
            </a:pP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Thinking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687" y="896316"/>
            <a:ext cx="1908709" cy="1871808"/>
          </a:xfrm>
          <a:prstGeom prst="rect">
            <a:avLst/>
          </a:prstGeom>
        </p:spPr>
        <p:txBody>
          <a:bodyPr vert="horz" wrap="square" lIns="0" tIns="55385" rIns="0" bIns="0" rtlCol="0">
            <a:spAutoFit/>
          </a:bodyPr>
          <a:lstStyle/>
          <a:p>
            <a:pPr marL="179294" indent="-172890">
              <a:spcBef>
                <a:spcPts val="43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lang="en-GB" sz="1400" spc="-8" dirty="0">
                <a:latin typeface="Calibri"/>
                <a:cs typeface="Calibri"/>
              </a:rPr>
              <a:t>Subject’s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condition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lang="en-GB" sz="1400" spc="-10" dirty="0">
                <a:latin typeface="Calibri"/>
                <a:cs typeface="Calibri"/>
              </a:rPr>
              <a:t>Light exposure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8" dirty="0">
                <a:latin typeface="Calibri"/>
                <a:cs typeface="Calibri"/>
              </a:rPr>
              <a:t>Available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technology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lang="en-GB" sz="1400" spc="-3" dirty="0">
                <a:latin typeface="Calibri"/>
                <a:cs typeface="Calibri"/>
              </a:rPr>
              <a:t>Development tools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3" dirty="0">
                <a:latin typeface="Calibri"/>
                <a:cs typeface="Calibri"/>
              </a:rPr>
              <a:t>Design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5" dirty="0">
                <a:latin typeface="Calibri"/>
                <a:cs typeface="Calibri"/>
              </a:rPr>
              <a:t>Costing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3" dirty="0">
                <a:latin typeface="Calibri"/>
                <a:cs typeface="Calibri"/>
              </a:rPr>
              <a:t>Scheduling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BA4CC3F-63D7-3FDE-FD60-97AD514AFF6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AAEEA351-DA21-8377-7F7B-23BEFFD92EE4}"/>
              </a:ext>
            </a:extLst>
          </p:cNvPr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23</a:t>
            </a:fld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1026" name="Picture 2" descr="UIU Mars Rover">
            <a:extLst>
              <a:ext uri="{FF2B5EF4-FFF2-40B4-BE49-F238E27FC236}">
                <a16:creationId xmlns:a16="http://schemas.microsoft.com/office/drawing/2014/main" id="{E7665A60-035F-D8D1-5769-53D183995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590" y="587375"/>
            <a:ext cx="1646710" cy="219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888" y="819624"/>
            <a:ext cx="1495762" cy="344697"/>
          </a:xfrm>
          <a:prstGeom prst="rect">
            <a:avLst/>
          </a:prstGeom>
        </p:spPr>
        <p:txBody>
          <a:bodyPr vert="horz" wrap="square" lIns="0" tIns="6083" rIns="0" bIns="0" rtlCol="0">
            <a:spAutoFit/>
          </a:bodyPr>
          <a:lstStyle/>
          <a:p>
            <a:pPr marL="6403">
              <a:spcBef>
                <a:spcPts val="48"/>
              </a:spcBef>
            </a:pP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Soluti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049" y="1259364"/>
            <a:ext cx="2116484" cy="1071912"/>
          </a:xfrm>
          <a:prstGeom prst="rect">
            <a:avLst/>
          </a:prstGeom>
        </p:spPr>
        <p:txBody>
          <a:bodyPr vert="horz" wrap="square" lIns="0" tIns="55705" rIns="0" bIns="0" rtlCol="0">
            <a:spAutoFit/>
          </a:bodyPr>
          <a:lstStyle/>
          <a:p>
            <a:pPr marL="179294" indent="-172890">
              <a:spcBef>
                <a:spcPts val="43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5" dirty="0">
                <a:latin typeface="Calibri"/>
                <a:cs typeface="Calibri"/>
              </a:rPr>
              <a:t>Problem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solving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skills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8" dirty="0">
                <a:latin typeface="Calibri"/>
                <a:cs typeface="Calibri"/>
              </a:rPr>
              <a:t>Formulate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problem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10" dirty="0">
                <a:latin typeface="Calibri"/>
                <a:cs typeface="Calibri"/>
              </a:rPr>
              <a:t>Literature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3" dirty="0">
                <a:latin typeface="Calibri"/>
                <a:cs typeface="Calibri"/>
              </a:rPr>
              <a:t>Experiment?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F78C092C-A951-4DA3-F682-E20C516892E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A870061A-F9B6-BFD6-EB76-B691499A8E3F}"/>
              </a:ext>
            </a:extLst>
          </p:cNvPr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24</a:t>
            </a:fld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2050" name="Picture 2" descr="UIU MARS ROVER TEAM | TELOS | ICARUS | URC SAR 2023 - YouTube">
            <a:extLst>
              <a:ext uri="{FF2B5EF4-FFF2-40B4-BE49-F238E27FC236}">
                <a16:creationId xmlns:a16="http://schemas.microsoft.com/office/drawing/2014/main" id="{355A9A7B-72A4-3779-FC8C-FF7F95A6F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264" y="1006664"/>
            <a:ext cx="2186963" cy="163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1:</a:t>
            </a:r>
            <a:r>
              <a:rPr sz="1400" spc="19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Define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the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44" y="129744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320" y="1639087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1790916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1942744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2094572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239824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2550071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4388" y="1213991"/>
            <a:ext cx="1913889" cy="142938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735330">
              <a:lnSpc>
                <a:spcPts val="1200"/>
              </a:lnSpc>
              <a:spcBef>
                <a:spcPts val="229"/>
              </a:spcBef>
            </a:pP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(P2)</a:t>
            </a:r>
            <a:endParaRPr sz="1100">
              <a:latin typeface="Tahoma"/>
              <a:cs typeface="Tahoma"/>
            </a:endParaRPr>
          </a:p>
          <a:p>
            <a:pPr marL="289560" marR="552450">
              <a:lnSpc>
                <a:spcPct val="100000"/>
              </a:lnSpc>
              <a:spcBef>
                <a:spcPts val="150"/>
              </a:spcBef>
            </a:pPr>
            <a:r>
              <a:rPr sz="1000" spc="-15" dirty="0">
                <a:latin typeface="Tahoma"/>
                <a:cs typeface="Tahoma"/>
              </a:rPr>
              <a:t>High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accuracy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Cheap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video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camera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35" dirty="0">
                <a:latin typeface="Tahoma"/>
                <a:cs typeface="Tahoma"/>
              </a:rPr>
              <a:t>Low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processing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power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5"/>
              </a:spcBef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person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might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walk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any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angle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50" dirty="0">
                <a:latin typeface="Tahoma"/>
                <a:cs typeface="Tahoma"/>
              </a:rPr>
              <a:t>Lower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light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45" dirty="0">
                <a:latin typeface="Tahoma"/>
                <a:cs typeface="Tahoma"/>
              </a:rPr>
              <a:t>Few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shot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learning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5306" y="926396"/>
            <a:ext cx="2078944" cy="207894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25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2:</a:t>
            </a:r>
            <a:r>
              <a:rPr sz="1400" spc="19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Gather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Information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97941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624711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192836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2232037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2535694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687" y="2839351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6755" y="895958"/>
            <a:ext cx="2305050" cy="2037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6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(P2)</a:t>
            </a:r>
            <a:endParaRPr sz="1100">
              <a:latin typeface="Tahoma"/>
              <a:cs typeface="Tahoma"/>
            </a:endParaRPr>
          </a:p>
          <a:p>
            <a:pPr marL="12700" marR="24130">
              <a:lnSpc>
                <a:spcPts val="1200"/>
              </a:lnSpc>
              <a:spcBef>
                <a:spcPts val="75"/>
              </a:spcBef>
            </a:pPr>
            <a:r>
              <a:rPr sz="1100" spc="120" dirty="0">
                <a:latin typeface="Tahoma"/>
                <a:cs typeface="Tahoma"/>
              </a:rPr>
              <a:t>/ </a:t>
            </a:r>
            <a:r>
              <a:rPr sz="1100" spc="-20" dirty="0">
                <a:latin typeface="Tahoma"/>
                <a:cs typeface="Tahoma"/>
              </a:rPr>
              <a:t>Familiarity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60" dirty="0">
                <a:latin typeface="Tahoma"/>
                <a:cs typeface="Tahoma"/>
              </a:rPr>
              <a:t>issues </a:t>
            </a:r>
            <a:r>
              <a:rPr sz="1100" spc="5" dirty="0">
                <a:latin typeface="Tahoma"/>
                <a:cs typeface="Tahoma"/>
              </a:rPr>
              <a:t>(P4) </a:t>
            </a:r>
            <a:r>
              <a:rPr sz="1100" spc="120" dirty="0">
                <a:latin typeface="Tahoma"/>
                <a:cs typeface="Tahoma"/>
              </a:rPr>
              <a:t>/ </a:t>
            </a:r>
            <a:r>
              <a:rPr sz="1100" spc="-20" dirty="0">
                <a:latin typeface="Tahoma"/>
                <a:cs typeface="Tahoma"/>
              </a:rPr>
              <a:t>Extent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stakeholder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involvement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level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(P6)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existing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problem?</a:t>
            </a:r>
            <a:endParaRPr sz="1000">
              <a:latin typeface="Tahoma"/>
              <a:cs typeface="Tahoma"/>
            </a:endParaRPr>
          </a:p>
          <a:p>
            <a:pPr marL="289560" marR="78105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wrong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way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currently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solved?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What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available </a:t>
            </a:r>
            <a:r>
              <a:rPr sz="1000" spc="-40" dirty="0">
                <a:latin typeface="Tahoma"/>
                <a:cs typeface="Tahoma"/>
              </a:rPr>
              <a:t>video </a:t>
            </a:r>
            <a:r>
              <a:rPr sz="1000" spc="-45" dirty="0">
                <a:latin typeface="Tahoma"/>
                <a:cs typeface="Tahoma"/>
              </a:rPr>
              <a:t>camera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processors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available?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0"/>
              </a:lnSpc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cost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existing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spc="-30" dirty="0">
                <a:latin typeface="Tahoma"/>
                <a:cs typeface="Tahoma"/>
              </a:rPr>
              <a:t>solutions?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other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factors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important?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3293" y="1085319"/>
            <a:ext cx="1732340" cy="173234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26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3:</a:t>
            </a:r>
            <a:r>
              <a:rPr sz="1400" spc="19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chemeClr val="accent1"/>
                </a:solidFill>
                <a:latin typeface="Trebuchet MS"/>
                <a:cs typeface="Trebuchet MS"/>
              </a:rPr>
              <a:t>Generate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Multiple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Solutions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8846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278280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173377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037435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492933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64476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796590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56755" y="979958"/>
            <a:ext cx="1908175" cy="19100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89560" marR="153035" indent="-277495">
              <a:lnSpc>
                <a:spcPct val="106400"/>
              </a:lnSpc>
              <a:spcBef>
                <a:spcPts val="200"/>
              </a:spcBef>
            </a:pP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(P3) 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Generate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images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image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features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using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image</a:t>
            </a:r>
            <a:endParaRPr sz="1000">
              <a:latin typeface="Tahoma"/>
              <a:cs typeface="Tahoma"/>
            </a:endParaRPr>
          </a:p>
          <a:p>
            <a:pPr marL="289560" marR="240665">
              <a:lnSpc>
                <a:spcPts val="1200"/>
              </a:lnSpc>
              <a:spcBef>
                <a:spcPts val="40"/>
              </a:spcBef>
            </a:pPr>
            <a:r>
              <a:rPr sz="1000" spc="-45" dirty="0">
                <a:latin typeface="Tahoma"/>
                <a:cs typeface="Tahoma"/>
              </a:rPr>
              <a:t>processing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techniques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Generate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milestones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using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pose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estimation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5"/>
              </a:lnSpc>
            </a:pPr>
            <a:r>
              <a:rPr sz="1000" spc="5" dirty="0">
                <a:latin typeface="Tahoma"/>
                <a:cs typeface="Tahoma"/>
              </a:rPr>
              <a:t>Might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normalize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them</a:t>
            </a:r>
            <a:endParaRPr sz="1000">
              <a:latin typeface="Tahoma"/>
              <a:cs typeface="Tahoma"/>
            </a:endParaRPr>
          </a:p>
          <a:p>
            <a:pPr marL="289560" marR="206375">
              <a:lnSpc>
                <a:spcPts val="1200"/>
              </a:lnSpc>
              <a:spcBef>
                <a:spcPts val="35"/>
              </a:spcBef>
            </a:pP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environment,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angle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orientation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augmentation</a:t>
            </a:r>
            <a:endParaRPr sz="1000">
              <a:latin typeface="Tahoma"/>
              <a:cs typeface="Tahoma"/>
            </a:endParaRPr>
          </a:p>
          <a:p>
            <a:pPr marL="289560" marR="287655">
              <a:lnSpc>
                <a:spcPts val="1200"/>
              </a:lnSpc>
              <a:spcBef>
                <a:spcPts val="40"/>
              </a:spcBef>
            </a:pPr>
            <a:r>
              <a:rPr sz="1000" spc="-20" dirty="0">
                <a:latin typeface="Tahoma"/>
                <a:cs typeface="Tahoma"/>
              </a:rPr>
              <a:t>Train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few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shot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models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Prepare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inference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models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0185" y="891806"/>
            <a:ext cx="2165426" cy="216542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27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4:</a:t>
            </a:r>
            <a:r>
              <a:rPr sz="1400" spc="19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Analyse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and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chemeClr val="accent1"/>
                </a:solidFill>
                <a:latin typeface="Trebuchet MS"/>
                <a:cs typeface="Trebuchet MS"/>
              </a:rPr>
              <a:t>selection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solution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94926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483220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0176" y="889933"/>
            <a:ext cx="2081074" cy="202715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(P1)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120" dirty="0">
                <a:latin typeface="Tahoma"/>
                <a:cs typeface="Tahoma"/>
              </a:rPr>
              <a:t>/ 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(P3)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120" dirty="0">
                <a:latin typeface="Tahoma"/>
                <a:cs typeface="Tahoma"/>
              </a:rPr>
              <a:t>/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Extent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Applicable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(P5)</a:t>
            </a:r>
            <a:endParaRPr sz="1100" dirty="0">
              <a:latin typeface="Tahoma"/>
              <a:cs typeface="Tahoma"/>
            </a:endParaRPr>
          </a:p>
          <a:p>
            <a:pPr marL="289560" marR="5715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Analysis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design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design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unique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different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types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 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analysis</a:t>
            </a:r>
            <a:endParaRPr sz="1000" dirty="0">
              <a:latin typeface="Tahoma"/>
              <a:cs typeface="Tahoma"/>
            </a:endParaRPr>
          </a:p>
          <a:p>
            <a:pPr marL="737870" marR="407670" indent="-171450">
              <a:lnSpc>
                <a:spcPct val="101499"/>
              </a:lnSpc>
              <a:spcBef>
                <a:spcPts val="165"/>
              </a:spcBef>
              <a:buFont typeface="Arial" panose="020B0604020202020204" pitchFamily="34" charset="0"/>
              <a:buChar char="•"/>
            </a:pPr>
            <a:r>
              <a:rPr sz="900" spc="-20" dirty="0">
                <a:latin typeface="Microsoft Sans Serif"/>
                <a:cs typeface="Microsoft Sans Serif"/>
              </a:rPr>
              <a:t>Functional</a:t>
            </a:r>
            <a:r>
              <a:rPr sz="900" spc="3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analysis </a:t>
            </a:r>
            <a:endParaRPr sz="900" dirty="0">
              <a:latin typeface="Microsoft Sans Serif"/>
              <a:cs typeface="Microsoft Sans Serif"/>
            </a:endParaRPr>
          </a:p>
          <a:p>
            <a:pPr marL="737870" marR="12065" indent="-171450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900" spc="-5" dirty="0">
                <a:latin typeface="Microsoft Sans Serif"/>
                <a:cs typeface="Microsoft Sans Serif"/>
              </a:rPr>
              <a:t>Product</a:t>
            </a:r>
            <a:r>
              <a:rPr sz="900" spc="50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safety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and</a:t>
            </a:r>
            <a:r>
              <a:rPr sz="900" spc="50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liability</a:t>
            </a:r>
            <a:endParaRPr lang="en-GB" sz="900" dirty="0">
              <a:latin typeface="Microsoft Sans Serif"/>
              <a:cs typeface="Microsoft Sans Serif"/>
            </a:endParaRPr>
          </a:p>
          <a:p>
            <a:pPr marL="737870" marR="12065" indent="-171450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900" spc="-30" dirty="0">
                <a:latin typeface="Microsoft Sans Serif"/>
                <a:cs typeface="Microsoft Sans Serif"/>
              </a:rPr>
              <a:t>Economic </a:t>
            </a:r>
            <a:r>
              <a:rPr sz="900" spc="-40" dirty="0">
                <a:latin typeface="Microsoft Sans Serif"/>
                <a:cs typeface="Microsoft Sans Serif"/>
              </a:rPr>
              <a:t>and</a:t>
            </a:r>
            <a:r>
              <a:rPr sz="900" spc="-3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market</a:t>
            </a:r>
            <a:r>
              <a:rPr lang="en-GB" sz="900" spc="-2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analysis</a:t>
            </a:r>
            <a:endParaRPr sz="900" dirty="0">
              <a:latin typeface="Microsoft Sans Serif"/>
              <a:cs typeface="Microsoft Sans Serif"/>
            </a:endParaRPr>
          </a:p>
          <a:p>
            <a:pPr marL="737870" marR="179705" indent="-171450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900" spc="-35" dirty="0">
                <a:latin typeface="Microsoft Sans Serif"/>
                <a:cs typeface="Microsoft Sans Serif"/>
              </a:rPr>
              <a:t>Analysis</a:t>
            </a:r>
            <a:r>
              <a:rPr sz="900" spc="35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under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different</a:t>
            </a:r>
            <a:r>
              <a:rPr lang="en-GB" sz="900" spc="-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lighting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conditions</a:t>
            </a:r>
            <a:endParaRPr sz="900" dirty="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0185" y="891806"/>
            <a:ext cx="2165426" cy="216542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28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5:</a:t>
            </a:r>
            <a:r>
              <a:rPr sz="1400" spc="20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Test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and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implement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solution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60976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971637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123478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755" y="1526310"/>
            <a:ext cx="1858645" cy="8426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Extent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applicable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codes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(P5)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20" dirty="0">
                <a:latin typeface="Tahoma"/>
                <a:cs typeface="Tahoma"/>
              </a:rPr>
              <a:t>/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Interdependence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(P7)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Prototyping</a:t>
            </a:r>
            <a:endParaRPr sz="1000">
              <a:latin typeface="Tahoma"/>
              <a:cs typeface="Tahoma"/>
            </a:endParaRPr>
          </a:p>
          <a:p>
            <a:pPr marL="289560" marR="156210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Tahoma"/>
                <a:cs typeface="Tahoma"/>
              </a:rPr>
              <a:t>Documenting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solution,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planning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0185" y="891806"/>
            <a:ext cx="2165426" cy="21654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29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Another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7" y="1054684"/>
            <a:ext cx="18700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Illegal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Bowling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Tahoma"/>
                <a:cs typeface="Tahoma"/>
              </a:rPr>
              <a:t>Action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67" y="1213991"/>
            <a:ext cx="2267585" cy="1740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2720">
              <a:lnSpc>
                <a:spcPct val="102600"/>
              </a:lnSpc>
              <a:spcBef>
                <a:spcPts val="55"/>
              </a:spcBef>
            </a:pP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cricket,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popular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game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actions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done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laboratories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bio-metric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25" dirty="0">
                <a:latin typeface="Tahoma"/>
                <a:cs typeface="Tahoma"/>
              </a:rPr>
              <a:t>historically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umpires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called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certain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bowlers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field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resulted </a:t>
            </a:r>
            <a:r>
              <a:rPr sz="1100" spc="-20" dirty="0">
                <a:latin typeface="Tahoma"/>
                <a:cs typeface="Tahoma"/>
              </a:rPr>
              <a:t>intro </a:t>
            </a:r>
            <a:r>
              <a:rPr sz="1100" spc="-45" dirty="0">
                <a:latin typeface="Tahoma"/>
                <a:cs typeface="Tahoma"/>
              </a:rPr>
              <a:t>controversies.</a:t>
            </a:r>
            <a:r>
              <a:rPr sz="1100" spc="-40" dirty="0">
                <a:latin typeface="Tahoma"/>
                <a:cs typeface="Tahoma"/>
              </a:rPr>
              <a:t> Design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on-field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detection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3268" y="692472"/>
            <a:ext cx="1299424" cy="26638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30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Another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7" y="863244"/>
            <a:ext cx="18700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Illegal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Bowling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Tahoma"/>
                <a:cs typeface="Tahoma"/>
              </a:rPr>
              <a:t>Action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67" y="1022551"/>
            <a:ext cx="2112645" cy="21228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cricket,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popular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game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actions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done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laboratories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bio-metric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25" dirty="0">
                <a:latin typeface="Tahoma"/>
                <a:cs typeface="Tahoma"/>
              </a:rPr>
              <a:t>historically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umpires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called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certain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bowlers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field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resulted </a:t>
            </a:r>
            <a:r>
              <a:rPr sz="1100" spc="-20" dirty="0">
                <a:latin typeface="Tahoma"/>
                <a:cs typeface="Tahoma"/>
              </a:rPr>
              <a:t>intro </a:t>
            </a:r>
            <a:r>
              <a:rPr sz="1100" spc="-45" dirty="0">
                <a:latin typeface="Tahoma"/>
                <a:cs typeface="Tahoma"/>
              </a:rPr>
              <a:t>controversies.</a:t>
            </a:r>
            <a:r>
              <a:rPr sz="1100" spc="-40" dirty="0">
                <a:latin typeface="Tahoma"/>
                <a:cs typeface="Tahoma"/>
              </a:rPr>
              <a:t> Design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on-field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detection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  <a:p>
            <a:pPr marL="289560" marR="37274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P1: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Required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3268" y="694021"/>
            <a:ext cx="1299241" cy="265998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31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Another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7" y="1007440"/>
            <a:ext cx="18700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Illegal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Bowling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Tahoma"/>
                <a:cs typeface="Tahoma"/>
              </a:rPr>
              <a:t>Action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67" y="1166747"/>
            <a:ext cx="2267585" cy="1740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2720">
              <a:lnSpc>
                <a:spcPct val="102600"/>
              </a:lnSpc>
              <a:spcBef>
                <a:spcPts val="55"/>
              </a:spcBef>
            </a:pP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cricket,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popular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game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actions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done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laboratories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bio-metric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25" dirty="0">
                <a:latin typeface="Tahoma"/>
                <a:cs typeface="Tahoma"/>
              </a:rPr>
              <a:t>historically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umpires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called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certain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bowlers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field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resulted </a:t>
            </a:r>
            <a:r>
              <a:rPr sz="1100" spc="-20" dirty="0">
                <a:latin typeface="Tahoma"/>
                <a:cs typeface="Tahoma"/>
              </a:rPr>
              <a:t>intro </a:t>
            </a:r>
            <a:r>
              <a:rPr sz="1100" spc="-45" dirty="0">
                <a:latin typeface="Tahoma"/>
                <a:cs typeface="Tahoma"/>
              </a:rPr>
              <a:t>controversies.</a:t>
            </a:r>
            <a:r>
              <a:rPr sz="1100" spc="-40" dirty="0">
                <a:latin typeface="Tahoma"/>
                <a:cs typeface="Tahoma"/>
              </a:rPr>
              <a:t> Design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on-field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detection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0185" y="881443"/>
            <a:ext cx="2165438" cy="219137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32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33</a:t>
            </a:fld>
            <a:endParaRPr spc="-2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9646" y="1017574"/>
          <a:ext cx="4264023" cy="171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Attribute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Complex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activities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means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(engineering)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activities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projects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that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some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all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following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characteristics: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resources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A1:</a:t>
                      </a:r>
                      <a:r>
                        <a:rPr sz="800" b="1" spc="3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5" dirty="0">
                          <a:latin typeface="Microsoft Sans Serif"/>
                          <a:cs typeface="Microsoft Sans Serif"/>
                        </a:rPr>
                        <a:t>use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diverse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resources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(and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this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purpose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31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resources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include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people,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money,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equipment,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materials,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informa-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tion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technologies)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Level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interaction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A2:</a:t>
                      </a:r>
                      <a:r>
                        <a:rPr sz="800" b="1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Require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resolution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significant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problems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arising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from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inter-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actions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between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wide-ranging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conflicting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technical,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other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Innovation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A3:</a:t>
                      </a:r>
                      <a:r>
                        <a:rPr sz="800" b="1" spc="2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creative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5" dirty="0">
                          <a:latin typeface="Microsoft Sans Serif"/>
                          <a:cs typeface="Microsoft Sans Serif"/>
                        </a:rPr>
                        <a:t>use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principles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research-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based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novel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ways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Consequences</a:t>
                      </a:r>
                      <a:r>
                        <a:rPr sz="800" spc="2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soci-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ety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environment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A4:</a:t>
                      </a:r>
                      <a:r>
                        <a:rPr sz="8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significant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consequences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contexts,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char-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acterized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by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difficulty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prediction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mitigation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Familiarity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  <a:tabLst>
                          <a:tab pos="365125" algn="l"/>
                        </a:tabLst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A5:	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800" spc="3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extend</a:t>
                      </a:r>
                      <a:r>
                        <a:rPr sz="800" spc="3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beyond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principles-based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approaches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840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previous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840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experiences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840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by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840"/>
                        </a:lnSpc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applying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810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67904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71574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87523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330729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969568"/>
            <a:ext cx="4019550" cy="175831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40" dirty="0">
                <a:latin typeface="Tahoma"/>
                <a:cs typeface="Tahoma"/>
              </a:rPr>
              <a:t>A1:Range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resources</a:t>
            </a:r>
            <a:endParaRPr sz="1100">
              <a:latin typeface="Tahoma"/>
              <a:cs typeface="Tahoma"/>
            </a:endParaRPr>
          </a:p>
          <a:p>
            <a:pPr marL="289560" marR="10922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were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available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help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you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carry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out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activity?</a:t>
            </a:r>
            <a:endParaRPr sz="1000">
              <a:latin typeface="Tahoma"/>
              <a:cs typeface="Tahoma"/>
            </a:endParaRPr>
          </a:p>
          <a:p>
            <a:pPr marL="289560" marR="334010">
              <a:lnSpc>
                <a:spcPts val="1200"/>
              </a:lnSpc>
              <a:spcBef>
                <a:spcPts val="35"/>
              </a:spcBef>
            </a:pPr>
            <a:r>
              <a:rPr sz="1000" spc="-25" dirty="0">
                <a:latin typeface="Tahoma"/>
                <a:cs typeface="Tahoma"/>
              </a:rPr>
              <a:t>Negotiate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adequate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eg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personnel,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funding,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equipment,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authorisations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undertake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materials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35" dirty="0">
                <a:latin typeface="Tahoma"/>
                <a:cs typeface="Tahoma"/>
              </a:rPr>
              <a:t>Develop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plans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(including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budgets)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schedule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availability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endParaRPr sz="1000">
              <a:latin typeface="Tahoma"/>
              <a:cs typeface="Tahoma"/>
            </a:endParaRPr>
          </a:p>
          <a:p>
            <a:pPr marL="289560" marR="172720">
              <a:lnSpc>
                <a:spcPts val="1200"/>
              </a:lnSpc>
              <a:spcBef>
                <a:spcPts val="35"/>
              </a:spcBef>
            </a:pPr>
            <a:r>
              <a:rPr sz="1000" spc="-40" dirty="0">
                <a:latin typeface="Tahoma"/>
                <a:cs typeface="Tahoma"/>
              </a:rPr>
              <a:t>for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allocation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when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meet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timelines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financial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commitments.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25" dirty="0">
                <a:latin typeface="Tahoma"/>
                <a:cs typeface="Tahoma"/>
              </a:rPr>
              <a:t>Report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progress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against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schedule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work-flow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plans,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budgets,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40"/>
              </a:spcBef>
            </a:pPr>
            <a:r>
              <a:rPr sz="1000" spc="-35" dirty="0">
                <a:latin typeface="Tahoma"/>
                <a:cs typeface="Tahoma"/>
              </a:rPr>
              <a:t>overall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performance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objectives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provide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projections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completion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target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times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budget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34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7059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60412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1589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819567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0033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49015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793809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762063"/>
            <a:ext cx="4022725" cy="22771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35" dirty="0">
                <a:latin typeface="Tahoma"/>
                <a:cs typeface="Tahoma"/>
              </a:rPr>
              <a:t>A2:Level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interactions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other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could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impact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matters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related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-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expected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outset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>
              <a:latin typeface="Tahoma"/>
              <a:cs typeface="Tahoma"/>
            </a:endParaRPr>
          </a:p>
          <a:p>
            <a:pPr marL="289560" marR="71755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unforeseen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arose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during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execution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5" dirty="0">
                <a:latin typeface="Tahoma"/>
                <a:cs typeface="Tahoma"/>
              </a:rPr>
              <a:t>Prior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commencing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ensure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endParaRPr sz="1000">
              <a:latin typeface="Tahoma"/>
              <a:cs typeface="Tahoma"/>
            </a:endParaRPr>
          </a:p>
          <a:p>
            <a:pPr marL="289560" marR="34925">
              <a:lnSpc>
                <a:spcPts val="1200"/>
              </a:lnSpc>
              <a:spcBef>
                <a:spcPts val="35"/>
              </a:spcBef>
            </a:pPr>
            <a:r>
              <a:rPr sz="1000" spc="-50" dirty="0">
                <a:latin typeface="Tahoma"/>
                <a:cs typeface="Tahoma"/>
              </a:rPr>
              <a:t>resolved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scheduled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meet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plan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targets,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i.e.,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identify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potential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risks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respective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proposed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spc="-25" dirty="0">
                <a:latin typeface="Tahoma"/>
                <a:cs typeface="Tahoma"/>
              </a:rPr>
              <a:t>A3: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Innovation</a:t>
            </a:r>
            <a:endParaRPr sz="1100">
              <a:latin typeface="Tahoma"/>
              <a:cs typeface="Tahoma"/>
            </a:endParaRPr>
          </a:p>
          <a:p>
            <a:pPr marL="289560" marR="2413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new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techniques,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materials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processes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can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utilised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feasibility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study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(technical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80" dirty="0">
                <a:latin typeface="Tahoma"/>
                <a:cs typeface="Tahoma"/>
              </a:rPr>
              <a:t>&amp;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economy),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literature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review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 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How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do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proposed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approach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improve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efficiency,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effectiveness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quality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work?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35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390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53706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5737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3448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924291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215299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2379789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2518968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955369"/>
            <a:ext cx="3964304" cy="17938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5" dirty="0">
                <a:latin typeface="Tahoma"/>
                <a:cs typeface="Tahoma"/>
              </a:rPr>
              <a:t>A4: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Consequences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society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environment</a:t>
            </a:r>
            <a:endParaRPr sz="1100">
              <a:latin typeface="Tahoma"/>
              <a:cs typeface="Tahoma"/>
            </a:endParaRPr>
          </a:p>
          <a:p>
            <a:pPr marL="289560" marR="5778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impacts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solution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society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20" dirty="0">
                <a:latin typeface="Tahoma"/>
                <a:cs typeface="Tahoma"/>
              </a:rPr>
              <a:t>Who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affected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how?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25" dirty="0">
                <a:latin typeface="Tahoma"/>
                <a:cs typeface="Tahoma"/>
              </a:rPr>
              <a:t>A5: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Familiarity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extent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previous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experiences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routinely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encountered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using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wellunderstood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practices?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090"/>
              </a:lnSpc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experience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a:</a:t>
            </a:r>
            <a:endParaRPr sz="1000">
              <a:latin typeface="Tahoma"/>
              <a:cs typeface="Tahoma"/>
            </a:endParaRPr>
          </a:p>
          <a:p>
            <a:pPr marL="566420" marR="140335" algn="just">
              <a:lnSpc>
                <a:spcPct val="101499"/>
              </a:lnSpc>
              <a:spcBef>
                <a:spcPts val="180"/>
              </a:spcBef>
            </a:pPr>
            <a:r>
              <a:rPr sz="900" spc="-40" dirty="0">
                <a:latin typeface="Microsoft Sans Serif"/>
                <a:cs typeface="Microsoft Sans Serif"/>
              </a:rPr>
              <a:t>New </a:t>
            </a:r>
            <a:r>
              <a:rPr sz="900" spc="-45" dirty="0">
                <a:latin typeface="Microsoft Sans Serif"/>
                <a:cs typeface="Microsoft Sans Serif"/>
              </a:rPr>
              <a:t>experience </a:t>
            </a:r>
            <a:r>
              <a:rPr sz="900" spc="-20" dirty="0">
                <a:latin typeface="Microsoft Sans Serif"/>
                <a:cs typeface="Microsoft Sans Serif"/>
              </a:rPr>
              <a:t>which </a:t>
            </a:r>
            <a:r>
              <a:rPr sz="900" spc="-45" dirty="0">
                <a:latin typeface="Microsoft Sans Serif"/>
                <a:cs typeface="Microsoft Sans Serif"/>
              </a:rPr>
              <a:t>is </a:t>
            </a:r>
            <a:r>
              <a:rPr sz="900" spc="5" dirty="0">
                <a:latin typeface="Microsoft Sans Serif"/>
                <a:cs typeface="Microsoft Sans Serif"/>
              </a:rPr>
              <a:t>not </a:t>
            </a:r>
            <a:r>
              <a:rPr sz="900" spc="-35" dirty="0">
                <a:latin typeface="Microsoft Sans Serif"/>
                <a:cs typeface="Microsoft Sans Serif"/>
              </a:rPr>
              <a:t>previously </a:t>
            </a:r>
            <a:r>
              <a:rPr sz="900" spc="-30" dirty="0">
                <a:latin typeface="Microsoft Sans Serif"/>
                <a:cs typeface="Microsoft Sans Serif"/>
              </a:rPr>
              <a:t>or </a:t>
            </a:r>
            <a:r>
              <a:rPr sz="900" spc="-20" dirty="0">
                <a:latin typeface="Microsoft Sans Serif"/>
                <a:cs typeface="Microsoft Sans Serif"/>
              </a:rPr>
              <a:t>only </a:t>
            </a:r>
            <a:r>
              <a:rPr sz="900" spc="-30" dirty="0">
                <a:latin typeface="Microsoft Sans Serif"/>
                <a:cs typeface="Microsoft Sans Serif"/>
              </a:rPr>
              <a:t>rarely encountered. </a:t>
            </a:r>
            <a:r>
              <a:rPr sz="900" spc="-2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Familiar </a:t>
            </a:r>
            <a:r>
              <a:rPr sz="900" spc="-45" dirty="0">
                <a:latin typeface="Microsoft Sans Serif"/>
                <a:cs typeface="Microsoft Sans Serif"/>
              </a:rPr>
              <a:t>experience </a:t>
            </a:r>
            <a:r>
              <a:rPr sz="900" spc="10" dirty="0">
                <a:latin typeface="Microsoft Sans Serif"/>
                <a:cs typeface="Microsoft Sans Serif"/>
              </a:rPr>
              <a:t>with </a:t>
            </a:r>
            <a:r>
              <a:rPr sz="900" spc="-65" dirty="0">
                <a:latin typeface="Microsoft Sans Serif"/>
                <a:cs typeface="Microsoft Sans Serif"/>
              </a:rPr>
              <a:t>some </a:t>
            </a:r>
            <a:r>
              <a:rPr sz="900" dirty="0">
                <a:latin typeface="Microsoft Sans Serif"/>
                <a:cs typeface="Microsoft Sans Serif"/>
              </a:rPr>
              <a:t>(or </a:t>
            </a:r>
            <a:r>
              <a:rPr sz="900" spc="-15" dirty="0">
                <a:latin typeface="Microsoft Sans Serif"/>
                <a:cs typeface="Microsoft Sans Serif"/>
              </a:rPr>
              <a:t>many) </a:t>
            </a:r>
            <a:r>
              <a:rPr sz="900" spc="-30" dirty="0">
                <a:latin typeface="Microsoft Sans Serif"/>
                <a:cs typeface="Microsoft Sans Serif"/>
              </a:rPr>
              <a:t>unique </a:t>
            </a:r>
            <a:r>
              <a:rPr sz="900" spc="-70" dirty="0">
                <a:latin typeface="Microsoft Sans Serif"/>
                <a:cs typeface="Microsoft Sans Serif"/>
              </a:rPr>
              <a:t>issues </a:t>
            </a:r>
            <a:r>
              <a:rPr sz="900" spc="20" dirty="0">
                <a:latin typeface="Microsoft Sans Serif"/>
                <a:cs typeface="Microsoft Sans Serif"/>
              </a:rPr>
              <a:t>that </a:t>
            </a:r>
            <a:r>
              <a:rPr sz="900" spc="-50" dirty="0">
                <a:latin typeface="Microsoft Sans Serif"/>
                <a:cs typeface="Microsoft Sans Serif"/>
              </a:rPr>
              <a:t>made </a:t>
            </a:r>
            <a:r>
              <a:rPr sz="900" spc="-4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communication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difficulty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level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increased.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36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AI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Powered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Medical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Agent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67" y="704696"/>
            <a:ext cx="2190750" cy="26009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3185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latin typeface="Tahoma"/>
                <a:cs typeface="Tahoma"/>
              </a:rPr>
              <a:t>There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different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types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patients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in.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meet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this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automated </a:t>
            </a:r>
            <a:r>
              <a:rPr sz="1100" spc="-50" dirty="0">
                <a:latin typeface="Tahoma"/>
                <a:cs typeface="Tahoma"/>
              </a:rPr>
              <a:t>agent </a:t>
            </a:r>
            <a:r>
              <a:rPr sz="1100" spc="-70" dirty="0">
                <a:latin typeface="Tahoma"/>
                <a:cs typeface="Tahoma"/>
              </a:rPr>
              <a:t>powered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micro-phone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camera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agent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communicate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patients,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record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their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personal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symptoms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suggest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doctors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or </a:t>
            </a:r>
            <a:r>
              <a:rPr sz="1100" spc="-50" dirty="0">
                <a:latin typeface="Tahoma"/>
                <a:cs typeface="Tahoma"/>
              </a:rPr>
              <a:t> departments.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Previous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customers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remembered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their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medical </a:t>
            </a:r>
            <a:r>
              <a:rPr sz="1100" spc="-35" dirty="0">
                <a:latin typeface="Tahoma"/>
                <a:cs typeface="Tahoma"/>
              </a:rPr>
              <a:t> history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taken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consideration.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Design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55" dirty="0">
                <a:latin typeface="Tahoma"/>
                <a:cs typeface="Tahoma"/>
              </a:rPr>
              <a:t>develop </a:t>
            </a:r>
            <a:r>
              <a:rPr sz="1100" spc="-50" dirty="0">
                <a:latin typeface="Tahoma"/>
                <a:cs typeface="Tahoma"/>
              </a:rPr>
              <a:t> such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powered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medical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agent 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present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your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project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show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investors.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0185" y="935951"/>
            <a:ext cx="2165426" cy="21654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37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AI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Powered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Medical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Agent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730" y="871306"/>
            <a:ext cx="1082722" cy="22166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185" y="883970"/>
            <a:ext cx="2165438" cy="21913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38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15" dirty="0">
                <a:solidFill>
                  <a:schemeClr val="accent1"/>
                </a:solidFill>
                <a:latin typeface="Trebuchet MS"/>
                <a:cs typeface="Trebuchet MS"/>
              </a:rPr>
              <a:t>Mapping</a:t>
            </a:r>
            <a:r>
              <a:rPr sz="1400" spc="2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100" dirty="0">
                <a:solidFill>
                  <a:schemeClr val="accent1"/>
                </a:solidFill>
                <a:latin typeface="Trebuchet MS"/>
                <a:cs typeface="Trebuchet MS"/>
              </a:rPr>
              <a:t>between</a:t>
            </a:r>
            <a:r>
              <a:rPr sz="1400" spc="2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chemeClr val="accent1"/>
                </a:solidFill>
                <a:latin typeface="Trebuchet MS"/>
                <a:cs typeface="Trebuchet MS"/>
              </a:rPr>
              <a:t>PO-K-P-A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104" y="684598"/>
            <a:ext cx="3897834" cy="25506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39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15" dirty="0">
                <a:solidFill>
                  <a:schemeClr val="accent1"/>
                </a:solidFill>
                <a:latin typeface="Trebuchet MS"/>
                <a:cs typeface="Trebuchet MS"/>
              </a:rPr>
              <a:t>Mapping</a:t>
            </a:r>
            <a:r>
              <a:rPr sz="1400" spc="1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771310"/>
            <a:ext cx="4330830" cy="23337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40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Culmination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-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chemeClr val="accent1"/>
                </a:solidFill>
                <a:latin typeface="Trebuchet MS"/>
                <a:cs typeface="Trebuchet MS"/>
              </a:rPr>
              <a:t>Design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Projects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840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78205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30046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8553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789188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118144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307945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459774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915272"/>
            <a:ext cx="52590" cy="525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579869"/>
            <a:ext cx="4073525" cy="27324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55" dirty="0">
                <a:latin typeface="Tahoma"/>
                <a:cs typeface="Tahoma"/>
              </a:rPr>
              <a:t>Industry-based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Integrated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Design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Project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Employed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Problem-Based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Learning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teaching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method</a:t>
            </a:r>
            <a:endParaRPr sz="1000">
              <a:latin typeface="Tahoma"/>
              <a:cs typeface="Tahoma"/>
            </a:endParaRPr>
          </a:p>
          <a:p>
            <a:pPr marL="289560" marR="142875">
              <a:lnSpc>
                <a:spcPts val="1200"/>
              </a:lnSpc>
              <a:spcBef>
                <a:spcPts val="40"/>
              </a:spcBef>
            </a:pPr>
            <a:r>
              <a:rPr sz="1000" spc="-25" dirty="0">
                <a:latin typeface="Tahoma"/>
                <a:cs typeface="Tahoma"/>
              </a:rPr>
              <a:t>Provides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opportunity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apply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their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skills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knowledge 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toward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developing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robust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understanding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what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15" dirty="0">
                <a:latin typeface="Tahoma"/>
                <a:cs typeface="Tahoma"/>
              </a:rPr>
              <a:t>it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means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an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engineer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5"/>
              </a:lnSpc>
            </a:pPr>
            <a:r>
              <a:rPr sz="1000" spc="-30" dirty="0">
                <a:latin typeface="Tahoma"/>
                <a:cs typeface="Tahoma"/>
              </a:rPr>
              <a:t>Supports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make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transition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classroom-based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activities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professional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communities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practices</a:t>
            </a:r>
            <a:endParaRPr sz="1000">
              <a:latin typeface="Tahoma"/>
              <a:cs typeface="Tahoma"/>
            </a:endParaRPr>
          </a:p>
          <a:p>
            <a:pPr marL="289560" marR="29209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Tahoma"/>
                <a:cs typeface="Tahoma"/>
              </a:rPr>
              <a:t>Working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supervisor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industry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type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collaboration,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challenged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real-world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spc="-10" dirty="0">
                <a:latin typeface="Tahoma"/>
                <a:cs typeface="Tahoma"/>
              </a:rPr>
              <a:t>Final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Year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Project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35" dirty="0">
                <a:latin typeface="Tahoma"/>
                <a:cs typeface="Tahoma"/>
              </a:rPr>
              <a:t>Commonly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known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research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endParaRPr sz="1000">
              <a:latin typeface="Tahoma"/>
              <a:cs typeface="Tahoma"/>
            </a:endParaRPr>
          </a:p>
          <a:p>
            <a:pPr marL="289560" marR="70485">
              <a:lnSpc>
                <a:spcPts val="1200"/>
              </a:lnSpc>
              <a:spcBef>
                <a:spcPts val="40"/>
              </a:spcBef>
            </a:pPr>
            <a:r>
              <a:rPr sz="1000" spc="-15" dirty="0">
                <a:latin typeface="Tahoma"/>
                <a:cs typeface="Tahoma"/>
              </a:rPr>
              <a:t>Best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means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introducing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investigative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research-oriented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approach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studies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sourcing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knowledge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externally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real-world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5"/>
              </a:lnSpc>
            </a:pPr>
            <a:r>
              <a:rPr sz="1000" spc="-55" dirty="0">
                <a:latin typeface="Tahoma"/>
                <a:cs typeface="Tahoma"/>
              </a:rPr>
              <a:t>Involves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review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open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research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literature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which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challenges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endParaRPr sz="1000">
              <a:latin typeface="Tahoma"/>
              <a:cs typeface="Tahoma"/>
            </a:endParaRPr>
          </a:p>
          <a:p>
            <a:pPr marL="289560" marR="306070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Tahoma"/>
                <a:cs typeface="Tahoma"/>
              </a:rPr>
              <a:t>interpret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new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information,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perform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critical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analysis,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form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personal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opinions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judgements,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learn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independently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41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Final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chemeClr val="accent1"/>
                </a:solidFill>
                <a:latin typeface="Trebuchet MS"/>
                <a:cs typeface="Trebuchet MS"/>
              </a:rPr>
              <a:t>year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design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chemeClr val="accent1"/>
                </a:solidFill>
                <a:latin typeface="Trebuchet MS"/>
                <a:cs typeface="Trebuchet MS"/>
              </a:rPr>
              <a:t>project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1108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100899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5272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404556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556385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73349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923313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075141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214321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7966" y="2378798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7966" y="2517978"/>
            <a:ext cx="52590" cy="525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95092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884906"/>
            <a:ext cx="52590" cy="5259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2932" y="802550"/>
            <a:ext cx="3662679" cy="21755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20" dirty="0">
                <a:latin typeface="Tahoma"/>
                <a:cs typeface="Tahoma"/>
              </a:rPr>
              <a:t>FYDP-I</a:t>
            </a:r>
            <a:endParaRPr sz="1100">
              <a:latin typeface="Tahoma"/>
              <a:cs typeface="Tahoma"/>
            </a:endParaRPr>
          </a:p>
          <a:p>
            <a:pPr marL="289560" marR="1596390">
              <a:lnSpc>
                <a:spcPct val="100000"/>
              </a:lnSpc>
              <a:spcBef>
                <a:spcPts val="175"/>
              </a:spcBef>
            </a:pPr>
            <a:r>
              <a:rPr sz="1000" spc="-30" dirty="0">
                <a:latin typeface="Tahoma"/>
                <a:cs typeface="Tahoma"/>
              </a:rPr>
              <a:t>Introduction: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Problem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Statement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Literature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Review</a:t>
            </a:r>
            <a:endParaRPr sz="1000">
              <a:latin typeface="Tahoma"/>
              <a:cs typeface="Tahoma"/>
            </a:endParaRPr>
          </a:p>
          <a:p>
            <a:pPr marL="289560" marR="943610">
              <a:lnSpc>
                <a:spcPts val="1200"/>
              </a:lnSpc>
              <a:spcBef>
                <a:spcPts val="35"/>
              </a:spcBef>
            </a:pPr>
            <a:r>
              <a:rPr sz="1000" spc="-40" dirty="0">
                <a:latin typeface="Tahoma"/>
                <a:cs typeface="Tahoma"/>
              </a:rPr>
              <a:t>Requirement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Analysis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Defining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Outcomes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Project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Planning:</a:t>
            </a:r>
            <a:r>
              <a:rPr sz="1000" spc="1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Timelines,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Budget,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etc.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spc="5" dirty="0">
                <a:latin typeface="Tahoma"/>
                <a:cs typeface="Tahoma"/>
              </a:rPr>
              <a:t>FYDP-II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0"/>
              </a:spcBef>
            </a:pPr>
            <a:r>
              <a:rPr sz="1000" spc="-30" dirty="0">
                <a:latin typeface="Tahoma"/>
                <a:cs typeface="Tahoma"/>
              </a:rPr>
              <a:t>Proposed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Design</a:t>
            </a:r>
            <a:endParaRPr sz="1000">
              <a:latin typeface="Tahoma"/>
              <a:cs typeface="Tahoma"/>
            </a:endParaRPr>
          </a:p>
          <a:p>
            <a:pPr marL="289560" marR="1379220">
              <a:lnSpc>
                <a:spcPts val="1100"/>
              </a:lnSpc>
              <a:spcBef>
                <a:spcPts val="120"/>
              </a:spcBef>
            </a:pPr>
            <a:r>
              <a:rPr sz="1000" spc="-30" dirty="0">
                <a:latin typeface="Tahoma"/>
                <a:cs typeface="Tahoma"/>
              </a:rPr>
              <a:t>Testing,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Implementation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Analysis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Impact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Analysis</a:t>
            </a:r>
            <a:endParaRPr sz="1000">
              <a:latin typeface="Tahoma"/>
              <a:cs typeface="Tahoma"/>
            </a:endParaRPr>
          </a:p>
          <a:p>
            <a:pPr marL="566420" marR="1103630">
              <a:lnSpc>
                <a:spcPct val="101499"/>
              </a:lnSpc>
              <a:spcBef>
                <a:spcPts val="155"/>
              </a:spcBef>
            </a:pPr>
            <a:r>
              <a:rPr sz="900" spc="-20" dirty="0">
                <a:latin typeface="Microsoft Sans Serif"/>
                <a:cs typeface="Microsoft Sans Serif"/>
              </a:rPr>
              <a:t>Environmental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Impact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and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Sustainability </a:t>
            </a:r>
            <a:r>
              <a:rPr sz="900" spc="-225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Professional,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ethical,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and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social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impacts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00" spc="-25" dirty="0"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Report,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Presentation,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Viva,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Peer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evaluation,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Reflective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Journals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42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Culmination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-</a:t>
            </a:r>
            <a:r>
              <a:rPr sz="1400" spc="5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Internship/Open</a:t>
            </a:r>
            <a:r>
              <a:rPr sz="1400" spc="5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Ended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Labs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840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78205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81874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6264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852460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307945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579869"/>
            <a:ext cx="4071620" cy="27324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50" dirty="0">
                <a:latin typeface="Tahoma"/>
                <a:cs typeface="Tahoma"/>
              </a:rPr>
              <a:t>Industry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Training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or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Work-based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Provides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opportunities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for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engage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experiential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education,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integrating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theory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experience</a:t>
            </a:r>
            <a:endParaRPr sz="1000">
              <a:latin typeface="Tahoma"/>
              <a:cs typeface="Tahoma"/>
            </a:endParaRPr>
          </a:p>
          <a:p>
            <a:pPr marL="289560" marR="130175">
              <a:lnSpc>
                <a:spcPts val="1200"/>
              </a:lnSpc>
              <a:spcBef>
                <a:spcPts val="35"/>
              </a:spcBef>
            </a:pPr>
            <a:r>
              <a:rPr sz="1000" spc="-25" dirty="0">
                <a:latin typeface="Tahoma"/>
                <a:cs typeface="Tahoma"/>
              </a:rPr>
              <a:t>Provides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students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knowledge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base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skills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help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them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translate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isolated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abstract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concepts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into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practical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applications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knowledge.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100" spc="-35" dirty="0">
                <a:latin typeface="Tahoma"/>
                <a:cs typeface="Tahoma"/>
              </a:rPr>
              <a:t>Laboratory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experiences</a:t>
            </a:r>
            <a:endParaRPr sz="1100">
              <a:latin typeface="Tahoma"/>
              <a:cs typeface="Tahoma"/>
            </a:endParaRPr>
          </a:p>
          <a:p>
            <a:pPr marL="289560" marR="102235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latin typeface="Tahoma"/>
                <a:cs typeface="Tahoma"/>
              </a:rPr>
              <a:t>Important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elements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education,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bridging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gaps 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between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theories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practices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through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cultivation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hands-on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skills</a:t>
            </a:r>
            <a:endParaRPr sz="1000">
              <a:latin typeface="Tahoma"/>
              <a:cs typeface="Tahoma"/>
            </a:endParaRPr>
          </a:p>
          <a:p>
            <a:pPr marL="289560" marR="114300">
              <a:lnSpc>
                <a:spcPts val="1200"/>
              </a:lnSpc>
              <a:spcBef>
                <a:spcPts val="25"/>
              </a:spcBef>
            </a:pPr>
            <a:r>
              <a:rPr sz="1000" spc="-45" dirty="0">
                <a:solidFill>
                  <a:srgbClr val="BC1919"/>
                </a:solidFill>
                <a:latin typeface="Tahoma"/>
                <a:cs typeface="Tahoma"/>
              </a:rPr>
              <a:t>Open-ended</a:t>
            </a:r>
            <a:r>
              <a:rPr sz="1000" spc="1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BC1919"/>
                </a:solidFill>
                <a:latin typeface="Tahoma"/>
                <a:cs typeface="Tahoma"/>
              </a:rPr>
              <a:t>approach</a:t>
            </a:r>
            <a:r>
              <a:rPr sz="1000" spc="2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-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multiple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there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obvious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solution.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Focuses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student’s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ability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design 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experiments,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identify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variables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results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information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 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collected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identify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appropriate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instruments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assigned </a:t>
            </a:r>
            <a:r>
              <a:rPr sz="1000" spc="-45" dirty="0">
                <a:latin typeface="Tahoma"/>
                <a:cs typeface="Tahoma"/>
              </a:rPr>
              <a:t> problem.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Produce </a:t>
            </a:r>
            <a:r>
              <a:rPr sz="1000" spc="-45" dirty="0">
                <a:latin typeface="Tahoma"/>
                <a:cs typeface="Tahoma"/>
              </a:rPr>
              <a:t>engineering graduates </a:t>
            </a:r>
            <a:r>
              <a:rPr sz="1000" spc="-10" dirty="0">
                <a:latin typeface="Tahoma"/>
                <a:cs typeface="Tahoma"/>
              </a:rPr>
              <a:t>that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selfdirected,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reflective,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demonstrate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ability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integrate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knowledge,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think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critically,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practice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life-long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learning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collaborative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others.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43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Culmination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-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Theory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Final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chemeClr val="accent1"/>
                </a:solidFill>
                <a:latin typeface="Trebuchet MS"/>
                <a:cs typeface="Trebuchet MS"/>
              </a:rPr>
              <a:t>Exam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544" y="647166"/>
            <a:ext cx="12299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0" dirty="0">
                <a:solidFill>
                  <a:srgbClr val="3333B2"/>
                </a:solidFill>
                <a:latin typeface="Tahoma"/>
                <a:cs typeface="Tahoma"/>
              </a:rPr>
              <a:t>Computer</a:t>
            </a:r>
            <a:r>
              <a:rPr sz="1100" spc="2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Interfacing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817878"/>
            <a:ext cx="4326255" cy="7480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30" dirty="0">
                <a:latin typeface="Microsoft Sans Serif"/>
                <a:cs typeface="Microsoft Sans Serif"/>
              </a:rPr>
              <a:t>Suppose,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50" dirty="0">
                <a:latin typeface="Microsoft Sans Serif"/>
                <a:cs typeface="Microsoft Sans Serif"/>
              </a:rPr>
              <a:t>we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wish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30" dirty="0">
                <a:latin typeface="Microsoft Sans Serif"/>
                <a:cs typeface="Microsoft Sans Serif"/>
              </a:rPr>
              <a:t>to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design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40" dirty="0">
                <a:latin typeface="Microsoft Sans Serif"/>
                <a:cs typeface="Microsoft Sans Serif"/>
              </a:rPr>
              <a:t>a</a:t>
            </a:r>
            <a:r>
              <a:rPr sz="800" spc="80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conveyer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belt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for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40" dirty="0">
                <a:latin typeface="Microsoft Sans Serif"/>
                <a:cs typeface="Microsoft Sans Serif"/>
              </a:rPr>
              <a:t>a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poultry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farm.</a:t>
            </a:r>
            <a:r>
              <a:rPr sz="800" spc="1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8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chicken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50" dirty="0">
                <a:latin typeface="Microsoft Sans Serif"/>
                <a:cs typeface="Microsoft Sans Serif"/>
              </a:rPr>
              <a:t>eggs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will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be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15" dirty="0">
                <a:latin typeface="Microsoft Sans Serif"/>
                <a:cs typeface="Microsoft Sans Serif"/>
              </a:rPr>
              <a:t>carried </a:t>
            </a:r>
            <a:r>
              <a:rPr sz="800" spc="-195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by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conveyer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belt.</a:t>
            </a:r>
            <a:r>
              <a:rPr sz="800" spc="1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system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will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5" dirty="0">
                <a:latin typeface="Microsoft Sans Serif"/>
                <a:cs typeface="Microsoft Sans Serif"/>
              </a:rPr>
              <a:t>have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40" dirty="0">
                <a:latin typeface="Microsoft Sans Serif"/>
                <a:cs typeface="Microsoft Sans Serif"/>
              </a:rPr>
              <a:t>a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camera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45" dirty="0">
                <a:latin typeface="Microsoft Sans Serif"/>
                <a:cs typeface="Microsoft Sans Serif"/>
              </a:rPr>
              <a:t>sensor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and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40" dirty="0">
                <a:latin typeface="Microsoft Sans Serif"/>
                <a:cs typeface="Microsoft Sans Serif"/>
              </a:rPr>
              <a:t>a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digital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display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15" dirty="0">
                <a:latin typeface="Microsoft Sans Serif"/>
                <a:cs typeface="Microsoft Sans Serif"/>
              </a:rPr>
              <a:t>board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30" dirty="0">
                <a:latin typeface="Microsoft Sans Serif"/>
                <a:cs typeface="Microsoft Sans Serif"/>
              </a:rPr>
              <a:t>to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5" dirty="0">
                <a:latin typeface="Microsoft Sans Serif"/>
                <a:cs typeface="Microsoft Sans Serif"/>
              </a:rPr>
              <a:t>show </a:t>
            </a:r>
            <a:r>
              <a:rPr sz="800" spc="-20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count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5" dirty="0">
                <a:latin typeface="Microsoft Sans Serif"/>
                <a:cs typeface="Microsoft Sans Serif"/>
              </a:rPr>
              <a:t>of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5" dirty="0">
                <a:latin typeface="Microsoft Sans Serif"/>
                <a:cs typeface="Microsoft Sans Serif"/>
              </a:rPr>
              <a:t>eggs.</a:t>
            </a:r>
            <a:r>
              <a:rPr sz="800" spc="-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5" dirty="0">
                <a:latin typeface="Microsoft Sans Serif"/>
                <a:cs typeface="Microsoft Sans Serif"/>
              </a:rPr>
              <a:t>motor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controller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for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belt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and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display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will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be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controller</a:t>
            </a:r>
            <a:r>
              <a:rPr sz="800" spc="65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by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40" dirty="0">
                <a:latin typeface="Microsoft Sans Serif"/>
                <a:cs typeface="Microsoft Sans Serif"/>
              </a:rPr>
              <a:t>a </a:t>
            </a:r>
            <a:r>
              <a:rPr sz="800" spc="-3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micro-controller</a:t>
            </a:r>
            <a:r>
              <a:rPr sz="800" spc="65" dirty="0">
                <a:latin typeface="Microsoft Sans Serif"/>
                <a:cs typeface="Microsoft Sans Serif"/>
              </a:rPr>
              <a:t> </a:t>
            </a:r>
            <a:r>
              <a:rPr sz="800" spc="-40" dirty="0">
                <a:latin typeface="Microsoft Sans Serif"/>
                <a:cs typeface="Microsoft Sans Serif"/>
              </a:rPr>
              <a:t>based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system.</a:t>
            </a:r>
            <a:endParaRPr sz="800">
              <a:latin typeface="Microsoft Sans Serif"/>
              <a:cs typeface="Microsoft Sans Serif"/>
            </a:endParaRPr>
          </a:p>
          <a:p>
            <a:pPr marL="12700">
              <a:lnSpc>
                <a:spcPts val="900"/>
              </a:lnSpc>
            </a:pPr>
            <a:r>
              <a:rPr sz="800" spc="-5" dirty="0">
                <a:latin typeface="Microsoft Sans Serif"/>
                <a:cs typeface="Microsoft Sans Serif"/>
              </a:rPr>
              <a:t>Now,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design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an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automated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system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using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above</a:t>
            </a:r>
            <a:r>
              <a:rPr sz="800" spc="65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stated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brief.</a:t>
            </a:r>
            <a:r>
              <a:rPr sz="800" spc="170" dirty="0">
                <a:latin typeface="Microsoft Sans Serif"/>
                <a:cs typeface="Microsoft Sans Serif"/>
              </a:rPr>
              <a:t> </a:t>
            </a:r>
            <a:r>
              <a:rPr sz="800" spc="-15" dirty="0">
                <a:latin typeface="Microsoft Sans Serif"/>
                <a:cs typeface="Microsoft Sans Serif"/>
              </a:rPr>
              <a:t>Your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30" dirty="0">
                <a:latin typeface="Microsoft Sans Serif"/>
                <a:cs typeface="Microsoft Sans Serif"/>
              </a:rPr>
              <a:t>design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must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contain</a:t>
            </a:r>
            <a:endParaRPr sz="800">
              <a:latin typeface="Microsoft Sans Serif"/>
              <a:cs typeface="Microsoft Sans Serif"/>
            </a:endParaRPr>
          </a:p>
          <a:p>
            <a:pPr marL="12700">
              <a:lnSpc>
                <a:spcPts val="955"/>
              </a:lnSpc>
            </a:pPr>
            <a:r>
              <a:rPr sz="800" spc="-10" dirty="0">
                <a:latin typeface="Microsoft Sans Serif"/>
                <a:cs typeface="Microsoft Sans Serif"/>
              </a:rPr>
              <a:t>followings.</a:t>
            </a:r>
            <a:r>
              <a:rPr sz="800" spc="180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(Use</a:t>
            </a:r>
            <a:r>
              <a:rPr sz="800" spc="8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85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micro-controller/microprocessor</a:t>
            </a:r>
            <a:r>
              <a:rPr sz="800" spc="90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datasheets</a:t>
            </a:r>
            <a:r>
              <a:rPr sz="800" spc="85" dirty="0">
                <a:latin typeface="Microsoft Sans Serif"/>
                <a:cs typeface="Microsoft Sans Serif"/>
              </a:rPr>
              <a:t> </a:t>
            </a:r>
            <a:r>
              <a:rPr sz="800" spc="-15" dirty="0">
                <a:latin typeface="Microsoft Sans Serif"/>
                <a:cs typeface="Microsoft Sans Serif"/>
              </a:rPr>
              <a:t>provided</a:t>
            </a:r>
            <a:r>
              <a:rPr sz="800" spc="85" dirty="0">
                <a:latin typeface="Microsoft Sans Serif"/>
                <a:cs typeface="Microsoft Sans Serif"/>
              </a:rPr>
              <a:t> </a:t>
            </a:r>
            <a:r>
              <a:rPr sz="800" spc="20" dirty="0">
                <a:latin typeface="Microsoft Sans Serif"/>
                <a:cs typeface="Microsoft Sans Serif"/>
              </a:rPr>
              <a:t>with</a:t>
            </a:r>
            <a:r>
              <a:rPr sz="800" spc="8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the</a:t>
            </a:r>
            <a:r>
              <a:rPr sz="800" spc="85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question)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71" y="1604603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8516" y="159168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1577034"/>
            <a:ext cx="33667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Microsoft Sans Serif"/>
                <a:cs typeface="Microsoft Sans Serif"/>
              </a:rPr>
              <a:t>Equipment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Configuration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15" dirty="0">
                <a:latin typeface="Microsoft Sans Serif"/>
                <a:cs typeface="Microsoft Sans Serif"/>
              </a:rPr>
              <a:t>-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specify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alternates</a:t>
            </a:r>
            <a:r>
              <a:rPr sz="800" spc="8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for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15" dirty="0">
                <a:latin typeface="Microsoft Sans Serif"/>
                <a:cs typeface="Microsoft Sans Serif"/>
              </a:rPr>
              <a:t>your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selection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spc="-20" dirty="0">
                <a:latin typeface="Microsoft Sans Serif"/>
                <a:cs typeface="Microsoft Sans Serif"/>
              </a:rPr>
              <a:t>and</a:t>
            </a:r>
            <a:r>
              <a:rPr sz="800" spc="7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justify.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4271" y="1762769"/>
            <a:ext cx="114300" cy="430530"/>
            <a:chOff x="244271" y="1762769"/>
            <a:chExt cx="114300" cy="43053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71" y="1762769"/>
              <a:ext cx="114214" cy="11421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71" y="1920922"/>
              <a:ext cx="114214" cy="11421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271" y="2079075"/>
              <a:ext cx="114214" cy="11421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43116" y="1698485"/>
            <a:ext cx="2360930" cy="500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900" spc="-30" baseline="9259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900" spc="315" baseline="9259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800" spc="10" dirty="0">
                <a:latin typeface="Microsoft Sans Serif"/>
                <a:cs typeface="Microsoft Sans Serif"/>
              </a:rPr>
              <a:t>Algorithm</a:t>
            </a:r>
            <a:r>
              <a:rPr sz="800" spc="65" dirty="0">
                <a:latin typeface="Microsoft Sans Serif"/>
                <a:cs typeface="Microsoft Sans Serif"/>
              </a:rPr>
              <a:t> </a:t>
            </a:r>
            <a:r>
              <a:rPr sz="800" spc="200" dirty="0">
                <a:latin typeface="Microsoft Sans Serif"/>
                <a:cs typeface="Microsoft Sans Serif"/>
              </a:rPr>
              <a:t>/</a:t>
            </a:r>
            <a:r>
              <a:rPr sz="800" spc="65" dirty="0">
                <a:latin typeface="Microsoft Sans Serif"/>
                <a:cs typeface="Microsoft Sans Serif"/>
              </a:rPr>
              <a:t> </a:t>
            </a:r>
            <a:r>
              <a:rPr sz="800" spc="10" dirty="0">
                <a:latin typeface="Microsoft Sans Serif"/>
                <a:cs typeface="Microsoft Sans Serif"/>
              </a:rPr>
              <a:t>flowchart/Model</a:t>
            </a:r>
            <a:r>
              <a:rPr sz="800" spc="65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for</a:t>
            </a:r>
            <a:r>
              <a:rPr sz="800" spc="70" dirty="0">
                <a:latin typeface="Microsoft Sans Serif"/>
                <a:cs typeface="Microsoft Sans Serif"/>
              </a:rPr>
              <a:t> </a:t>
            </a:r>
            <a:r>
              <a:rPr sz="800" dirty="0">
                <a:latin typeface="Microsoft Sans Serif"/>
                <a:cs typeface="Microsoft Sans Serif"/>
              </a:rPr>
              <a:t>counting</a:t>
            </a:r>
            <a:r>
              <a:rPr sz="800" spc="60" dirty="0">
                <a:latin typeface="Microsoft Sans Serif"/>
                <a:cs typeface="Microsoft Sans Serif"/>
              </a:rPr>
              <a:t> </a:t>
            </a:r>
            <a:r>
              <a:rPr sz="800" spc="-35" dirty="0">
                <a:latin typeface="Microsoft Sans Serif"/>
                <a:cs typeface="Microsoft Sans Serif"/>
              </a:rPr>
              <a:t>eggs.</a:t>
            </a:r>
            <a:endParaRPr sz="8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00" spc="-30" baseline="9259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r>
              <a:rPr sz="900" spc="315" baseline="9259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800" dirty="0">
                <a:latin typeface="Microsoft Sans Serif"/>
                <a:cs typeface="Microsoft Sans Serif"/>
              </a:rPr>
              <a:t>Control</a:t>
            </a:r>
            <a:r>
              <a:rPr sz="800" spc="45" dirty="0">
                <a:latin typeface="Microsoft Sans Serif"/>
                <a:cs typeface="Microsoft Sans Serif"/>
              </a:rPr>
              <a:t> </a:t>
            </a:r>
            <a:r>
              <a:rPr sz="800" spc="-5" dirty="0">
                <a:latin typeface="Microsoft Sans Serif"/>
                <a:cs typeface="Microsoft Sans Serif"/>
              </a:rPr>
              <a:t>State</a:t>
            </a:r>
            <a:r>
              <a:rPr sz="800" spc="50" dirty="0">
                <a:latin typeface="Microsoft Sans Serif"/>
                <a:cs typeface="Microsoft Sans Serif"/>
              </a:rPr>
              <a:t> </a:t>
            </a:r>
            <a:r>
              <a:rPr sz="800" spc="-25" dirty="0">
                <a:latin typeface="Microsoft Sans Serif"/>
                <a:cs typeface="Microsoft Sans Serif"/>
              </a:rPr>
              <a:t>Design</a:t>
            </a:r>
            <a:endParaRPr sz="8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00" spc="-30" baseline="9259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r>
              <a:rPr sz="900" spc="315" baseline="9259" dirty="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sz="800" spc="-15" dirty="0">
                <a:latin typeface="Microsoft Sans Serif"/>
                <a:cs typeface="Microsoft Sans Serif"/>
              </a:rPr>
              <a:t>Data-Processor</a:t>
            </a:r>
            <a:r>
              <a:rPr sz="800" spc="60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Specification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44" y="2348685"/>
            <a:ext cx="4330966" cy="956578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44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/>
          <p:nvPr/>
        </p:nvSpPr>
        <p:spPr>
          <a:xfrm>
            <a:off x="230505" y="140072"/>
            <a:ext cx="4148727" cy="5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375" tIns="22688" rIns="45375" bIns="22688" anchor="ctr" anchorCtr="0">
            <a:noAutofit/>
          </a:bodyPr>
          <a:lstStyle/>
          <a:p>
            <a:pPr algn="ctr"/>
            <a:r>
              <a:rPr lang="en-US" sz="2218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sz="2218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230505" y="808355"/>
            <a:ext cx="4148727" cy="228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375" tIns="22688" rIns="45375" bIns="22688" anchor="t" anchorCtr="0">
            <a:normAutofit/>
          </a:bodyPr>
          <a:lstStyle/>
          <a:p>
            <a:pPr marL="363">
              <a:lnSpc>
                <a:spcPct val="90000"/>
              </a:lnSpc>
              <a:buClr>
                <a:srgbClr val="000000"/>
              </a:buClr>
              <a:buSzPts val="2768"/>
            </a:pPr>
            <a:r>
              <a:rPr lang="en-US" sz="139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Books (Library) </a:t>
            </a:r>
            <a:endParaRPr sz="1396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3">
              <a:lnSpc>
                <a:spcPct val="90000"/>
              </a:lnSpc>
              <a:spcBef>
                <a:spcPts val="323"/>
              </a:spcBef>
              <a:buClr>
                <a:srgbClr val="000000"/>
              </a:buClr>
              <a:buSzPts val="2768"/>
            </a:pPr>
            <a:r>
              <a:rPr lang="en-US" sz="139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Journals</a:t>
            </a:r>
            <a:endParaRPr sz="1396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Transactions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Elsevier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Springer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EURASIP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MDPI 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404" lvl="2">
              <a:lnSpc>
                <a:spcPct val="90000"/>
              </a:lnSpc>
              <a:spcBef>
                <a:spcPts val="242"/>
              </a:spcBef>
              <a:buClr>
                <a:srgbClr val="000000"/>
              </a:buClr>
              <a:buSzPts val="2076"/>
            </a:pP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ISI Indexed Journals with IF(</a:t>
            </a:r>
            <a:r>
              <a:rPr lang="en-US" sz="104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Preferably</a:t>
            </a: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404" lvl="2">
              <a:lnSpc>
                <a:spcPct val="90000"/>
              </a:lnSpc>
              <a:spcBef>
                <a:spcPts val="242"/>
              </a:spcBef>
              <a:buClr>
                <a:srgbClr val="000000"/>
              </a:buClr>
              <a:buSzPts val="2076"/>
            </a:pP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Scopus Indexed Journals</a:t>
            </a: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404" lvl="2">
              <a:lnSpc>
                <a:spcPct val="90000"/>
              </a:lnSpc>
              <a:spcBef>
                <a:spcPts val="242"/>
              </a:spcBef>
              <a:buClr>
                <a:srgbClr val="000000"/>
              </a:buClr>
              <a:buSzPts val="2076"/>
            </a:pP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URL: sci-hub</a:t>
            </a: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</a:pP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323"/>
              </a:spcBef>
            </a:pP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323"/>
              </a:spcBef>
            </a:pP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8080" y="808355"/>
            <a:ext cx="921657" cy="69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6067" y="885129"/>
            <a:ext cx="1773800" cy="614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2191" y="1691897"/>
            <a:ext cx="636702" cy="84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6067" y="1730375"/>
            <a:ext cx="1371777" cy="76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4" descr="Promote Academic Integrity | Improve Student Outcomes | Turnitin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81275" y="2627948"/>
            <a:ext cx="1371777" cy="81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Assessment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70367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32" y="1620226"/>
            <a:ext cx="36982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0" dirty="0"/>
              <a:t>Need</a:t>
            </a:r>
            <a:r>
              <a:rPr spc="25" dirty="0"/>
              <a:t> </a:t>
            </a:r>
            <a:r>
              <a:rPr spc="-45" dirty="0"/>
              <a:t>descriptors</a:t>
            </a:r>
            <a:r>
              <a:rPr spc="30" dirty="0"/>
              <a:t> </a:t>
            </a:r>
            <a:r>
              <a:rPr spc="-45" dirty="0"/>
              <a:t>for</a:t>
            </a:r>
            <a:r>
              <a:rPr spc="30" dirty="0"/>
              <a:t> </a:t>
            </a:r>
            <a:r>
              <a:rPr spc="90" dirty="0"/>
              <a:t>P/A</a:t>
            </a:r>
            <a:r>
              <a:rPr spc="30" dirty="0"/>
              <a:t> </a:t>
            </a:r>
            <a:r>
              <a:rPr spc="-35" dirty="0"/>
              <a:t>characteristics</a:t>
            </a:r>
            <a:r>
              <a:rPr spc="30" dirty="0"/>
              <a:t> </a:t>
            </a:r>
            <a:r>
              <a:rPr spc="-50" dirty="0"/>
              <a:t>and</a:t>
            </a:r>
            <a:r>
              <a:rPr spc="30" dirty="0"/>
              <a:t> </a:t>
            </a:r>
            <a:r>
              <a:rPr spc="-45" dirty="0"/>
              <a:t>associated</a:t>
            </a:r>
            <a:r>
              <a:rPr spc="30" dirty="0"/>
              <a:t> </a:t>
            </a:r>
            <a:r>
              <a:rPr spc="-40" dirty="0"/>
              <a:t>rubrics.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46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10" dirty="0">
                <a:solidFill>
                  <a:schemeClr val="accent1"/>
                </a:solidFill>
                <a:latin typeface="Trebuchet MS"/>
                <a:cs typeface="Trebuchet MS"/>
              </a:rPr>
              <a:t>End</a:t>
            </a:r>
            <a:r>
              <a:rPr sz="1400" spc="2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Session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47</a:t>
            </a:fld>
            <a:endParaRPr spc="-2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754E7-4DFD-2669-2C5F-AAB22AAFE8DE}"/>
              </a:ext>
            </a:extLst>
          </p:cNvPr>
          <p:cNvSpPr txBox="1"/>
          <p:nvPr/>
        </p:nvSpPr>
        <p:spPr>
          <a:xfrm>
            <a:off x="821876" y="1672588"/>
            <a:ext cx="2964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Acknowledgment: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Prof </a:t>
            </a:r>
            <a:r>
              <a:rPr lang="en-GB" sz="1000" dirty="0" err="1"/>
              <a:t>Swakkhar</a:t>
            </a:r>
            <a:r>
              <a:rPr lang="en-GB" sz="1000" dirty="0"/>
              <a:t> </a:t>
            </a:r>
            <a:r>
              <a:rPr lang="en-GB" sz="1000" dirty="0" err="1"/>
              <a:t>Shatabda</a:t>
            </a:r>
            <a:r>
              <a:rPr lang="en-GB" sz="1000" dirty="0"/>
              <a:t> (</a:t>
            </a:r>
            <a:r>
              <a:rPr lang="en-GB" sz="1000" dirty="0" err="1"/>
              <a:t>BracU</a:t>
            </a:r>
            <a:r>
              <a:rPr lang="en-GB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Prof </a:t>
            </a:r>
            <a:r>
              <a:rPr lang="en-GB" sz="1000" dirty="0" err="1"/>
              <a:t>Meghat</a:t>
            </a:r>
            <a:r>
              <a:rPr lang="en-GB" sz="1000" dirty="0"/>
              <a:t> (Board Member, BEM)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Prof AKM </a:t>
            </a:r>
            <a:r>
              <a:rPr lang="en-GB" sz="1000" dirty="0" err="1"/>
              <a:t>Muzahidul</a:t>
            </a:r>
            <a:r>
              <a:rPr lang="en-GB" sz="1000" dirty="0"/>
              <a:t> Islam (UIU)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3064</TotalTime>
  <Words>3357</Words>
  <Application>Microsoft Office PowerPoint</Application>
  <PresentationFormat>Custom</PresentationFormat>
  <Paragraphs>473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Arial MT</vt:lpstr>
      <vt:lpstr>Calibri</vt:lpstr>
      <vt:lpstr>Microsoft Sans Serif</vt:lpstr>
      <vt:lpstr>Tahoma</vt:lpstr>
      <vt:lpstr>Times New Roman</vt:lpstr>
      <vt:lpstr>Trebuchet MS</vt:lpstr>
      <vt:lpstr>Office Theme</vt:lpstr>
      <vt:lpstr>PowerPoint Presentation</vt:lpstr>
      <vt:lpstr>Outcome of this session</vt:lpstr>
      <vt:lpstr>Engineering Domain</vt:lpstr>
      <vt:lpstr>Requirements</vt:lpstr>
      <vt:lpstr>BAETE Program Outcomes</vt:lpstr>
      <vt:lpstr>BAETE Program Outcomes</vt:lpstr>
      <vt:lpstr>BAETE Program Outcomes</vt:lpstr>
      <vt:lpstr>Complex Problem</vt:lpstr>
      <vt:lpstr>Characteristic of a Complex Engineering Problem</vt:lpstr>
      <vt:lpstr>Difficulty &amp; Uncertainty</vt:lpstr>
      <vt:lpstr>PowerPoint Presentation</vt:lpstr>
      <vt:lpstr>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 Engineering Problem Solving</vt:lpstr>
      <vt:lpstr>Complex Engineering Problem Solving</vt:lpstr>
      <vt:lpstr>Complex Engineering Problem Solving</vt:lpstr>
      <vt:lpstr>An Example</vt:lpstr>
      <vt:lpstr>Aspects</vt:lpstr>
      <vt:lpstr>Thinking</vt:lpstr>
      <vt:lpstr>Solutions?</vt:lpstr>
      <vt:lpstr>Step 1: Define the problem</vt:lpstr>
      <vt:lpstr>Step 2: Gather Information</vt:lpstr>
      <vt:lpstr>Step 3: Generate Multiple Solutions</vt:lpstr>
      <vt:lpstr>Step 4: Analyse and selection a solution</vt:lpstr>
      <vt:lpstr>Step 5: Test and implement a solution</vt:lpstr>
      <vt:lpstr>Another Example</vt:lpstr>
      <vt:lpstr>Another Example</vt:lpstr>
      <vt:lpstr>Another Example</vt:lpstr>
      <vt:lpstr>PowerPoint Presentation</vt:lpstr>
      <vt:lpstr>Range of Complex Engineering Activities</vt:lpstr>
      <vt:lpstr>Range of Complex Engineering Activities</vt:lpstr>
      <vt:lpstr>Range of Complex Engineering Activities</vt:lpstr>
      <vt:lpstr>AI Powered Medical Agent</vt:lpstr>
      <vt:lpstr>PowerPoint Presentation</vt:lpstr>
      <vt:lpstr>PowerPoint Presentation</vt:lpstr>
      <vt:lpstr>PowerPoint Presentation</vt:lpstr>
      <vt:lpstr>Culmination - Design Projects</vt:lpstr>
      <vt:lpstr>Final year design project</vt:lpstr>
      <vt:lpstr>Culmination - Internship/Open Ended Labs</vt:lpstr>
      <vt:lpstr>Culmination - Theory Final Exam</vt:lpstr>
      <vt:lpstr>PowerPoint Presentation</vt:lpstr>
      <vt:lpstr>Need descriptors for P/A characteristics and associated rubrics.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Engineering Problems and Activities</dc:title>
  <dc:creator>Swakkhar Shatabda</dc:creator>
  <cp:lastModifiedBy>Dr. Mohammad Shahriar Rahman</cp:lastModifiedBy>
  <cp:revision>12</cp:revision>
  <cp:lastPrinted>2024-01-31T07:09:54Z</cp:lastPrinted>
  <dcterms:created xsi:type="dcterms:W3CDTF">2023-09-24T06:18:27Z</dcterms:created>
  <dcterms:modified xsi:type="dcterms:W3CDTF">2025-03-04T04:54:59Z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2023-09-24T00:00:00Z</vt:filetime>
  </property>
</Properties>
</file>